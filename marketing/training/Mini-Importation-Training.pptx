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A"/>
                </a:solidFill>
                <a:latin typeface="+mn-lt"/>
              </a:defRPr>
            </a:pPr>
            <a:r>
              <a:rPr sz="1300" b="0" i="0" u="none" strike="noStrike">
                <a:solidFill>
                  <a:srgbClr val="0B1F3A"/>
                </a:solidFill>
                <a:latin typeface="+mn-lt"/>
              </a:rPr>
              <a:t>Landed cost of 300 power banks, in naira (total ₦2,226,100)</a:t>
            </a:r>
          </a:p>
        </c:rich>
      </c:tx>
      <c:layout/>
      <c:overlay val="0"/>
    </c:title>
    <c:autoTitleDeleted val="0"/>
    <c:plotArea>
      <c:layout/>
      <c:barChart>
        <c:barDir val="bar"/>
        <c:grouping val="clustered"/>
        <c:varyColors val="0"/>
        <c:ser>
          <c:idx val="0"/>
          <c:order val="0"/>
          <c:tx>
            <c:strRef>
              <c:f>Sheet1!$B$1</c:f>
              <c:strCache>
                <c:ptCount val="1"/>
                <c:pt idx="0">
                  <c:v>Landed cost (naira)</c:v>
                </c:pt>
              </c:strCache>
            </c:strRef>
          </c:tx>
          <c:spPr>
            <a:solidFill>
              <a:srgbClr val="F2A541"/>
            </a:solidFill>
            <a:effectLst/>
          </c:spPr>
          <c:invertIfNegative val="0"/>
          <c:dLbls>
            <c:numFmt formatCode="#,##0" sourceLinked="0"/>
            <c:txPr>
              <a:bodyPr/>
              <a:lstStyle/>
              <a:p>
                <a:pPr>
                  <a:defRPr b="0" i="0" strike="noStrike" sz="1100" u="none">
                    <a:solidFill>
                      <a:srgbClr val="0B1F3A"/>
                    </a:solidFill>
                    <a:latin typeface="+mn-lt"/>
                  </a:defRPr>
                </a:pPr>
              </a:p>
            </c:txPr>
            <c:showLegendKey val="0"/>
            <c:showVal val="1"/>
            <c:showCatName val="0"/>
            <c:showSerName val="0"/>
            <c:showPercent val="0"/>
            <c:showBubbleSize val="0"/>
            <c:showLeaderLines val="0"/>
          </c:dLbls>
          <c:dPt>
            <c:idx val="0"/>
            <c:invertIfNegative val="0"/>
            <c:bubble3D val="0"/>
            <c:spPr>
              <a:solidFill>
                <a:srgbClr val="F2A541"/>
              </a:solidFill>
              <a:effectLst/>
            </c:spPr>
          </c:dPt>
          <c:dPt>
            <c:idx val="1"/>
            <c:invertIfNegative val="0"/>
            <c:bubble3D val="0"/>
            <c:spPr>
              <a:solidFill>
                <a:srgbClr val="F2A541"/>
              </a:solidFill>
              <a:effectLst/>
            </c:spPr>
          </c:dPt>
          <c:dPt>
            <c:idx val="2"/>
            <c:invertIfNegative val="0"/>
            <c:bubble3D val="0"/>
            <c:spPr>
              <a:solidFill>
                <a:srgbClr val="C8553D"/>
              </a:solidFill>
              <a:effectLst/>
            </c:spPr>
          </c:dPt>
          <c:dPt>
            <c:idx val="3"/>
            <c:invertIfNegative val="0"/>
            <c:bubble3D val="0"/>
            <c:spPr>
              <a:solidFill>
                <a:srgbClr val="C8553D"/>
              </a:solidFill>
              <a:effectLst/>
            </c:spPr>
          </c:dPt>
          <c:dPt>
            <c:idx val="4"/>
            <c:invertIfNegative val="0"/>
            <c:bubble3D val="0"/>
            <c:spPr>
              <a:solidFill>
                <a:srgbClr val="5B8DB8"/>
              </a:solidFill>
              <a:effectLst/>
            </c:spPr>
          </c:dPt>
          <c:dPt>
            <c:idx val="5"/>
            <c:invertIfNegative val="0"/>
            <c:bubble3D val="0"/>
            <c:spPr>
              <a:solidFill>
                <a:srgbClr val="5B8DB8"/>
              </a:solidFill>
              <a:effectLst/>
            </c:spPr>
          </c:dPt>
          <c:dPt>
            <c:idx val="6"/>
            <c:invertIfNegative val="0"/>
            <c:bubble3D val="0"/>
            <c:spPr>
              <a:solidFill>
                <a:srgbClr val="5B8DB8"/>
              </a:solidFill>
              <a:effectLst/>
            </c:spPr>
          </c:dPt>
          <c:cat>
            <c:multiLvlStrRef>
              <c:f>Sheet1!$A$2:$A$8</c:f>
              <c:multiLvlStrCache>
                <c:ptCount val="7"/>
                <c:lvl>
                  <c:pt idx="0">
                    <c:v>Product</c:v>
                  </c:pt>
                  <c:pt idx="1">
                    <c:v>Freight and insurance</c:v>
                  </c:pt>
                  <c:pt idx="2">
                    <c:v>Duty (20%)</c:v>
                  </c:pt>
                  <c:pt idx="3">
                    <c:v>VAT (7.5%)</c:v>
                  </c:pt>
                  <c:pt idx="4">
                    <c:v>Clearing and port</c:v>
                  </c:pt>
                  <c:pt idx="5">
                    <c:v>Local transport</c:v>
                  </c:pt>
                  <c:pt idx="6">
                    <c:v>Bank charges</c:v>
                  </c:pt>
                </c:lvl>
              </c:multiLvlStrCache>
            </c:multiLvlStrRef>
          </c:cat>
          <c:val>
            <c:numRef>
              <c:f>Sheet1!$B$2:$B$8</c:f>
              <c:numCache>
                <c:formatCode>General</c:formatCode>
                <c:ptCount val="7"/>
                <c:pt idx="0">
                  <c:v>1350000</c:v>
                </c:pt>
                <c:pt idx="1">
                  <c:v>240000</c:v>
                </c:pt>
                <c:pt idx="2">
                  <c:v>318000</c:v>
                </c:pt>
                <c:pt idx="3">
                  <c:v>143100</c:v>
                </c:pt>
                <c:pt idx="4">
                  <c:v>120000</c:v>
                </c:pt>
                <c:pt idx="5">
                  <c:v>30000</c:v>
                </c:pt>
                <c:pt idx="6">
                  <c:v>25000</c:v>
                </c:pt>
              </c:numCache>
            </c:numRef>
          </c:val>
        </c:ser>
        <c:dLbls>
          <c:numFmt formatCode="#,##0" sourceLinked="0"/>
          <c:txPr>
            <a:bodyPr/>
            <a:lstStyle/>
            <a:p>
              <a:pPr>
                <a:defRPr b="0" i="0" strike="noStrike" sz="1100" u="none">
                  <a:solidFill>
                    <a:srgbClr val="0B1F3A"/>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1F3A"/>
                </a:solidFill>
                <a:latin typeface="+mn-lt"/>
              </a:defRPr>
            </a:pPr>
            <a:endParaRPr lang="en-US"/>
          </a:p>
        </c:txPr>
        <c:crossAx val="2094734552"/>
        <c:crosses val="autoZero"/>
        <c:auto val="1"/>
        <c:lblAlgn val="ctr"/>
        <c:noMultiLvlLbl val="1"/>
      </c:catAx>
      <c:valAx>
        <c:axId val="2094734552"/>
        <c:scaling>
          <c:orientation val="minMax"/>
          <c:max val="175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is not a lecture about trade. It is the story of how an ordinary shop owner turns one good idea into a shipment that arrives, clears customs and sells at a profit. I will tell you that story step by step. Every step has a real number, a common mistake, and something you can do this week. By the end of the day each of you will have your own product, your own cost sheet and a 30-day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slowly. Tunde has a stall in Computer Village, Ikeja. He buys phone accessories from Lagos wholesalers and every month he pays a little more. One evening a customer says: my cousin buys power banks directly from China, sells cheaper than you and still makes profit. Tunde goes home, opens a supplier website, sees a power bank at $3, and thinks: I pay ₦9,500 for this. Order 300 tomorrow. Pause here and ask the room: what could go wrong? Collect three answers before moving on. Today we answer that question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beginner session. Nobody needs prior experience. Four skills: choosing a product that already sells, finding and checking suppliers, getting goods shipped and cleared, and, most important, knowing your true cost so you know your true profit. Say clearly: we are not going to promise easy money. We are going to protect you from expensive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Importing: you buy goods from another country and bring them in. Exporting: you sell goods to a buyer in another country. They are two sides of the same sale. A factory in Guangzhou that sells phone cases to a trader in Lagos is exporting; the trader is importing. Why do people do it? Because a product can cost far less, or be far better, where it is made. Your job is to turn that gap into profit after paying for everything that sits between the factory and your customer. Write on the board: the price on the supplier page is never your real cost. We will come back to that sentence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 importation means small quantities, usually bought for resale, often shipped by air cargo or courier, often run by one person or a small team. Full trade is container loads, bigger capital and a bigger team of forwarders and clearing agents. The key message: mini does not mean exempt. Small commercial quantities for resale still need correct declarations, and the same risks exist, only smaller in size. A mini import is the best classroom: the first order is 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of the day. Tunde saw $3.00 and mentally converted it to about ₦4,500. After freight, insurance, duty, VAT, clearing, transport and bank charges, his real cost per power bank was ₦7,420. That is about 65 percent more than the number he saw. Nothing dishonest happened. He simply had not counted. If he had priced at ₦6,000 because he thought his cost was ₦4,500, he would have lost money on every sale and not known why. Ask: how many of you have ever priced something from the buying price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map in front of the room and leave it up. Everything we do today is one of these ten boxes. Walk through it with your finger: choose a product, check the market, find suppliers, verify them, negotiate and sample, ship, documents and customs, count the real cost, price it, sell and reorder. Point out the two steps that protect your money before you spend any: check the market, and count the real cost. Beginners rush to step 6 because shipping feels like progress. The professionals spend their time in steps 1, 2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choose what you love. Choose what people already buy. Three questions: is there demand, is there a gap, is there margin after every cost. Where do you look? Markets, Jumia, Jiji and Instagram sellers; note what is always out of stock and what gets many comments asking for the price. Listen to complaints: I can never find a good X is a product idea. Then check the competition: how many sellers, their price range, their reviews. Ask ten possible customers what they would pay and what worries them. Finally, the best test is a pre-sale: post the product with sample photos, say they are sample photos, and take names and deposits.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first product is small, light, durable and not heavily regulated. Phone accessories, small kitchen tools, hair accessories and similar items are common starting points. A product that breaks easily, weighs a lot for its value or needs special approval makes a poor first order. Then cover the four danger areas. Banned or restricted goods can be seized. Regulated products such as food, drinks, medicines, cosmetics and supplements generally need NAFDAC approval to be sold. Electrical items and many manufactured goods are expected to meet SON standards. Fake branded goods called replicas can be seized and bring legal trouble. Batteries, liquids and aerosols have shipping restrictions especially by air. A tip: power banks contain lithium batteries, so confirm the airline and forwarder rules before you ship by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Alibaba as a directory, not a guarantee. The platform lists suppliers; it does not make each one honest or good. For a first mini import, Alibaba plus a small sample order is the usual start. 1688 has the lowest factory prices but is in Chinese and normally needs an agent. AliExpress suits very small test orders but at higher unit prices. Made-in-China and Global Sources list verified exporters, strong in electronics. Physical markets like Yiwu in China show you the goods, and trade fairs such as the Canton Fair put many factories in one place. A sourcing agent can find and check suppliers for a fee, helpful for beginners with a language gap. Shortlist three to five suppliers and send each the same clear enquiry.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supplier's company profile, not just the product page. Walk through the six numbered parts. One: do the photos and title match what you want, and ask for real photos. Two: price tiers, the price falls as you buy more; plan for the tier you can afford. Three: the minimum order quantity; your first order may have to be the minimum, so check it fits your budget. Four: who is selling, a manufacturer or a trader; years active and verification help but are not proof. A factory focuses on one line of goods; a profile selling electronics, shoes and furniture is probably a trader. Five: samples; order one before the bulk order. Six: payment protection; pay through the platform so the money is held until delivery. The listing is an illustration, not a real supplier.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beginners lose money. Tell the room the patterns. The fake supplier: a page copied from a real factory with a different bank account. The changed bank details: after weeks of normal emails the accountant sends a new account number because the email was hijacked. The bait price: far below every other supplier, limited time, full payment first. The sample trap: a good sample, then poor bulk goods. The forged documents: fake licences and certificates. Defences: check the business licence, ask for a live video call of the factory floor and stock, make sure the bank account name matches the company on the licence and invoice, reverse image search the photos, and use Trade Assurance or escrow. Never pay a company into a personal account. Never use gift cards, crypto or cash to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negotiate know three things: your target price worked backwards from the selling price you found earlier, your walk-away price, and two or three other quotes. Then use the tactics: ask for tier pricing at 300, 500 and 1,000 units, show your plan to reorder, be specific about the model, material and packaging, bundle models or colours to reach a higher tier, and trade rather than push: a faster deposit for a better price or free packaging. Never accept the first price; a modest counter-offer is normal. Then the sample. Ask what it costs and whether it is refunded against the bulk order. Test it as a customer would, check it against your list, photograph and weigh it, and keep it. If the bulk goods are worse the sample is your evidence. Sample payments are usually 100 percent in advance so use protected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by weight, size, value, urgency and budget. Air is roughly a week or two door to door, costs more per kilogram, and is best for small, light, high-value or urgent goods and samples. Sea often takes several weeks, commonly over a month from China, costs much less per unit of cargo, and suits heavy, bulky or large orders, but has more handling and port delay risk. For a first mini import of light goods, air cargo is often practical. As volume grows, sea brings the cost per unit down. Times and prices change often, so always get a current quote, and make sure quotes from different forwarders are built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Airlines charge for the greater of actual weight and volumetric weight, because large light boxes take up space and space is paid for. Volumetric weight in kilograms equals length times width times height in centimetres, divided by 6,000. Take one carton 60 by 40 by 50 centimetres weighing 15 kilograms. 60 times 40 times 50 is 120,000. Divide by 6,000 and you get 20 kilograms. Actual weight is 15 so the chargeable weight is 20 kilograms. If the forwarder quotes, say, a certain price per kilogram you multiply by 20 not 15. Ask the room to try it with their own product box. Some carriers use slightly different divisors, so always confirm how a quote is 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Customs does not clear goods on trust. It clears them on documents that agree with each other and with the goods. The commercial invoice is the bill from the supplier. The packing list says what is in each carton, with counts, weights and dimensions. For sea freight the bill of lading is the receipt, the contract of carriage and the document of title. For air the air waybill is the contract and receipt, but not a document of title. You may also need a certificate of origin, an insurance certificate, product certificates such as SON or NAFDAC, and in Nigeria the Form M raised through your bank before shipment. The golden rule: all documents must match. Name, address, quantities, weights, descriptions and values. A mismatch is the most common cause of delay and fines. And never agree to understate the value or change the description to reduce duty. It is an offence.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product has an HS code under the Harmonized System. The first six digits are the same worldwide and countries add digits for their own tariff. The code decides your duty rate, which rules and permits apply, and whether the product is restricted. Using the wrong code leads to wrong duty, delays and penalties. Ask your forwarder or clearing agent to confirm the code before you ship. Customs value for duty is normally the CIF value: cost, insurance and freight. Duty is a percentage of that, converted to naira at the customs exchange rate. VAT is then charged on the naira CIF plus duty. Rates change, so check the current rate for your code instead of trusting a number from a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bodies have a say. Nigeria Customs Service assesses and collects duty and taxes, enforces prohibitions, and examines and releases goods. SON covers product standards. NAFDAC covers food, drinks, drugs, cosmetics and chemicals. NAQS inspects plant and animal products. NCC type-approves telecom and some electronic equipment. The CBN and your bank handle foreign exchange and the Form M. CAC registers your business. Before importing commercially you usually need a registered business with a TIN, a business bank account that handles foreign transactions, a Form M raised before the goods ship, and a PAAR from Customs after documents are submitted. Remember that mini importation does not exempt you. Use a licensed clearing agent. At the port watch for storage and demurrage: free days are limited and a few days of delay can add up to a lot. Confirm all current requirements with Customs and the agency for your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session. Walk through Tunde's 300 power banks line by line and have people calculate along. Product cost: 300 times $3.00 is $900. Air freight $150, insurance $10. CIF value is $1,060. At ₦1,500 to the dollar that is ₦1,590,000. Duty at 20 percent is ₦318,000. VAT at 7.5 percent is charged on ₦1,590,000 plus ₦318,000, which is ₦1,908,000, giving ₦143,100. Add clearing agent and port charges ₦120,000, local transport ₦30,000 and bank and payment charges ₦25,000. Total landed cost ₦2,226,100. Divide by 300 and each power bank costs ₦7,420. Remind them: the supplier price looked like ₦4,500. The real cost is about 65 percent higher. Rates in this example are for teaching; use current rates for your own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chart. The product is the biggest bar but far from the whole story. Duty and VAT together are about ₦461,000. Clearing, transport and bank charges add another ₦175,000. Freight and insurance ₦240,000. The brick bars are government duty and tax. The blue bars are local costs. If you priced from the product alone you would have under-counted by roughly ₦876,000 across the batch. Ask: which of these costs could you reduce? Answers: negotiate freight with several forwarders, make sure the HS code is correct, order enough to spread fixed clearing charges across more units, and move goods out of the port before storage fees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Markup is profit as a percentage of cost. Margin is profit as a percentage of the selling price. They are different, and mixing them up is a classic mistake. Example: cost ₦6,000, sold at ₦10,000, profit ₦4,000. Markup is 66.7 percent and margin is 40 percent. To reach a target margin divide the cost by one minus the margin. For Tunde's cost of ₦7,420 and a 35 percent target margin, 7,420 divided by 0.65 equals ₦11,415. Then compare with competitors. If the market pays less you must lower your cost, change the product or accept a smaller margin. Also remind them that a 35 percent gross margin is not a 35 percent profit once marketing, packaging, delivery, staff and your own time are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 is only profit when the goods are sold and the money is in your account. Many importers put all their effort into sourcing and shipping, then sit on stock. Plan how you will sell before the goods arrive. Start with channels you can reach this week: social media and the people you know. WhatsApp status, Instagram, Facebook and TikTok are cheap to start and give you direct customer contact. Marketplaces bring traffic and trust but charge commission. A shop or stall lets customers touch the product. Wholesale to traders gives big, repeat orders at a lower price per unit. Work the example: landed cost ₦7,420. Retail at ₦12,000 gives ₦4,580 per unit. Wholesale at ₦9,500 for ten or more gives ₦2,080 per unit. Sell ten to one wholesaler and you make ₦20,800 in a day, and free your money to reorder. Then protect your cash: do not put all the profit back into one slow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Exporting means selling goods outside your country. It can earn foreign currency, reach far bigger markets and allow better prices than at home. It also asks more of you: the product must meet the buyer's standard, the paperwork must be right and payment terms need care. Exporting is not only for big companies; a small producer can start with a single buyer and a single product. Commonly traded Nigerian categories include agricultural products such as sesame, cocoa, cashew, ginger and hibiscus, processed and packaged foods and spices especially for the diaspora, beauty products such as shea butter, black soap and natural oils, and fashion and crafts such as Ankara, beads and leather goods. Confirm current requirements with the Nigerian Export Promotion Council, Customs and the agency for your product before you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question we started with: what could go wrong for Tunde? Now you can answer. Supplier fraud: verify and use protected payment. Poor quality: order a sample and inspect before paying the balance. Delay: allow buffer time and keep stock for the next few weeks. Damage or loss: good packaging and insurance. Duties and charges you did not expect: calculate landed cost before ordering. Exchange rate moves: add a margin, pay promptly and order in smaller amounts more often. Also: restricted or banned items, so check the rules before you order. A safe habit: start small, test, then grow. The first order is 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they work. Hand out the worksheet or ask them to open a spreadsheet. Each person picks one product they could imagine importing. Step one: write the product and the three customers they could sell to this week. Step two: look up three competitor prices and write the lowest, typical and highest. Step three: take a supplier price from a listing and build a landed cost using the teaching rates. Step four: set a selling price for a 35 percent margin and compare with the competitor range. Walk around the room. When someone finishes, ask them to swap with a neighbour who looks for the weakest assumption. Debrief with two or three people sharing: did the margin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Nobody has to import anything this month. The goal of the first thirty days is to test an idea cheaply and learn. Week one: choose a product and check demand with real people. Week two: shortlist three to five suppliers, send the same enquiry and verify the best two. Week three: order a sample, build your landed cost and set a target price. Week four: pre-sell, then decide whether to place a small first order, or drop the idea and test another. Dropping a bad product after a week of research is a win, because it cost you almost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with the story. Tunde did not order 300 power banks the next day. He tested the market, verified suppliers, ordered a sample, built the real cost and priced for a margin. His first order was small. It sold. His second order was bigger. Tell them the most important sentence again: the price on the page is never your real cost. Invite questions. Then point them to the full course for the lesson-by-lesson version with practice tasks, calculators and a final business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nothing aloud. This slide keeps the licence terms for the photographs. The diagrams are original to CloudTech Academy.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4"/>
                </a:solidFill>
              </a:rPr>
              <a:t>CloudTech Academy  |  Mini Importation training</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4"/>
                </a:solidFill>
              </a:rPr>
              <a:t>CloudTech Academy  |  Mini Importation training</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D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0" y="274320"/>
            <a:ext cx="4572000" cy="8229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Container terminal seen from the air" descr="Container terminal seen from the air">    </p:cNvPr>
          <p:cNvPicPr>
            <a:picLocks noChangeAspect="1"/>
          </p:cNvPicPr>
          <p:nvPr/>
        </p:nvPicPr>
        <p:blipFill>
          <a:blip r:embed="rId1"/>
          <a:stretch>
            <a:fillRect/>
          </a:stretch>
        </p:blipFill>
        <p:spPr>
          <a:xfrm>
            <a:off x="0" y="0"/>
            <a:ext cx="9144000" cy="5143500"/>
          </a:xfrm>
          <a:prstGeom prst="rect">
            <a:avLst/>
          </a:prstGeom>
        </p:spPr>
      </p:pic>
      <p:sp>
        <p:nvSpPr>
          <p:cNvPr id="4" name="photo overlay"/>
          <p:cNvSpPr/>
          <p:nvPr/>
        </p:nvSpPr>
        <p:spPr>
          <a:xfrm>
            <a:off x="0" y="0"/>
            <a:ext cx="9144000" cy="5143500"/>
          </a:xfrm>
          <a:prstGeom prst="rect">
            <a:avLst/>
          </a:prstGeom>
          <a:solidFill>
            <a:srgbClr val="0B1F3A">
              <a:alpha val="78000"/>
            </a:srgbClr>
          </a:solidFill>
          <a:ln w="12700">
            <a:solidFill>
              <a:srgbClr val="0B1F3A"/>
            </a:solidFill>
            <a:prstDash val="solid"/>
          </a:ln>
        </p:spPr>
      </p:sp>
      <p:sp>
        <p:nvSpPr>
          <p:cNvPr id="5" name="Text 1"/>
          <p:cNvSpPr txBox="1"/>
          <p:nvPr/>
        </p:nvSpPr>
        <p:spPr>
          <a:xfrm>
            <a:off x="640080" y="1097280"/>
            <a:ext cx="7315200" cy="274320"/>
          </a:xfrm>
          <a:prstGeom prst="rect">
            <a:avLst/>
          </a:prstGeom>
          <a:noFill/>
          <a:ln/>
        </p:spPr>
        <p:txBody>
          <a:bodyPr wrap="square" lIns="0" tIns="0" rIns="0" bIns="0" rtlCol="0" anchor="t"/>
          <a:lstStyle/>
          <a:p>
            <a:pPr indent="0" marL="0">
              <a:buNone/>
            </a:pPr>
            <a:r>
              <a:rPr lang="en-US" sz="1400" b="1" spc="400" kern="0" dirty="0">
                <a:solidFill>
                  <a:schemeClr val="accent1"/>
                </a:solidFill>
              </a:rPr>
              <a:t>TRAINING WORKSHOP</a:t>
            </a:r>
            <a:endParaRPr lang="en-US" sz="1400" dirty="0"/>
          </a:p>
        </p:txBody>
      </p:sp>
      <p:sp>
        <p:nvSpPr>
          <p:cNvPr id="6" name="Text 2"/>
          <p:cNvSpPr txBox="1"/>
          <p:nvPr/>
        </p:nvSpPr>
        <p:spPr>
          <a:xfrm>
            <a:off x="640080" y="1463040"/>
            <a:ext cx="7863840" cy="91440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Mini Importation</a:t>
            </a:r>
            <a:endParaRPr lang="en-US" sz="5400" dirty="0"/>
          </a:p>
        </p:txBody>
      </p:sp>
      <p:sp>
        <p:nvSpPr>
          <p:cNvPr id="7" name="Text 3"/>
          <p:cNvSpPr txBox="1"/>
          <p:nvPr/>
        </p:nvSpPr>
        <p:spPr>
          <a:xfrm>
            <a:off x="640080" y="2468880"/>
            <a:ext cx="7498080" cy="822960"/>
          </a:xfrm>
          <a:prstGeom prst="rect">
            <a:avLst/>
          </a:prstGeom>
          <a:noFill/>
          <a:ln/>
        </p:spPr>
        <p:txBody>
          <a:bodyPr wrap="square" lIns="0" tIns="0" rIns="0" bIns="0" rtlCol="0" anchor="t"/>
          <a:lstStyle/>
          <a:p>
            <a:pPr indent="0" marL="0">
              <a:buNone/>
            </a:pPr>
            <a:r>
              <a:rPr lang="en-US" sz="2600" dirty="0">
                <a:solidFill>
                  <a:schemeClr val="bg1"/>
                </a:solidFill>
                <a:latin typeface="Cambria" pitchFamily="34" charset="0"/>
                <a:ea typeface="Cambria" pitchFamily="34" charset="-122"/>
                <a:cs typeface="Cambria" pitchFamily="34" charset="-120"/>
              </a:rPr>
              <a:t>From a good idea to your first profitable shipment</a:t>
            </a:r>
            <a:endParaRPr lang="en-US" sz="2600" dirty="0"/>
          </a:p>
        </p:txBody>
      </p:sp>
      <p:sp>
        <p:nvSpPr>
          <p:cNvPr id="8" name="Text 4"/>
          <p:cNvSpPr txBox="1"/>
          <p:nvPr/>
        </p:nvSpPr>
        <p:spPr>
          <a:xfrm>
            <a:off x="640080" y="4114800"/>
            <a:ext cx="7772400" cy="274320"/>
          </a:xfrm>
          <a:prstGeom prst="rect">
            <a:avLst/>
          </a:prstGeom>
          <a:noFill/>
          <a:ln/>
        </p:spPr>
        <p:txBody>
          <a:bodyPr wrap="square" lIns="0" tIns="0" rIns="0" bIns="0" rtlCol="0" anchor="t"/>
          <a:lstStyle/>
          <a:p>
            <a:pPr indent="0" marL="0">
              <a:buNone/>
            </a:pPr>
            <a:r>
              <a:rPr lang="en-US" sz="1400" dirty="0">
                <a:solidFill>
                  <a:schemeClr val="accent1"/>
                </a:solidFill>
              </a:rPr>
              <a:t>A practical, story-led guide for beginners  |  CloudTech Academy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0" y="274320"/>
            <a:ext cx="4572000" cy="822960"/>
          </a:xfrm>
          <a:prstGeom prst="rect">
            <a:avLst/>
          </a:prstGeom>
          <a:noFill/>
          <a:ln/>
        </p:spPr>
        <p:txBody>
          <a:bodyPr wrap="square" lIns="0" tIns="0" rIns="0" bIns="0" rtlCol="0" anchor="ctr"/>
          <a:lstStyle/>
          <a:p>
            <a:pPr algn="l" indent="0" marL="0">
              <a:buNone/>
            </a:pPr>
            <a:r>
              <a:rPr lang="en-US" sz="2800" b="1" dirty="0">
                <a:solidFill>
                  <a:schemeClr val="tx1"/>
                </a:solidFill>
              </a:rPr>
              <a:t>It starts with one sentence</a:t>
            </a:r>
            <a:endParaRPr lang="en-US" sz="2800" dirty="0"/>
          </a:p>
        </p:txBody>
      </p:sp>
      <p:pic>
        <p:nvPicPr>
          <p:cNvPr id="4" name="Computer Village, Ikeja, Lagos" descr="Computer Village, Ikeja, Lagos">    </p:cNvPr>
          <p:cNvPicPr>
            <a:picLocks noChangeAspect="1"/>
          </p:cNvPicPr>
          <p:nvPr/>
        </p:nvPicPr>
        <p:blipFill>
          <a:blip r:embed="rId1"/>
          <a:stretch>
            <a:fillRect/>
          </a:stretch>
        </p:blipFill>
        <p:spPr>
          <a:xfrm>
            <a:off x="0" y="0"/>
            <a:ext cx="3749040" cy="5143500"/>
          </a:xfrm>
          <a:prstGeom prst="rect">
            <a:avLst/>
          </a:prstGeom>
        </p:spPr>
      </p:pic>
      <p:sp>
        <p:nvSpPr>
          <p:cNvPr id="5" name="Text 1"/>
          <p:cNvSpPr txBox="1"/>
          <p:nvPr/>
        </p:nvSpPr>
        <p:spPr>
          <a:xfrm>
            <a:off x="4023360" y="4754880"/>
            <a:ext cx="4663440" cy="201168"/>
          </a:xfrm>
          <a:prstGeom prst="rect">
            <a:avLst/>
          </a:prstGeom>
          <a:noFill/>
          <a:ln/>
        </p:spPr>
        <p:txBody>
          <a:bodyPr wrap="square" lIns="0" tIns="0" rIns="0" bIns="0" rtlCol="0" anchor="t"/>
          <a:lstStyle/>
          <a:p>
            <a:pPr indent="0" marL="0">
              <a:buNone/>
            </a:pPr>
            <a:r>
              <a:rPr lang="en-US" sz="1000" i="1" dirty="0">
                <a:solidFill>
                  <a:schemeClr val="accent4"/>
                </a:solidFill>
              </a:rPr>
              <a:t>Computer Village, Ikeja. Photo: Lightfast Media, CC BY-SA 4.0</a:t>
            </a:r>
            <a:endParaRPr lang="en-US" sz="1000" dirty="0"/>
          </a:p>
        </p:txBody>
      </p:sp>
      <p:sp>
        <p:nvSpPr>
          <p:cNvPr id="6" name="quote card"/>
          <p:cNvSpPr/>
          <p:nvPr/>
        </p:nvSpPr>
        <p:spPr>
          <a:xfrm>
            <a:off x="4114800" y="1188720"/>
            <a:ext cx="4572000" cy="1143000"/>
          </a:xfrm>
          <a:prstGeom prst="roundRect">
            <a:avLst>
              <a:gd name="adj" fmla="val 8000"/>
            </a:avLst>
          </a:prstGeom>
          <a:solidFill>
            <a:schemeClr val="bg2"/>
          </a:solidFill>
          <a:ln w="12700">
            <a:solidFill>
              <a:schemeClr val="bg2"/>
            </a:solidFill>
            <a:prstDash val="solid"/>
          </a:ln>
        </p:spPr>
      </p:sp>
      <p:sp>
        <p:nvSpPr>
          <p:cNvPr id="7" name="Text 3"/>
          <p:cNvSpPr txBox="1"/>
          <p:nvPr/>
        </p:nvSpPr>
        <p:spPr>
          <a:xfrm>
            <a:off x="4297680" y="1280160"/>
            <a:ext cx="4206240" cy="960120"/>
          </a:xfrm>
          <a:prstGeom prst="rect">
            <a:avLst/>
          </a:prstGeom>
          <a:noFill/>
          <a:ln/>
        </p:spPr>
        <p:txBody>
          <a:bodyPr wrap="square" lIns="0" tIns="0" rIns="0" bIns="0" rtlCol="0" anchor="t"/>
          <a:lstStyle/>
          <a:p>
            <a:pPr indent="0" marL="0">
              <a:buNone/>
            </a:pPr>
            <a:r>
              <a:rPr lang="en-US" sz="1600" i="1" dirty="0">
                <a:solidFill>
                  <a:schemeClr val="tx1"/>
                </a:solidFill>
                <a:latin typeface="Cambria" pitchFamily="34" charset="0"/>
                <a:ea typeface="Cambria" pitchFamily="34" charset="-122"/>
                <a:cs typeface="Cambria" pitchFamily="34" charset="-120"/>
              </a:rPr>
              <a:t>“My cousin buys power banks directly from China. He sells them cheaper than you and still makes a profit.”</a:t>
            </a:r>
            <a:endParaRPr lang="en-US" sz="1600" dirty="0"/>
          </a:p>
        </p:txBody>
      </p:sp>
      <p:sp>
        <p:nvSpPr>
          <p:cNvPr id="8" name="Text 4"/>
          <p:cNvSpPr txBox="1"/>
          <p:nvPr/>
        </p:nvSpPr>
        <p:spPr>
          <a:xfrm>
            <a:off x="4114800" y="2514600"/>
            <a:ext cx="4572000" cy="777240"/>
          </a:xfrm>
          <a:prstGeom prst="rect">
            <a:avLst/>
          </a:prstGeom>
          <a:noFill/>
          <a:ln/>
        </p:spPr>
        <p:txBody>
          <a:bodyPr wrap="square" lIns="0" tIns="0" rIns="0" bIns="0" rtlCol="0" anchor="t"/>
          <a:lstStyle/>
          <a:p>
            <a:pPr indent="0" marL="0">
              <a:buNone/>
            </a:pPr>
            <a:r>
              <a:rPr lang="en-US" sz="1500" b="1" dirty="0">
                <a:solidFill>
                  <a:schemeClr val="tx1"/>
                </a:solidFill>
              </a:rPr>
              <a:t>Tunde</a:t>
            </a:r>
            <a:pPr indent="0" marL="0">
              <a:buNone/>
            </a:pPr>
            <a:r>
              <a:rPr lang="en-US" sz="1500" dirty="0">
                <a:solidFill>
                  <a:schemeClr val="tx1"/>
                </a:solidFill>
              </a:rPr>
              <a:t> sells phone accessories at Computer Village. He pays </a:t>
            </a:r>
            <a:pPr indent="0" marL="0">
              <a:buNone/>
            </a:pPr>
            <a:r>
              <a:rPr lang="en-US" sz="1500" b="1" dirty="0">
                <a:solidFill>
                  <a:schemeClr val="tx1"/>
                </a:solidFill>
              </a:rPr>
              <a:t>₦9,500</a:t>
            </a:r>
            <a:pPr indent="0" marL="0">
              <a:buNone/>
            </a:pPr>
            <a:r>
              <a:rPr lang="en-US" sz="1500" dirty="0">
                <a:solidFill>
                  <a:schemeClr val="tx1"/>
                </a:solidFill>
              </a:rPr>
              <a:t> for a power bank. A supplier website shows the same item at </a:t>
            </a:r>
            <a:pPr indent="0" marL="0">
              <a:buNone/>
            </a:pPr>
            <a:r>
              <a:rPr lang="en-US" sz="1500" b="1" dirty="0">
                <a:solidFill>
                  <a:schemeClr val="tx1"/>
                </a:solidFill>
              </a:rPr>
              <a:t>$3.00</a:t>
            </a:r>
            <a:pPr indent="0" marL="0">
              <a:buNone/>
            </a:pPr>
            <a:r>
              <a:rPr lang="en-US" sz="1500" dirty="0">
                <a:solidFill>
                  <a:schemeClr val="tx1"/>
                </a:solidFill>
              </a:rPr>
              <a:t>.</a:t>
            </a:r>
            <a:endParaRPr lang="en-US" sz="1500" dirty="0"/>
          </a:p>
        </p:txBody>
      </p:sp>
      <p:sp>
        <p:nvSpPr>
          <p:cNvPr id="9" name="question card"/>
          <p:cNvSpPr/>
          <p:nvPr/>
        </p:nvSpPr>
        <p:spPr>
          <a:xfrm>
            <a:off x="4114800" y="3474720"/>
            <a:ext cx="4572000" cy="1005840"/>
          </a:xfrm>
          <a:prstGeom prst="roundRect">
            <a:avLst>
              <a:gd name="adj" fmla="val 9091"/>
            </a:avLst>
          </a:prstGeom>
          <a:solidFill>
            <a:srgbClr val="0B1F3A"/>
          </a:solidFill>
          <a:ln w="12700">
            <a:solidFill>
              <a:srgbClr val="0B1F3A"/>
            </a:solidFill>
            <a:prstDash val="solid"/>
          </a:ln>
        </p:spPr>
      </p:sp>
      <p:sp>
        <p:nvSpPr>
          <p:cNvPr id="10" name="Text 6"/>
          <p:cNvSpPr txBox="1"/>
          <p:nvPr/>
        </p:nvSpPr>
        <p:spPr>
          <a:xfrm>
            <a:off x="4297680" y="3547872"/>
            <a:ext cx="4206240" cy="32004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“I should order 300 tomorrow.”</a:t>
            </a:r>
            <a:endParaRPr lang="en-US" sz="1800" dirty="0"/>
          </a:p>
        </p:txBody>
      </p:sp>
      <p:sp>
        <p:nvSpPr>
          <p:cNvPr id="11" name="Text 7"/>
          <p:cNvSpPr txBox="1"/>
          <p:nvPr/>
        </p:nvSpPr>
        <p:spPr>
          <a:xfrm>
            <a:off x="4297680" y="3931920"/>
            <a:ext cx="4206240" cy="365760"/>
          </a:xfrm>
          <a:prstGeom prst="rect">
            <a:avLst/>
          </a:prstGeom>
          <a:noFill/>
          <a:ln/>
        </p:spPr>
        <p:txBody>
          <a:bodyPr wrap="square" lIns="0" tIns="0" rIns="0" bIns="0" rtlCol="0" anchor="t"/>
          <a:lstStyle/>
          <a:p>
            <a:pPr indent="0" marL="0">
              <a:buNone/>
            </a:pPr>
            <a:r>
              <a:rPr lang="en-US" sz="1500" dirty="0">
                <a:solidFill>
                  <a:schemeClr val="bg1"/>
                </a:solidFill>
              </a:rPr>
              <a:t>What could go wrong? Hold that thought.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What you will leave with today</a:t>
            </a:r>
            <a:endParaRPr lang="en-US" sz="2800" dirty="0"/>
          </a:p>
        </p:txBody>
      </p:sp>
      <p:sp>
        <p:nvSpPr>
          <p:cNvPr id="4" name="card Choose well"/>
          <p:cNvSpPr/>
          <p:nvPr/>
        </p:nvSpPr>
        <p:spPr>
          <a:xfrm>
            <a:off x="457200" y="1234440"/>
            <a:ext cx="4023360" cy="1463040"/>
          </a:xfrm>
          <a:prstGeom prst="roundRect">
            <a:avLst>
              <a:gd name="adj" fmla="val 6250"/>
            </a:avLst>
          </a:prstGeom>
          <a:solidFill>
            <a:schemeClr val="bg2"/>
          </a:solidFill>
          <a:ln w="12700">
            <a:solidFill>
              <a:schemeClr val="bg2"/>
            </a:solidFill>
            <a:prstDash val="solid"/>
          </a:ln>
        </p:spPr>
      </p:sp>
      <p:sp>
        <p:nvSpPr>
          <p:cNvPr id="5" name="icon-circle Choose well"/>
          <p:cNvSpPr/>
          <p:nvPr/>
        </p:nvSpPr>
        <p:spPr>
          <a:xfrm>
            <a:off x="621792" y="1399032"/>
            <a:ext cx="457200" cy="457200"/>
          </a:xfrm>
          <a:prstGeom prst="ellipse">
            <a:avLst/>
          </a:prstGeom>
          <a:solidFill>
            <a:schemeClr val="accent6"/>
          </a:solidFill>
          <a:ln w="12700">
            <a:solidFill>
              <a:schemeClr val="accent6"/>
            </a:solidFill>
            <a:prstDash val="solid"/>
          </a:ln>
        </p:spPr>
      </p:sp>
      <p:pic>
        <p:nvPicPr>
          <p:cNvPr id="6" name="icon FaSearch" descr="preencoded.png">    </p:cNvPr>
          <p:cNvPicPr>
            <a:picLocks noChangeAspect="1"/>
          </p:cNvPicPr>
          <p:nvPr/>
        </p:nvPicPr>
        <p:blipFill>
          <a:blip r:embed="rId1"/>
          <a:stretch>
            <a:fillRect/>
          </a:stretch>
        </p:blipFill>
        <p:spPr>
          <a:xfrm>
            <a:off x="740664" y="1517904"/>
            <a:ext cx="219456" cy="219456"/>
          </a:xfrm>
          <a:prstGeom prst="rect">
            <a:avLst/>
          </a:prstGeom>
        </p:spPr>
      </p:pic>
      <p:sp>
        <p:nvSpPr>
          <p:cNvPr id="7" name="Text 3"/>
          <p:cNvSpPr txBox="1"/>
          <p:nvPr/>
        </p:nvSpPr>
        <p:spPr>
          <a:xfrm>
            <a:off x="1207008" y="138074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Choose well</a:t>
            </a:r>
            <a:endParaRPr lang="en-US" sz="1600" dirty="0"/>
          </a:p>
        </p:txBody>
      </p:sp>
      <p:sp>
        <p:nvSpPr>
          <p:cNvPr id="8" name="Text 4"/>
          <p:cNvSpPr txBox="1"/>
          <p:nvPr/>
        </p:nvSpPr>
        <p:spPr>
          <a:xfrm>
            <a:off x="1207008" y="1709928"/>
            <a:ext cx="3108960" cy="859536"/>
          </a:xfrm>
          <a:prstGeom prst="rect">
            <a:avLst/>
          </a:prstGeom>
          <a:noFill/>
          <a:ln/>
        </p:spPr>
        <p:txBody>
          <a:bodyPr wrap="square" lIns="0" tIns="0" rIns="0" bIns="0" rtlCol="0" anchor="t"/>
          <a:lstStyle/>
          <a:p>
            <a:pPr indent="0" marL="0">
              <a:buNone/>
            </a:pPr>
            <a:r>
              <a:rPr lang="en-US" sz="1400" dirty="0">
                <a:solidFill>
                  <a:schemeClr val="tx1"/>
                </a:solidFill>
              </a:rPr>
              <a:t>Pick a product people already buy, and check demand and margin before you spend a naira.</a:t>
            </a:r>
            <a:endParaRPr lang="en-US" sz="1400" dirty="0"/>
          </a:p>
        </p:txBody>
      </p:sp>
      <p:sp>
        <p:nvSpPr>
          <p:cNvPr id="9" name="card Buy safely"/>
          <p:cNvSpPr/>
          <p:nvPr/>
        </p:nvSpPr>
        <p:spPr>
          <a:xfrm>
            <a:off x="4663440" y="1234440"/>
            <a:ext cx="4023360" cy="1463040"/>
          </a:xfrm>
          <a:prstGeom prst="roundRect">
            <a:avLst>
              <a:gd name="adj" fmla="val 6250"/>
            </a:avLst>
          </a:prstGeom>
          <a:solidFill>
            <a:schemeClr val="bg2"/>
          </a:solidFill>
          <a:ln w="12700">
            <a:solidFill>
              <a:schemeClr val="bg2"/>
            </a:solidFill>
            <a:prstDash val="solid"/>
          </a:ln>
        </p:spPr>
      </p:sp>
      <p:sp>
        <p:nvSpPr>
          <p:cNvPr id="10" name="icon-circle Buy safely"/>
          <p:cNvSpPr/>
          <p:nvPr/>
        </p:nvSpPr>
        <p:spPr>
          <a:xfrm>
            <a:off x="4828032" y="1399032"/>
            <a:ext cx="457200" cy="457200"/>
          </a:xfrm>
          <a:prstGeom prst="ellipse">
            <a:avLst/>
          </a:prstGeom>
          <a:solidFill>
            <a:schemeClr val="accent2"/>
          </a:solidFill>
          <a:ln w="12700">
            <a:solidFill>
              <a:schemeClr val="accent2"/>
            </a:solidFill>
            <a:prstDash val="solid"/>
          </a:ln>
        </p:spPr>
      </p:sp>
      <p:pic>
        <p:nvPicPr>
          <p:cNvPr id="11" name="icon FaUserCheck" descr="preencoded.png">    </p:cNvPr>
          <p:cNvPicPr>
            <a:picLocks noChangeAspect="1"/>
          </p:cNvPicPr>
          <p:nvPr/>
        </p:nvPicPr>
        <p:blipFill>
          <a:blip r:embed="rId2"/>
          <a:stretch>
            <a:fillRect/>
          </a:stretch>
        </p:blipFill>
        <p:spPr>
          <a:xfrm>
            <a:off x="4946904" y="1517904"/>
            <a:ext cx="219456" cy="219456"/>
          </a:xfrm>
          <a:prstGeom prst="rect">
            <a:avLst/>
          </a:prstGeom>
        </p:spPr>
      </p:pic>
      <p:sp>
        <p:nvSpPr>
          <p:cNvPr id="12" name="Text 7"/>
          <p:cNvSpPr txBox="1"/>
          <p:nvPr/>
        </p:nvSpPr>
        <p:spPr>
          <a:xfrm>
            <a:off x="5413248" y="138074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Buy safely</a:t>
            </a:r>
            <a:endParaRPr lang="en-US" sz="1600" dirty="0"/>
          </a:p>
        </p:txBody>
      </p:sp>
      <p:sp>
        <p:nvSpPr>
          <p:cNvPr id="13" name="Text 8"/>
          <p:cNvSpPr txBox="1"/>
          <p:nvPr/>
        </p:nvSpPr>
        <p:spPr>
          <a:xfrm>
            <a:off x="5413248" y="1709928"/>
            <a:ext cx="3108960" cy="859536"/>
          </a:xfrm>
          <a:prstGeom prst="rect">
            <a:avLst/>
          </a:prstGeom>
          <a:noFill/>
          <a:ln/>
        </p:spPr>
        <p:txBody>
          <a:bodyPr wrap="square" lIns="0" tIns="0" rIns="0" bIns="0" rtlCol="0" anchor="t"/>
          <a:lstStyle/>
          <a:p>
            <a:pPr indent="0" marL="0">
              <a:buNone/>
            </a:pPr>
            <a:r>
              <a:rPr lang="en-US" sz="1400" dirty="0">
                <a:solidFill>
                  <a:schemeClr val="tx1"/>
                </a:solidFill>
              </a:rPr>
              <a:t>Find suppliers, spot scams and pay in a way that protects your money.</a:t>
            </a:r>
            <a:endParaRPr lang="en-US" sz="1400" dirty="0"/>
          </a:p>
        </p:txBody>
      </p:sp>
      <p:sp>
        <p:nvSpPr>
          <p:cNvPr id="14" name="card Ship and clear"/>
          <p:cNvSpPr/>
          <p:nvPr/>
        </p:nvSpPr>
        <p:spPr>
          <a:xfrm>
            <a:off x="457200" y="2880360"/>
            <a:ext cx="4023360" cy="1463040"/>
          </a:xfrm>
          <a:prstGeom prst="roundRect">
            <a:avLst>
              <a:gd name="adj" fmla="val 6250"/>
            </a:avLst>
          </a:prstGeom>
          <a:solidFill>
            <a:schemeClr val="bg2"/>
          </a:solidFill>
          <a:ln w="12700">
            <a:solidFill>
              <a:schemeClr val="bg2"/>
            </a:solidFill>
            <a:prstDash val="solid"/>
          </a:ln>
        </p:spPr>
      </p:sp>
      <p:sp>
        <p:nvSpPr>
          <p:cNvPr id="15" name="icon-circle Ship and clear"/>
          <p:cNvSpPr/>
          <p:nvPr/>
        </p:nvSpPr>
        <p:spPr>
          <a:xfrm>
            <a:off x="621792" y="3044952"/>
            <a:ext cx="457200" cy="457200"/>
          </a:xfrm>
          <a:prstGeom prst="ellipse">
            <a:avLst/>
          </a:prstGeom>
          <a:solidFill>
            <a:schemeClr val="accent6"/>
          </a:solidFill>
          <a:ln w="12700">
            <a:solidFill>
              <a:schemeClr val="accent6"/>
            </a:solidFill>
            <a:prstDash val="solid"/>
          </a:ln>
        </p:spPr>
      </p:sp>
      <p:pic>
        <p:nvPicPr>
          <p:cNvPr id="16" name="icon FaShip" descr="preencoded.png">    </p:cNvPr>
          <p:cNvPicPr>
            <a:picLocks noChangeAspect="1"/>
          </p:cNvPicPr>
          <p:nvPr/>
        </p:nvPicPr>
        <p:blipFill>
          <a:blip r:embed="rId3"/>
          <a:stretch>
            <a:fillRect/>
          </a:stretch>
        </p:blipFill>
        <p:spPr>
          <a:xfrm>
            <a:off x="740664" y="3163824"/>
            <a:ext cx="219456" cy="219456"/>
          </a:xfrm>
          <a:prstGeom prst="rect">
            <a:avLst/>
          </a:prstGeom>
        </p:spPr>
      </p:pic>
      <p:sp>
        <p:nvSpPr>
          <p:cNvPr id="17" name="Text 11"/>
          <p:cNvSpPr txBox="1"/>
          <p:nvPr/>
        </p:nvSpPr>
        <p:spPr>
          <a:xfrm>
            <a:off x="1207008" y="302666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Ship and clear</a:t>
            </a:r>
            <a:endParaRPr lang="en-US" sz="1600" dirty="0"/>
          </a:p>
        </p:txBody>
      </p:sp>
      <p:sp>
        <p:nvSpPr>
          <p:cNvPr id="18" name="Text 12"/>
          <p:cNvSpPr txBox="1"/>
          <p:nvPr/>
        </p:nvSpPr>
        <p:spPr>
          <a:xfrm>
            <a:off x="1207008" y="3355848"/>
            <a:ext cx="3108960" cy="859536"/>
          </a:xfrm>
          <a:prstGeom prst="rect">
            <a:avLst/>
          </a:prstGeom>
          <a:noFill/>
          <a:ln/>
        </p:spPr>
        <p:txBody>
          <a:bodyPr wrap="square" lIns="0" tIns="0" rIns="0" bIns="0" rtlCol="0" anchor="t"/>
          <a:lstStyle/>
          <a:p>
            <a:pPr indent="0" marL="0">
              <a:buNone/>
            </a:pPr>
            <a:r>
              <a:rPr lang="en-US" sz="1400" dirty="0">
                <a:solidFill>
                  <a:schemeClr val="tx1"/>
                </a:solidFill>
              </a:rPr>
              <a:t>Choose air or sea, understand the documents and clear goods at the port.</a:t>
            </a:r>
            <a:endParaRPr lang="en-US" sz="1400" dirty="0"/>
          </a:p>
        </p:txBody>
      </p:sp>
      <p:sp>
        <p:nvSpPr>
          <p:cNvPr id="19" name="card Know your cost"/>
          <p:cNvSpPr/>
          <p:nvPr/>
        </p:nvSpPr>
        <p:spPr>
          <a:xfrm>
            <a:off x="4663440" y="2880360"/>
            <a:ext cx="4023360" cy="1463040"/>
          </a:xfrm>
          <a:prstGeom prst="roundRect">
            <a:avLst>
              <a:gd name="adj" fmla="val 6250"/>
            </a:avLst>
          </a:prstGeom>
          <a:solidFill>
            <a:schemeClr val="bg2"/>
          </a:solidFill>
          <a:ln w="12700">
            <a:solidFill>
              <a:schemeClr val="bg2"/>
            </a:solidFill>
            <a:prstDash val="solid"/>
          </a:ln>
        </p:spPr>
      </p:sp>
      <p:sp>
        <p:nvSpPr>
          <p:cNvPr id="20" name="icon-circle Know your cost"/>
          <p:cNvSpPr/>
          <p:nvPr/>
        </p:nvSpPr>
        <p:spPr>
          <a:xfrm>
            <a:off x="4828032" y="3044952"/>
            <a:ext cx="457200" cy="457200"/>
          </a:xfrm>
          <a:prstGeom prst="ellipse">
            <a:avLst/>
          </a:prstGeom>
          <a:solidFill>
            <a:schemeClr val="accent2"/>
          </a:solidFill>
          <a:ln w="12700">
            <a:solidFill>
              <a:schemeClr val="accent2"/>
            </a:solidFill>
            <a:prstDash val="solid"/>
          </a:ln>
        </p:spPr>
      </p:sp>
      <p:pic>
        <p:nvPicPr>
          <p:cNvPr id="21" name="icon FaCalculator" descr="preencoded.png">    </p:cNvPr>
          <p:cNvPicPr>
            <a:picLocks noChangeAspect="1"/>
          </p:cNvPicPr>
          <p:nvPr/>
        </p:nvPicPr>
        <p:blipFill>
          <a:blip r:embed="rId4"/>
          <a:stretch>
            <a:fillRect/>
          </a:stretch>
        </p:blipFill>
        <p:spPr>
          <a:xfrm>
            <a:off x="4946904" y="3163824"/>
            <a:ext cx="219456" cy="219456"/>
          </a:xfrm>
          <a:prstGeom prst="rect">
            <a:avLst/>
          </a:prstGeom>
        </p:spPr>
      </p:pic>
      <p:sp>
        <p:nvSpPr>
          <p:cNvPr id="22" name="Text 15"/>
          <p:cNvSpPr txBox="1"/>
          <p:nvPr/>
        </p:nvSpPr>
        <p:spPr>
          <a:xfrm>
            <a:off x="5413248" y="302666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Know your cost</a:t>
            </a:r>
            <a:endParaRPr lang="en-US" sz="1600" dirty="0"/>
          </a:p>
        </p:txBody>
      </p:sp>
      <p:sp>
        <p:nvSpPr>
          <p:cNvPr id="23" name="Text 16"/>
          <p:cNvSpPr txBox="1"/>
          <p:nvPr/>
        </p:nvSpPr>
        <p:spPr>
          <a:xfrm>
            <a:off x="5413248" y="3355848"/>
            <a:ext cx="3108960" cy="859536"/>
          </a:xfrm>
          <a:prstGeom prst="rect">
            <a:avLst/>
          </a:prstGeom>
          <a:noFill/>
          <a:ln/>
        </p:spPr>
        <p:txBody>
          <a:bodyPr wrap="square" lIns="0" tIns="0" rIns="0" bIns="0" rtlCol="0" anchor="t"/>
          <a:lstStyle/>
          <a:p>
            <a:pPr indent="0" marL="0">
              <a:buNone/>
            </a:pPr>
            <a:r>
              <a:rPr lang="en-US" sz="1400" dirty="0">
                <a:solidFill>
                  <a:schemeClr val="tx1"/>
                </a:solidFill>
              </a:rPr>
              <a:t>Work out the real cost of every unit and a price that leaves a profit.</a:t>
            </a:r>
            <a:endParaRPr lang="en-US" sz="1400" dirty="0"/>
          </a:p>
        </p:txBody>
      </p:sp>
      <p:sp>
        <p:nvSpPr>
          <p:cNvPr id="24" name="Text 17"/>
          <p:cNvSpPr txBox="1"/>
          <p:nvPr/>
        </p:nvSpPr>
        <p:spPr>
          <a:xfrm>
            <a:off x="457200" y="4480560"/>
            <a:ext cx="5486400" cy="274320"/>
          </a:xfrm>
          <a:prstGeom prst="rect">
            <a:avLst/>
          </a:prstGeom>
          <a:noFill/>
          <a:ln/>
        </p:spPr>
        <p:txBody>
          <a:bodyPr wrap="square" lIns="0" tIns="0" rIns="0" bIns="0" rtlCol="0" anchor="t"/>
          <a:lstStyle/>
          <a:p>
            <a:pPr indent="0" marL="0">
              <a:buNone/>
            </a:pPr>
            <a:r>
              <a:rPr lang="en-US" sz="1400" i="1" dirty="0">
                <a:solidFill>
                  <a:schemeClr val="accent2"/>
                </a:solidFill>
              </a:rPr>
              <a:t>Built for beginners. No experience needed.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Importing and exporting in plain words</a:t>
            </a:r>
            <a:endParaRPr lang="en-US" sz="2800" dirty="0"/>
          </a:p>
        </p:txBody>
      </p:sp>
      <p:sp>
        <p:nvSpPr>
          <p:cNvPr id="4" name="card Import"/>
          <p:cNvSpPr/>
          <p:nvPr/>
        </p:nvSpPr>
        <p:spPr>
          <a:xfrm>
            <a:off x="457200" y="1188720"/>
            <a:ext cx="3749040" cy="1371600"/>
          </a:xfrm>
          <a:prstGeom prst="roundRect">
            <a:avLst>
              <a:gd name="adj" fmla="val 6667"/>
            </a:avLst>
          </a:prstGeom>
          <a:solidFill>
            <a:schemeClr val="bg2"/>
          </a:solidFill>
          <a:ln w="12700">
            <a:solidFill>
              <a:schemeClr val="bg2"/>
            </a:solidFill>
            <a:prstDash val="solid"/>
          </a:ln>
        </p:spPr>
      </p:sp>
      <p:sp>
        <p:nvSpPr>
          <p:cNvPr id="5" name="icon-circle Import"/>
          <p:cNvSpPr/>
          <p:nvPr/>
        </p:nvSpPr>
        <p:spPr>
          <a:xfrm>
            <a:off x="621792" y="1353312"/>
            <a:ext cx="457200" cy="457200"/>
          </a:xfrm>
          <a:prstGeom prst="ellipse">
            <a:avLst/>
          </a:prstGeom>
          <a:solidFill>
            <a:schemeClr val="accent2"/>
          </a:solidFill>
          <a:ln w="12700">
            <a:solidFill>
              <a:schemeClr val="accent2"/>
            </a:solidFill>
            <a:prstDash val="solid"/>
          </a:ln>
        </p:spPr>
      </p:sp>
      <p:pic>
        <p:nvPicPr>
          <p:cNvPr id="6" name="icon FaBoxOpen" descr="preencoded.png">    </p:cNvPr>
          <p:cNvPicPr>
            <a:picLocks noChangeAspect="1"/>
          </p:cNvPicPr>
          <p:nvPr/>
        </p:nvPicPr>
        <p:blipFill>
          <a:blip r:embed="rId1"/>
          <a:stretch>
            <a:fillRect/>
          </a:stretch>
        </p:blipFill>
        <p:spPr>
          <a:xfrm>
            <a:off x="740664" y="1472184"/>
            <a:ext cx="219456" cy="219456"/>
          </a:xfrm>
          <a:prstGeom prst="rect">
            <a:avLst/>
          </a:prstGeom>
        </p:spPr>
      </p:pic>
      <p:sp>
        <p:nvSpPr>
          <p:cNvPr id="7" name="Text 3"/>
          <p:cNvSpPr txBox="1"/>
          <p:nvPr/>
        </p:nvSpPr>
        <p:spPr>
          <a:xfrm>
            <a:off x="1207008" y="1335024"/>
            <a:ext cx="283464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Import</a:t>
            </a:r>
            <a:endParaRPr lang="en-US" sz="1600" dirty="0"/>
          </a:p>
        </p:txBody>
      </p:sp>
      <p:sp>
        <p:nvSpPr>
          <p:cNvPr id="8" name="Text 4"/>
          <p:cNvSpPr txBox="1"/>
          <p:nvPr/>
        </p:nvSpPr>
        <p:spPr>
          <a:xfrm>
            <a:off x="1207008" y="1664208"/>
            <a:ext cx="2834640" cy="768096"/>
          </a:xfrm>
          <a:prstGeom prst="rect">
            <a:avLst/>
          </a:prstGeom>
          <a:noFill/>
          <a:ln/>
        </p:spPr>
        <p:txBody>
          <a:bodyPr wrap="square" lIns="0" tIns="0" rIns="0" bIns="0" rtlCol="0" anchor="t"/>
          <a:lstStyle/>
          <a:p>
            <a:pPr indent="0" marL="0">
              <a:buNone/>
            </a:pPr>
            <a:r>
              <a:rPr lang="en-US" sz="1400" dirty="0">
                <a:solidFill>
                  <a:schemeClr val="tx1"/>
                </a:solidFill>
              </a:rPr>
              <a:t>Buy goods from another country and bring them in.</a:t>
            </a:r>
            <a:endParaRPr lang="en-US" sz="1400" dirty="0"/>
          </a:p>
        </p:txBody>
      </p:sp>
      <p:sp>
        <p:nvSpPr>
          <p:cNvPr id="9" name="card Export"/>
          <p:cNvSpPr/>
          <p:nvPr/>
        </p:nvSpPr>
        <p:spPr>
          <a:xfrm>
            <a:off x="457200" y="2743200"/>
            <a:ext cx="3749040" cy="1371600"/>
          </a:xfrm>
          <a:prstGeom prst="roundRect">
            <a:avLst>
              <a:gd name="adj" fmla="val 6667"/>
            </a:avLst>
          </a:prstGeom>
          <a:solidFill>
            <a:schemeClr val="bg2"/>
          </a:solidFill>
          <a:ln w="12700">
            <a:solidFill>
              <a:schemeClr val="bg2"/>
            </a:solidFill>
            <a:prstDash val="solid"/>
          </a:ln>
        </p:spPr>
      </p:sp>
      <p:sp>
        <p:nvSpPr>
          <p:cNvPr id="10" name="icon-circle Export"/>
          <p:cNvSpPr/>
          <p:nvPr/>
        </p:nvSpPr>
        <p:spPr>
          <a:xfrm>
            <a:off x="621792" y="2907792"/>
            <a:ext cx="457200" cy="457200"/>
          </a:xfrm>
          <a:prstGeom prst="ellipse">
            <a:avLst/>
          </a:prstGeom>
          <a:solidFill>
            <a:schemeClr val="accent6"/>
          </a:solidFill>
          <a:ln w="12700">
            <a:solidFill>
              <a:schemeClr val="accent6"/>
            </a:solidFill>
            <a:prstDash val="solid"/>
          </a:ln>
        </p:spPr>
      </p:sp>
      <p:pic>
        <p:nvPicPr>
          <p:cNvPr id="11" name="icon FaGlobeAfrica" descr="preencoded.png">    </p:cNvPr>
          <p:cNvPicPr>
            <a:picLocks noChangeAspect="1"/>
          </p:cNvPicPr>
          <p:nvPr/>
        </p:nvPicPr>
        <p:blipFill>
          <a:blip r:embed="rId2"/>
          <a:stretch>
            <a:fillRect/>
          </a:stretch>
        </p:blipFill>
        <p:spPr>
          <a:xfrm>
            <a:off x="740664" y="3026664"/>
            <a:ext cx="219456" cy="219456"/>
          </a:xfrm>
          <a:prstGeom prst="rect">
            <a:avLst/>
          </a:prstGeom>
        </p:spPr>
      </p:pic>
      <p:sp>
        <p:nvSpPr>
          <p:cNvPr id="12" name="Text 7"/>
          <p:cNvSpPr txBox="1"/>
          <p:nvPr/>
        </p:nvSpPr>
        <p:spPr>
          <a:xfrm>
            <a:off x="1207008" y="2889504"/>
            <a:ext cx="283464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Export</a:t>
            </a:r>
            <a:endParaRPr lang="en-US" sz="1600" dirty="0"/>
          </a:p>
        </p:txBody>
      </p:sp>
      <p:sp>
        <p:nvSpPr>
          <p:cNvPr id="13" name="Text 8"/>
          <p:cNvSpPr txBox="1"/>
          <p:nvPr/>
        </p:nvSpPr>
        <p:spPr>
          <a:xfrm>
            <a:off x="1207008" y="3218688"/>
            <a:ext cx="2834640" cy="768096"/>
          </a:xfrm>
          <a:prstGeom prst="rect">
            <a:avLst/>
          </a:prstGeom>
          <a:noFill/>
          <a:ln/>
        </p:spPr>
        <p:txBody>
          <a:bodyPr wrap="square" lIns="0" tIns="0" rIns="0" bIns="0" rtlCol="0" anchor="t"/>
          <a:lstStyle/>
          <a:p>
            <a:pPr indent="0" marL="0">
              <a:buNone/>
            </a:pPr>
            <a:r>
              <a:rPr lang="en-US" sz="1400" dirty="0">
                <a:solidFill>
                  <a:schemeClr val="tx1"/>
                </a:solidFill>
              </a:rPr>
              <a:t>Sell goods you make or buy locally to a buyer abroad.</a:t>
            </a:r>
            <a:endParaRPr lang="en-US" sz="1400" dirty="0"/>
          </a:p>
        </p:txBody>
      </p:sp>
      <p:sp>
        <p:nvSpPr>
          <p:cNvPr id="14" name="example panel"/>
          <p:cNvSpPr/>
          <p:nvPr/>
        </p:nvSpPr>
        <p:spPr>
          <a:xfrm>
            <a:off x="4526280" y="1188720"/>
            <a:ext cx="4160520" cy="2926080"/>
          </a:xfrm>
          <a:prstGeom prst="roundRect">
            <a:avLst>
              <a:gd name="adj" fmla="val 3125"/>
            </a:avLst>
          </a:prstGeom>
          <a:solidFill>
            <a:srgbClr val="0B1F3A"/>
          </a:solidFill>
          <a:ln w="12700">
            <a:solidFill>
              <a:srgbClr val="0B1F3A"/>
            </a:solidFill>
            <a:prstDash val="solid"/>
          </a:ln>
        </p:spPr>
      </p:sp>
      <p:sp>
        <p:nvSpPr>
          <p:cNvPr id="15" name="Text 10"/>
          <p:cNvSpPr txBox="1"/>
          <p:nvPr/>
        </p:nvSpPr>
        <p:spPr>
          <a:xfrm>
            <a:off x="4754880" y="1325880"/>
            <a:ext cx="374904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ONE SALE, TWO NAMES</a:t>
            </a:r>
            <a:endParaRPr lang="en-US" sz="1200" dirty="0"/>
          </a:p>
        </p:txBody>
      </p:sp>
      <p:sp>
        <p:nvSpPr>
          <p:cNvPr id="16" name="china box"/>
          <p:cNvSpPr/>
          <p:nvPr/>
        </p:nvSpPr>
        <p:spPr>
          <a:xfrm>
            <a:off x="4754880" y="1691640"/>
            <a:ext cx="3703320" cy="640080"/>
          </a:xfrm>
          <a:prstGeom prst="roundRect">
            <a:avLst>
              <a:gd name="adj" fmla="val 11429"/>
            </a:avLst>
          </a:prstGeom>
          <a:solidFill>
            <a:schemeClr val="accent6"/>
          </a:solidFill>
          <a:ln w="12700">
            <a:solidFill>
              <a:schemeClr val="accent6"/>
            </a:solidFill>
            <a:prstDash val="solid"/>
          </a:ln>
        </p:spPr>
      </p:sp>
      <p:sp>
        <p:nvSpPr>
          <p:cNvPr id="17" name="Text 12"/>
          <p:cNvSpPr txBox="1"/>
          <p:nvPr/>
        </p:nvSpPr>
        <p:spPr>
          <a:xfrm>
            <a:off x="4892040" y="1755648"/>
            <a:ext cx="3474720" cy="548640"/>
          </a:xfrm>
          <a:prstGeom prst="rect">
            <a:avLst/>
          </a:prstGeom>
          <a:noFill/>
          <a:ln/>
        </p:spPr>
        <p:txBody>
          <a:bodyPr wrap="square" lIns="0" tIns="0" rIns="0" bIns="0" rtlCol="0" anchor="t"/>
          <a:lstStyle/>
          <a:p>
            <a:pPr indent="0" marL="0">
              <a:buNone/>
            </a:pPr>
            <a:r>
              <a:rPr lang="en-US" sz="1400" b="1" dirty="0">
                <a:solidFill>
                  <a:srgbClr val="FFFFFF"/>
                </a:solidFill>
              </a:rPr>
              <a:t>Guangzhou factory</a:t>
            </a:r>
            <a:endParaRPr lang="en-US" sz="1400" dirty="0"/>
          </a:p>
          <a:p>
            <a:pPr indent="0" marL="0">
              <a:buNone/>
            </a:pPr>
            <a:r>
              <a:rPr lang="en-US" sz="1400" dirty="0">
                <a:solidFill>
                  <a:srgbClr val="FFFFFF"/>
                </a:solidFill>
              </a:rPr>
              <a:t>EXPORT for China</a:t>
            </a:r>
            <a:endParaRPr lang="en-US" sz="1400" dirty="0"/>
          </a:p>
        </p:txBody>
      </p:sp>
      <p:sp>
        <p:nvSpPr>
          <p:cNvPr id="18" name="arrow"/>
          <p:cNvSpPr/>
          <p:nvPr/>
        </p:nvSpPr>
        <p:spPr>
          <a:xfrm>
            <a:off x="6400800" y="2395728"/>
            <a:ext cx="502920" cy="457200"/>
          </a:xfrm>
          <a:prstGeom prst="downArrow">
            <a:avLst/>
          </a:prstGeom>
          <a:solidFill>
            <a:schemeClr val="accent1"/>
          </a:solidFill>
          <a:ln w="12700">
            <a:solidFill>
              <a:schemeClr val="accent1"/>
            </a:solidFill>
            <a:prstDash val="solid"/>
          </a:ln>
        </p:spPr>
      </p:sp>
      <p:sp>
        <p:nvSpPr>
          <p:cNvPr id="19" name="nigeria box"/>
          <p:cNvSpPr/>
          <p:nvPr/>
        </p:nvSpPr>
        <p:spPr>
          <a:xfrm>
            <a:off x="4754880" y="2926080"/>
            <a:ext cx="3703320" cy="640080"/>
          </a:xfrm>
          <a:prstGeom prst="roundRect">
            <a:avLst>
              <a:gd name="adj" fmla="val 11429"/>
            </a:avLst>
          </a:prstGeom>
          <a:solidFill>
            <a:schemeClr val="accent2"/>
          </a:solidFill>
          <a:ln w="12700">
            <a:solidFill>
              <a:schemeClr val="accent2"/>
            </a:solidFill>
            <a:prstDash val="solid"/>
          </a:ln>
        </p:spPr>
      </p:sp>
      <p:sp>
        <p:nvSpPr>
          <p:cNvPr id="20" name="Text 15"/>
          <p:cNvSpPr txBox="1"/>
          <p:nvPr/>
        </p:nvSpPr>
        <p:spPr>
          <a:xfrm>
            <a:off x="4892040" y="2990088"/>
            <a:ext cx="3474720" cy="548640"/>
          </a:xfrm>
          <a:prstGeom prst="rect">
            <a:avLst/>
          </a:prstGeom>
          <a:noFill/>
          <a:ln/>
        </p:spPr>
        <p:txBody>
          <a:bodyPr wrap="square" lIns="0" tIns="0" rIns="0" bIns="0" rtlCol="0" anchor="t"/>
          <a:lstStyle/>
          <a:p>
            <a:pPr indent="0" marL="0">
              <a:buNone/>
            </a:pPr>
            <a:r>
              <a:rPr lang="en-US" sz="1400" b="1" dirty="0">
                <a:solidFill>
                  <a:srgbClr val="FFFFFF"/>
                </a:solidFill>
              </a:rPr>
              <a:t>Lagos trader</a:t>
            </a:r>
            <a:endParaRPr lang="en-US" sz="1400" dirty="0"/>
          </a:p>
          <a:p>
            <a:pPr indent="0" marL="0">
              <a:buNone/>
            </a:pPr>
            <a:r>
              <a:rPr lang="en-US" sz="1400" dirty="0">
                <a:solidFill>
                  <a:srgbClr val="FFFFFF"/>
                </a:solidFill>
              </a:rPr>
              <a:t>IMPORT for Nigeria</a:t>
            </a:r>
            <a:endParaRPr lang="en-US" sz="1400" dirty="0"/>
          </a:p>
        </p:txBody>
      </p:sp>
      <p:sp>
        <p:nvSpPr>
          <p:cNvPr id="21" name="Text 16"/>
          <p:cNvSpPr txBox="1"/>
          <p:nvPr/>
        </p:nvSpPr>
        <p:spPr>
          <a:xfrm>
            <a:off x="4754880" y="3675888"/>
            <a:ext cx="3703320" cy="274320"/>
          </a:xfrm>
          <a:prstGeom prst="rect">
            <a:avLst/>
          </a:prstGeom>
          <a:noFill/>
          <a:ln/>
        </p:spPr>
        <p:txBody>
          <a:bodyPr wrap="square" lIns="0" tIns="0" rIns="0" bIns="0" rtlCol="0" anchor="t"/>
          <a:lstStyle/>
          <a:p>
            <a:pPr indent="0" marL="0">
              <a:buNone/>
            </a:pPr>
            <a:r>
              <a:rPr lang="en-US" sz="1400" i="1" dirty="0">
                <a:solidFill>
                  <a:schemeClr val="accent1"/>
                </a:solidFill>
              </a:rPr>
              <a:t>The gap in price is your opportunity.</a:t>
            </a:r>
            <a:endParaRPr lang="en-US" sz="1400" dirty="0"/>
          </a:p>
        </p:txBody>
      </p:sp>
      <p:sp>
        <p:nvSpPr>
          <p:cNvPr id="22" name="Text 17"/>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400" b="1" dirty="0">
                <a:solidFill>
                  <a:schemeClr val="accent2"/>
                </a:solidFill>
              </a:rPr>
              <a:t>Your job: turn the price gap into profit after every cost in between.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Mini importation versus full trade</a:t>
            </a:r>
            <a:endParaRPr lang="en-US" sz="2800" dirty="0"/>
          </a:p>
        </p:txBody>
      </p:sp>
      <p:sp>
        <p:nvSpPr>
          <p:cNvPr id="4" name="mini panel"/>
          <p:cNvSpPr/>
          <p:nvPr/>
        </p:nvSpPr>
        <p:spPr>
          <a:xfrm>
            <a:off x="457200" y="1188720"/>
            <a:ext cx="4023360" cy="2834640"/>
          </a:xfrm>
          <a:prstGeom prst="roundRect">
            <a:avLst>
              <a:gd name="adj" fmla="val 3226"/>
            </a:avLst>
          </a:prstGeom>
          <a:solidFill>
            <a:schemeClr val="bg2"/>
          </a:solidFill>
          <a:ln w="12700">
            <a:solidFill>
              <a:schemeClr val="bg2"/>
            </a:solidFill>
            <a:prstDash val="solid"/>
          </a:ln>
        </p:spPr>
      </p:sp>
      <p:sp>
        <p:nvSpPr>
          <p:cNvPr id="5" name="icon-circle mini"/>
          <p:cNvSpPr/>
          <p:nvPr/>
        </p:nvSpPr>
        <p:spPr>
          <a:xfrm>
            <a:off x="640080" y="1325880"/>
            <a:ext cx="502920" cy="502920"/>
          </a:xfrm>
          <a:prstGeom prst="ellipse">
            <a:avLst/>
          </a:prstGeom>
          <a:solidFill>
            <a:schemeClr val="accent2"/>
          </a:solidFill>
          <a:ln w="12700">
            <a:solidFill>
              <a:schemeClr val="accent2"/>
            </a:solidFill>
            <a:prstDash val="solid"/>
          </a:ln>
        </p:spPr>
      </p:sp>
      <p:pic>
        <p:nvPicPr>
          <p:cNvPr id="6" name="icon FaBoxOpen" descr="preencoded.png">    </p:cNvPr>
          <p:cNvPicPr>
            <a:picLocks noChangeAspect="1"/>
          </p:cNvPicPr>
          <p:nvPr/>
        </p:nvPicPr>
        <p:blipFill>
          <a:blip r:embed="rId1"/>
          <a:stretch>
            <a:fillRect/>
          </a:stretch>
        </p:blipFill>
        <p:spPr>
          <a:xfrm>
            <a:off x="770839" y="1456639"/>
            <a:ext cx="241402" cy="241402"/>
          </a:xfrm>
          <a:prstGeom prst="rect">
            <a:avLst/>
          </a:prstGeom>
        </p:spPr>
      </p:pic>
      <p:sp>
        <p:nvSpPr>
          <p:cNvPr id="7" name="Text 3"/>
          <p:cNvSpPr txBox="1"/>
          <p:nvPr/>
        </p:nvSpPr>
        <p:spPr>
          <a:xfrm>
            <a:off x="1280160" y="1417320"/>
            <a:ext cx="301752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Mini importation</a:t>
            </a:r>
            <a:endParaRPr lang="en-US" sz="2000" dirty="0"/>
          </a:p>
        </p:txBody>
      </p:sp>
      <p:sp>
        <p:nvSpPr>
          <p:cNvPr id="8" name="Text 4"/>
          <p:cNvSpPr txBox="1"/>
          <p:nvPr/>
        </p:nvSpPr>
        <p:spPr>
          <a:xfrm>
            <a:off x="685800" y="196596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Dozens to a few hundred units</a:t>
            </a:r>
            <a:endParaRPr lang="en-US" sz="1500" dirty="0"/>
          </a:p>
          <a:p>
            <a:pPr marL="342900" indent="-342900">
              <a:spcAft>
                <a:spcPts val="600"/>
              </a:spcAft>
              <a:buSzPct val="100000"/>
              <a:buChar char="•"/>
            </a:pPr>
            <a:r>
              <a:rPr lang="en-US" sz="1500" dirty="0">
                <a:solidFill>
                  <a:schemeClr val="tx1"/>
                </a:solidFill>
              </a:rPr>
              <a:t>Often air cargo or courier</a:t>
            </a:r>
            <a:endParaRPr lang="en-US" sz="1500" dirty="0"/>
          </a:p>
          <a:p>
            <a:pPr marL="342900" indent="-342900">
              <a:spcAft>
                <a:spcPts val="600"/>
              </a:spcAft>
              <a:buSzPct val="100000"/>
              <a:buChar char="•"/>
            </a:pPr>
            <a:r>
              <a:rPr lang="en-US" sz="1500" dirty="0">
                <a:solidFill>
                  <a:schemeClr val="tx1"/>
                </a:solidFill>
              </a:rPr>
              <a:t>One person or a small team</a:t>
            </a:r>
            <a:endParaRPr lang="en-US" sz="1500" dirty="0"/>
          </a:p>
          <a:p>
            <a:pPr marL="342900" indent="-342900">
              <a:spcAft>
                <a:spcPts val="600"/>
              </a:spcAft>
              <a:buSzPct val="100000"/>
              <a:buChar char="•"/>
            </a:pPr>
            <a:r>
              <a:rPr lang="en-US" sz="1500" dirty="0">
                <a:solidFill>
                  <a:schemeClr val="tx1"/>
                </a:solidFill>
              </a:rPr>
              <a:t>Goods bought for resale</a:t>
            </a:r>
            <a:endParaRPr lang="en-US" sz="1500" dirty="0"/>
          </a:p>
          <a:p>
            <a:pPr marL="342900" indent="-342900">
              <a:spcAft>
                <a:spcPts val="600"/>
              </a:spcAft>
              <a:buSzPct val="100000"/>
              <a:buChar char="•"/>
            </a:pPr>
            <a:r>
              <a:rPr lang="en-US" sz="1500" dirty="0">
                <a:solidFill>
                  <a:schemeClr val="tx1"/>
                </a:solidFill>
              </a:rPr>
              <a:t>Rules still apply in full</a:t>
            </a:r>
            <a:endParaRPr lang="en-US" sz="1500" dirty="0"/>
          </a:p>
        </p:txBody>
      </p:sp>
      <p:sp>
        <p:nvSpPr>
          <p:cNvPr id="9" name="full panel"/>
          <p:cNvSpPr/>
          <p:nvPr/>
        </p:nvSpPr>
        <p:spPr>
          <a:xfrm>
            <a:off x="4663440" y="1188720"/>
            <a:ext cx="4023360" cy="2834640"/>
          </a:xfrm>
          <a:prstGeom prst="roundRect">
            <a:avLst>
              <a:gd name="adj" fmla="val 3226"/>
            </a:avLst>
          </a:prstGeom>
          <a:solidFill>
            <a:srgbClr val="0B1F3A"/>
          </a:solidFill>
          <a:ln w="12700">
            <a:solidFill>
              <a:srgbClr val="0B1F3A"/>
            </a:solidFill>
            <a:prstDash val="solid"/>
          </a:ln>
        </p:spPr>
      </p:sp>
      <p:sp>
        <p:nvSpPr>
          <p:cNvPr id="10" name="icon-circle full"/>
          <p:cNvSpPr/>
          <p:nvPr/>
        </p:nvSpPr>
        <p:spPr>
          <a:xfrm>
            <a:off x="4846320" y="1325880"/>
            <a:ext cx="502920" cy="502920"/>
          </a:xfrm>
          <a:prstGeom prst="ellipse">
            <a:avLst/>
          </a:prstGeom>
          <a:solidFill>
            <a:schemeClr val="accent1"/>
          </a:solidFill>
          <a:ln w="12700">
            <a:solidFill>
              <a:schemeClr val="accent1"/>
            </a:solidFill>
            <a:prstDash val="solid"/>
          </a:ln>
        </p:spPr>
      </p:sp>
      <p:pic>
        <p:nvPicPr>
          <p:cNvPr id="11" name="icon FaShip" descr="preencoded.png">    </p:cNvPr>
          <p:cNvPicPr>
            <a:picLocks noChangeAspect="1"/>
          </p:cNvPicPr>
          <p:nvPr/>
        </p:nvPicPr>
        <p:blipFill>
          <a:blip r:embed="rId2"/>
          <a:stretch>
            <a:fillRect/>
          </a:stretch>
        </p:blipFill>
        <p:spPr>
          <a:xfrm>
            <a:off x="4977079" y="1456639"/>
            <a:ext cx="241402" cy="241402"/>
          </a:xfrm>
          <a:prstGeom prst="rect">
            <a:avLst/>
          </a:prstGeom>
        </p:spPr>
      </p:pic>
      <p:sp>
        <p:nvSpPr>
          <p:cNvPr id="12" name="Text 7"/>
          <p:cNvSpPr txBox="1"/>
          <p:nvPr/>
        </p:nvSpPr>
        <p:spPr>
          <a:xfrm>
            <a:off x="5486400" y="1417320"/>
            <a:ext cx="30175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Full trade</a:t>
            </a:r>
            <a:endParaRPr lang="en-US" sz="2000" dirty="0"/>
          </a:p>
        </p:txBody>
      </p:sp>
      <p:sp>
        <p:nvSpPr>
          <p:cNvPr id="13" name="Text 8"/>
          <p:cNvSpPr txBox="1"/>
          <p:nvPr/>
        </p:nvSpPr>
        <p:spPr>
          <a:xfrm>
            <a:off x="4892040" y="196596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Container loads (FCL)</a:t>
            </a:r>
            <a:endParaRPr lang="en-US" sz="1500" dirty="0"/>
          </a:p>
          <a:p>
            <a:pPr marL="342900" indent="-342900">
              <a:spcAft>
                <a:spcPts val="600"/>
              </a:spcAft>
              <a:buSzPct val="100000"/>
              <a:buChar char="•"/>
            </a:pPr>
            <a:r>
              <a:rPr lang="en-US" sz="1500" dirty="0">
                <a:solidFill>
                  <a:schemeClr val="bg1"/>
                </a:solidFill>
              </a:rPr>
              <a:t>Mostly sea freight</a:t>
            </a:r>
            <a:endParaRPr lang="en-US" sz="1500" dirty="0"/>
          </a:p>
          <a:p>
            <a:pPr marL="342900" indent="-342900">
              <a:spcAft>
                <a:spcPts val="600"/>
              </a:spcAft>
              <a:buSzPct val="100000"/>
              <a:buChar char="•"/>
            </a:pPr>
            <a:r>
              <a:rPr lang="en-US" sz="1500" dirty="0">
                <a:solidFill>
                  <a:schemeClr val="bg1"/>
                </a:solidFill>
              </a:rPr>
              <a:t>Forwarder and clearing agent team</a:t>
            </a:r>
            <a:endParaRPr lang="en-US" sz="1500" dirty="0"/>
          </a:p>
          <a:p>
            <a:pPr marL="342900" indent="-342900">
              <a:spcAft>
                <a:spcPts val="600"/>
              </a:spcAft>
              <a:buSzPct val="100000"/>
              <a:buChar char="•"/>
            </a:pPr>
            <a:r>
              <a:rPr lang="en-US" sz="1500" dirty="0">
                <a:solidFill>
                  <a:schemeClr val="bg1"/>
                </a:solidFill>
              </a:rPr>
              <a:t>Larger capital and contracts</a:t>
            </a:r>
            <a:endParaRPr lang="en-US" sz="1500" dirty="0"/>
          </a:p>
          <a:p>
            <a:pPr marL="342900" indent="-342900">
              <a:spcAft>
                <a:spcPts val="600"/>
              </a:spcAft>
              <a:buSzPct val="100000"/>
              <a:buChar char="•"/>
            </a:pPr>
            <a:r>
              <a:rPr lang="en-US" sz="1500" dirty="0">
                <a:solidFill>
                  <a:schemeClr val="bg1"/>
                </a:solidFill>
              </a:rPr>
              <a:t>Letters of credit for big orders</a:t>
            </a:r>
            <a:endParaRPr lang="en-US" sz="1500" dirty="0"/>
          </a:p>
        </p:txBody>
      </p:sp>
      <p:sp>
        <p:nvSpPr>
          <p:cNvPr id="14" name="exempt bar"/>
          <p:cNvSpPr/>
          <p:nvPr/>
        </p:nvSpPr>
        <p:spPr>
          <a:xfrm>
            <a:off x="457200" y="4160520"/>
            <a:ext cx="8229600" cy="457200"/>
          </a:xfrm>
          <a:prstGeom prst="roundRect">
            <a:avLst>
              <a:gd name="adj" fmla="val 16000"/>
            </a:avLst>
          </a:prstGeom>
          <a:solidFill>
            <a:schemeClr val="accent1"/>
          </a:solidFill>
          <a:ln w="12700">
            <a:solidFill>
              <a:schemeClr val="accent1"/>
            </a:solidFill>
            <a:prstDash val="solid"/>
          </a:ln>
        </p:spPr>
      </p:sp>
      <p:sp>
        <p:nvSpPr>
          <p:cNvPr id="15" name="Text 10"/>
          <p:cNvSpPr txBox="1"/>
          <p:nvPr/>
        </p:nvSpPr>
        <p:spPr>
          <a:xfrm>
            <a:off x="640080" y="4251960"/>
            <a:ext cx="7863840" cy="274320"/>
          </a:xfrm>
          <a:prstGeom prst="rect">
            <a:avLst/>
          </a:prstGeom>
          <a:noFill/>
          <a:ln/>
        </p:spPr>
        <p:txBody>
          <a:bodyPr wrap="square" lIns="0" tIns="0" rIns="0" bIns="0" rtlCol="0" anchor="t"/>
          <a:lstStyle/>
          <a:p>
            <a:pPr indent="0" marL="0">
              <a:buNone/>
            </a:pPr>
            <a:r>
              <a:rPr lang="en-US" sz="1400" b="1" dirty="0">
                <a:solidFill>
                  <a:srgbClr val="0B1F3A"/>
                </a:solidFill>
              </a:rPr>
              <a:t>Mini does not mean exempt: small commercial imports still need correct declarations.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bg1"/>
                </a:solidFill>
              </a:rPr>
              <a:t>The price on the page is not your cost</a:t>
            </a:r>
            <a:endParaRPr lang="en-US" sz="2800" dirty="0"/>
          </a:p>
        </p:txBody>
      </p:sp>
      <p:sp>
        <p:nvSpPr>
          <p:cNvPr id="4" name="stat card 0"/>
          <p:cNvSpPr/>
          <p:nvPr/>
        </p:nvSpPr>
        <p:spPr>
          <a:xfrm>
            <a:off x="457200" y="1325880"/>
            <a:ext cx="2651760" cy="2377440"/>
          </a:xfrm>
          <a:prstGeom prst="roundRect">
            <a:avLst>
              <a:gd name="adj" fmla="val 3846"/>
            </a:avLst>
          </a:prstGeom>
          <a:solidFill>
            <a:srgbClr val="13315C"/>
          </a:solidFill>
          <a:ln w="12700">
            <a:solidFill>
              <a:srgbClr val="13315C"/>
            </a:solidFill>
            <a:prstDash val="solid"/>
          </a:ln>
        </p:spPr>
      </p:sp>
      <p:sp>
        <p:nvSpPr>
          <p:cNvPr id="5" name="Text 2"/>
          <p:cNvSpPr txBox="1"/>
          <p:nvPr/>
        </p:nvSpPr>
        <p:spPr>
          <a:xfrm>
            <a:off x="548640" y="1645920"/>
            <a:ext cx="2468880" cy="822960"/>
          </a:xfrm>
          <a:prstGeom prst="rect">
            <a:avLst/>
          </a:prstGeom>
          <a:noFill/>
          <a:ln/>
        </p:spPr>
        <p:txBody>
          <a:bodyPr wrap="square" lIns="0" tIns="0" rIns="0" bIns="0" rtlCol="0" anchor="t"/>
          <a:lstStyle/>
          <a:p>
            <a:pPr algn="ctr" indent="0" marL="0">
              <a:buNone/>
            </a:pPr>
            <a:r>
              <a:rPr lang="en-US" sz="4800" b="1" dirty="0">
                <a:solidFill>
                  <a:schemeClr val="accent4"/>
                </a:solidFill>
                <a:latin typeface="Cambria" pitchFamily="34" charset="0"/>
                <a:ea typeface="Cambria" pitchFamily="34" charset="-122"/>
                <a:cs typeface="Cambria" pitchFamily="34" charset="-120"/>
              </a:rPr>
              <a:t>$3.00</a:t>
            </a:r>
            <a:endParaRPr lang="en-US" sz="4800" dirty="0"/>
          </a:p>
        </p:txBody>
      </p:sp>
      <p:sp>
        <p:nvSpPr>
          <p:cNvPr id="6" name="Text 3"/>
          <p:cNvSpPr txBox="1"/>
          <p:nvPr/>
        </p:nvSpPr>
        <p:spPr>
          <a:xfrm>
            <a:off x="640080" y="2697480"/>
            <a:ext cx="2286000" cy="731520"/>
          </a:xfrm>
          <a:prstGeom prst="rect">
            <a:avLst/>
          </a:prstGeom>
          <a:noFill/>
          <a:ln/>
        </p:spPr>
        <p:txBody>
          <a:bodyPr wrap="square" lIns="0" tIns="0" rIns="0" bIns="0" rtlCol="0" anchor="t"/>
          <a:lstStyle/>
          <a:p>
            <a:pPr algn="ctr" indent="0" marL="0">
              <a:buNone/>
            </a:pPr>
            <a:r>
              <a:rPr lang="en-US" sz="1400" dirty="0">
                <a:solidFill>
                  <a:schemeClr val="bg1"/>
                </a:solidFill>
              </a:rPr>
              <a:t>price on the supplier page,</a:t>
            </a:r>
            <a:endParaRPr lang="en-US" sz="1400" dirty="0"/>
          </a:p>
          <a:p>
            <a:pPr algn="ctr" indent="0" marL="0">
              <a:buNone/>
            </a:pPr>
            <a:r>
              <a:rPr lang="en-US" sz="1400" dirty="0">
                <a:solidFill>
                  <a:schemeClr val="bg1"/>
                </a:solidFill>
              </a:rPr>
              <a:t>about ₦4,500 a unit</a:t>
            </a:r>
            <a:endParaRPr lang="en-US" sz="1400" dirty="0"/>
          </a:p>
        </p:txBody>
      </p:sp>
      <p:sp>
        <p:nvSpPr>
          <p:cNvPr id="7" name="stat card 1"/>
          <p:cNvSpPr/>
          <p:nvPr/>
        </p:nvSpPr>
        <p:spPr>
          <a:xfrm>
            <a:off x="3291840" y="1325880"/>
            <a:ext cx="2651760" cy="2377440"/>
          </a:xfrm>
          <a:prstGeom prst="roundRect">
            <a:avLst>
              <a:gd name="adj" fmla="val 3846"/>
            </a:avLst>
          </a:prstGeom>
          <a:solidFill>
            <a:srgbClr val="13315C"/>
          </a:solidFill>
          <a:ln w="12700">
            <a:solidFill>
              <a:srgbClr val="13315C"/>
            </a:solidFill>
            <a:prstDash val="solid"/>
          </a:ln>
        </p:spPr>
      </p:sp>
      <p:sp>
        <p:nvSpPr>
          <p:cNvPr id="8" name="Text 5"/>
          <p:cNvSpPr txBox="1"/>
          <p:nvPr/>
        </p:nvSpPr>
        <p:spPr>
          <a:xfrm>
            <a:off x="3383280" y="1645920"/>
            <a:ext cx="2468880" cy="822960"/>
          </a:xfrm>
          <a:prstGeom prst="rect">
            <a:avLst/>
          </a:prstGeom>
          <a:noFill/>
          <a:ln/>
        </p:spPr>
        <p:txBody>
          <a:bodyPr wrap="square" lIns="0" tIns="0" rIns="0" bIns="0" rtlCol="0" anchor="t"/>
          <a:lstStyle/>
          <a:p>
            <a:pPr algn="ctr" indent="0" marL="0">
              <a:buNone/>
            </a:pPr>
            <a:r>
              <a:rPr lang="en-US" sz="4800" b="1" dirty="0">
                <a:solidFill>
                  <a:schemeClr val="accent1"/>
                </a:solidFill>
                <a:latin typeface="Cambria" pitchFamily="34" charset="0"/>
                <a:ea typeface="Cambria" pitchFamily="34" charset="-122"/>
                <a:cs typeface="Cambria" pitchFamily="34" charset="-120"/>
              </a:rPr>
              <a:t>₦7,420</a:t>
            </a:r>
            <a:endParaRPr lang="en-US" sz="4800" dirty="0"/>
          </a:p>
        </p:txBody>
      </p:sp>
      <p:sp>
        <p:nvSpPr>
          <p:cNvPr id="9" name="Text 6"/>
          <p:cNvSpPr txBox="1"/>
          <p:nvPr/>
        </p:nvSpPr>
        <p:spPr>
          <a:xfrm>
            <a:off x="3474720" y="2697480"/>
            <a:ext cx="2286000" cy="731520"/>
          </a:xfrm>
          <a:prstGeom prst="rect">
            <a:avLst/>
          </a:prstGeom>
          <a:noFill/>
          <a:ln/>
        </p:spPr>
        <p:txBody>
          <a:bodyPr wrap="square" lIns="0" tIns="0" rIns="0" bIns="0" rtlCol="0" anchor="t"/>
          <a:lstStyle/>
          <a:p>
            <a:pPr algn="ctr" indent="0" marL="0">
              <a:buNone/>
            </a:pPr>
            <a:r>
              <a:rPr lang="en-US" sz="1400" dirty="0">
                <a:solidFill>
                  <a:schemeClr val="bg1"/>
                </a:solidFill>
              </a:rPr>
              <a:t>the real cost per unit</a:t>
            </a:r>
            <a:endParaRPr lang="en-US" sz="1400" dirty="0"/>
          </a:p>
          <a:p>
            <a:pPr algn="ctr" indent="0" marL="0">
              <a:buNone/>
            </a:pPr>
            <a:r>
              <a:rPr lang="en-US" sz="1400" dirty="0">
                <a:solidFill>
                  <a:schemeClr val="bg1"/>
                </a:solidFill>
              </a:rPr>
              <a:t>once everything is added</a:t>
            </a:r>
            <a:endParaRPr lang="en-US" sz="1400" dirty="0"/>
          </a:p>
        </p:txBody>
      </p:sp>
      <p:sp>
        <p:nvSpPr>
          <p:cNvPr id="10" name="stat card 2"/>
          <p:cNvSpPr/>
          <p:nvPr/>
        </p:nvSpPr>
        <p:spPr>
          <a:xfrm>
            <a:off x="6126480" y="1325880"/>
            <a:ext cx="2651760" cy="2377440"/>
          </a:xfrm>
          <a:prstGeom prst="roundRect">
            <a:avLst>
              <a:gd name="adj" fmla="val 3846"/>
            </a:avLst>
          </a:prstGeom>
          <a:solidFill>
            <a:srgbClr val="13315C"/>
          </a:solidFill>
          <a:ln w="12700">
            <a:solidFill>
              <a:srgbClr val="13315C"/>
            </a:solidFill>
            <a:prstDash val="solid"/>
          </a:ln>
        </p:spPr>
      </p:sp>
      <p:sp>
        <p:nvSpPr>
          <p:cNvPr id="11" name="Text 8"/>
          <p:cNvSpPr txBox="1"/>
          <p:nvPr/>
        </p:nvSpPr>
        <p:spPr>
          <a:xfrm>
            <a:off x="6217920" y="1645920"/>
            <a:ext cx="2468880" cy="822960"/>
          </a:xfrm>
          <a:prstGeom prst="rect">
            <a:avLst/>
          </a:prstGeom>
          <a:noFill/>
          <a:ln/>
        </p:spPr>
        <p:txBody>
          <a:bodyPr wrap="square" lIns="0" tIns="0" rIns="0" bIns="0" rtlCol="0" anchor="t"/>
          <a:lstStyle/>
          <a:p>
            <a:pPr algn="ctr" indent="0" marL="0">
              <a:buNone/>
            </a:pPr>
            <a:r>
              <a:rPr lang="en-US" sz="4800" b="1" dirty="0">
                <a:solidFill>
                  <a:schemeClr val="accent3"/>
                </a:solidFill>
                <a:latin typeface="Cambria" pitchFamily="34" charset="0"/>
                <a:ea typeface="Cambria" pitchFamily="34" charset="-122"/>
                <a:cs typeface="Cambria" pitchFamily="34" charset="-120"/>
              </a:rPr>
              <a:t>+65%</a:t>
            </a:r>
            <a:endParaRPr lang="en-US" sz="4800" dirty="0"/>
          </a:p>
        </p:txBody>
      </p:sp>
      <p:sp>
        <p:nvSpPr>
          <p:cNvPr id="12" name="Text 9"/>
          <p:cNvSpPr txBox="1"/>
          <p:nvPr/>
        </p:nvSpPr>
        <p:spPr>
          <a:xfrm>
            <a:off x="6309360" y="2697480"/>
            <a:ext cx="2286000" cy="731520"/>
          </a:xfrm>
          <a:prstGeom prst="rect">
            <a:avLst/>
          </a:prstGeom>
          <a:noFill/>
          <a:ln/>
        </p:spPr>
        <p:txBody>
          <a:bodyPr wrap="square" lIns="0" tIns="0" rIns="0" bIns="0" rtlCol="0" anchor="t"/>
          <a:lstStyle/>
          <a:p>
            <a:pPr algn="ctr" indent="0" marL="0">
              <a:buNone/>
            </a:pPr>
            <a:r>
              <a:rPr lang="en-US" sz="1400" dirty="0">
                <a:solidFill>
                  <a:schemeClr val="bg1"/>
                </a:solidFill>
              </a:rPr>
              <a:t>the gap between</a:t>
            </a:r>
            <a:endParaRPr lang="en-US" sz="1400" dirty="0"/>
          </a:p>
          <a:p>
            <a:pPr algn="ctr" indent="0" marL="0">
              <a:buNone/>
            </a:pPr>
            <a:r>
              <a:rPr lang="en-US" sz="1400" dirty="0">
                <a:solidFill>
                  <a:schemeClr val="bg1"/>
                </a:solidFill>
              </a:rPr>
              <a:t>the two numbers</a:t>
            </a:r>
            <a:endParaRPr lang="en-US" sz="1400" dirty="0"/>
          </a:p>
        </p:txBody>
      </p:sp>
      <p:sp>
        <p:nvSpPr>
          <p:cNvPr id="13" name="Text 10"/>
          <p:cNvSpPr txBox="1"/>
          <p:nvPr/>
        </p:nvSpPr>
        <p:spPr>
          <a:xfrm>
            <a:off x="457200" y="3931920"/>
            <a:ext cx="8229600" cy="274320"/>
          </a:xfrm>
          <a:prstGeom prst="rect">
            <a:avLst/>
          </a:prstGeom>
          <a:noFill/>
          <a:ln/>
        </p:spPr>
        <p:txBody>
          <a:bodyPr wrap="square" lIns="0" tIns="0" rIns="0" bIns="0" rtlCol="0" anchor="t"/>
          <a:lstStyle/>
          <a:p>
            <a:pPr indent="0" marL="0">
              <a:buNone/>
            </a:pPr>
            <a:r>
              <a:rPr lang="en-US" sz="1400" dirty="0">
                <a:solidFill>
                  <a:schemeClr val="accent4"/>
                </a:solidFill>
              </a:rPr>
              <a:t>Example: 300 power banks, $3.00 each, air freight, Lagos.</a:t>
            </a:r>
            <a:endParaRPr lang="en-US" sz="1400" dirty="0"/>
          </a:p>
        </p:txBody>
      </p:sp>
      <p:sp>
        <p:nvSpPr>
          <p:cNvPr id="14" name="Text 11"/>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600" b="1" dirty="0">
                <a:solidFill>
                  <a:schemeClr val="accent1"/>
                </a:solidFill>
              </a:rPr>
              <a:t>We build this number up step by step later today.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The whole journey in ten steps</a:t>
            </a:r>
            <a:endParaRPr lang="en-US" sz="2800" dirty="0"/>
          </a:p>
        </p:txBody>
      </p:sp>
      <p:sp>
        <p:nvSpPr>
          <p:cNvPr id="4" name="journey step 1"/>
          <p:cNvSpPr/>
          <p:nvPr/>
        </p:nvSpPr>
        <p:spPr>
          <a:xfrm>
            <a:off x="457200" y="1143000"/>
            <a:ext cx="1554480" cy="1554480"/>
          </a:xfrm>
          <a:prstGeom prst="roundRect">
            <a:avLst>
              <a:gd name="adj" fmla="val 5882"/>
            </a:avLst>
          </a:prstGeom>
          <a:solidFill>
            <a:schemeClr val="bg2"/>
          </a:solidFill>
          <a:ln w="12700">
            <a:solidFill>
              <a:schemeClr val="bg2"/>
            </a:solidFill>
            <a:prstDash val="solid"/>
          </a:ln>
        </p:spPr>
      </p:sp>
      <p:sp>
        <p:nvSpPr>
          <p:cNvPr id="5" name="step circle"/>
          <p:cNvSpPr/>
          <p:nvPr/>
        </p:nvSpPr>
        <p:spPr>
          <a:xfrm>
            <a:off x="566928" y="1252728"/>
            <a:ext cx="384048" cy="384048"/>
          </a:xfrm>
          <a:prstGeom prst="ellipse">
            <a:avLst/>
          </a:prstGeom>
          <a:solidFill>
            <a:schemeClr val="accent6"/>
          </a:solidFill>
          <a:ln w="12700">
            <a:solidFill>
              <a:srgbClr val="FFFFFF"/>
            </a:solidFill>
            <a:prstDash val="solid"/>
          </a:ln>
        </p:spPr>
      </p:sp>
      <p:sp>
        <p:nvSpPr>
          <p:cNvPr id="6" name="Text 3"/>
          <p:cNvSpPr txBox="1"/>
          <p:nvPr/>
        </p:nvSpPr>
        <p:spPr>
          <a:xfrm>
            <a:off x="566928" y="12527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4"/>
          <p:cNvSpPr txBox="1"/>
          <p:nvPr/>
        </p:nvSpPr>
        <p:spPr>
          <a:xfrm>
            <a:off x="1005840" y="1325880"/>
            <a:ext cx="914400" cy="228600"/>
          </a:xfrm>
          <a:prstGeom prst="rect">
            <a:avLst/>
          </a:prstGeom>
          <a:noFill/>
          <a:ln/>
        </p:spPr>
        <p:txBody>
          <a:bodyPr wrap="square" lIns="0" tIns="0" rIns="0" bIns="0" rtlCol="0" anchor="t"/>
          <a:lstStyle/>
          <a:p>
            <a:pPr indent="0" marL="0">
              <a:buNone/>
            </a:pPr>
            <a:r>
              <a:rPr lang="en-US" sz="1100" b="1" dirty="0">
                <a:solidFill>
                  <a:schemeClr val="accent2"/>
                </a:solidFill>
              </a:rPr>
              <a:t>Lesson 2</a:t>
            </a:r>
            <a:endParaRPr lang="en-US" sz="1100" dirty="0"/>
          </a:p>
        </p:txBody>
      </p:sp>
      <p:sp>
        <p:nvSpPr>
          <p:cNvPr id="8" name="Text 5"/>
          <p:cNvSpPr txBox="1"/>
          <p:nvPr/>
        </p:nvSpPr>
        <p:spPr>
          <a:xfrm>
            <a:off x="566928" y="1764792"/>
            <a:ext cx="1353312" cy="45720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Choose a product</a:t>
            </a:r>
            <a:endParaRPr lang="en-US" sz="1400" dirty="0"/>
          </a:p>
        </p:txBody>
      </p:sp>
      <p:sp>
        <p:nvSpPr>
          <p:cNvPr id="9" name="Text 6"/>
          <p:cNvSpPr txBox="1"/>
          <p:nvPr/>
        </p:nvSpPr>
        <p:spPr>
          <a:xfrm>
            <a:off x="566928" y="2240280"/>
            <a:ext cx="1353312" cy="411480"/>
          </a:xfrm>
          <a:prstGeom prst="rect">
            <a:avLst/>
          </a:prstGeom>
          <a:noFill/>
          <a:ln/>
        </p:spPr>
        <p:txBody>
          <a:bodyPr wrap="square" lIns="0" tIns="0" rIns="0" bIns="0" rtlCol="0" anchor="t"/>
          <a:lstStyle/>
          <a:p>
            <a:pPr indent="0" marL="0">
              <a:buNone/>
            </a:pPr>
            <a:r>
              <a:rPr lang="en-US" sz="1200" dirty="0">
                <a:solidFill>
                  <a:schemeClr val="tx1"/>
                </a:solidFill>
              </a:rPr>
              <a:t>Pick what people already buy</a:t>
            </a:r>
            <a:endParaRPr lang="en-US" sz="1200" dirty="0"/>
          </a:p>
        </p:txBody>
      </p:sp>
      <p:sp>
        <p:nvSpPr>
          <p:cNvPr id="10" name="journey step 2"/>
          <p:cNvSpPr/>
          <p:nvPr/>
        </p:nvSpPr>
        <p:spPr>
          <a:xfrm>
            <a:off x="2125980" y="1143000"/>
            <a:ext cx="1554480" cy="1554480"/>
          </a:xfrm>
          <a:prstGeom prst="roundRect">
            <a:avLst>
              <a:gd name="adj" fmla="val 5882"/>
            </a:avLst>
          </a:prstGeom>
          <a:solidFill>
            <a:srgbClr val="0B1F3A"/>
          </a:solidFill>
          <a:ln w="12700">
            <a:solidFill>
              <a:srgbClr val="0B1F3A"/>
            </a:solidFill>
            <a:prstDash val="solid"/>
          </a:ln>
        </p:spPr>
      </p:sp>
      <p:sp>
        <p:nvSpPr>
          <p:cNvPr id="11" name="step circle"/>
          <p:cNvSpPr/>
          <p:nvPr/>
        </p:nvSpPr>
        <p:spPr>
          <a:xfrm>
            <a:off x="2235708" y="1252728"/>
            <a:ext cx="384048" cy="384048"/>
          </a:xfrm>
          <a:prstGeom prst="ellipse">
            <a:avLst/>
          </a:prstGeom>
          <a:solidFill>
            <a:schemeClr val="accent1"/>
          </a:solidFill>
          <a:ln w="12700">
            <a:solidFill>
              <a:srgbClr val="FFFFFF"/>
            </a:solidFill>
            <a:prstDash val="solid"/>
          </a:ln>
        </p:spPr>
      </p:sp>
      <p:sp>
        <p:nvSpPr>
          <p:cNvPr id="12" name="Text 9"/>
          <p:cNvSpPr txBox="1"/>
          <p:nvPr/>
        </p:nvSpPr>
        <p:spPr>
          <a:xfrm>
            <a:off x="2235708" y="1252728"/>
            <a:ext cx="384048" cy="384048"/>
          </a:xfrm>
          <a:prstGeom prst="rect">
            <a:avLst/>
          </a:prstGeom>
          <a:noFill/>
          <a:ln/>
        </p:spPr>
        <p:txBody>
          <a:bodyPr wrap="square" lIns="0" tIns="0" rIns="0" bIns="0" rtlCol="0" anchor="ctr"/>
          <a:lstStyle/>
          <a:p>
            <a:pPr algn="ctr" indent="0" marL="0">
              <a:buNone/>
            </a:pPr>
            <a:r>
              <a:rPr lang="en-US" sz="1500" b="1" dirty="0">
                <a:solidFill>
                  <a:srgbClr val="0B1F3A"/>
                </a:solidFill>
              </a:rPr>
              <a:t>2</a:t>
            </a:r>
            <a:endParaRPr lang="en-US" sz="1500" dirty="0"/>
          </a:p>
        </p:txBody>
      </p:sp>
      <p:sp>
        <p:nvSpPr>
          <p:cNvPr id="13" name="Text 10"/>
          <p:cNvSpPr txBox="1"/>
          <p:nvPr/>
        </p:nvSpPr>
        <p:spPr>
          <a:xfrm>
            <a:off x="2674620" y="1325880"/>
            <a:ext cx="914400" cy="228600"/>
          </a:xfrm>
          <a:prstGeom prst="rect">
            <a:avLst/>
          </a:prstGeom>
          <a:noFill/>
          <a:ln/>
        </p:spPr>
        <p:txBody>
          <a:bodyPr wrap="square" lIns="0" tIns="0" rIns="0" bIns="0" rtlCol="0" anchor="t"/>
          <a:lstStyle/>
          <a:p>
            <a:pPr indent="0" marL="0">
              <a:buNone/>
            </a:pPr>
            <a:r>
              <a:rPr lang="en-US" sz="1100" b="1" dirty="0">
                <a:solidFill>
                  <a:schemeClr val="accent1"/>
                </a:solidFill>
              </a:rPr>
              <a:t>Lesson 2</a:t>
            </a:r>
            <a:endParaRPr lang="en-US" sz="1100" dirty="0"/>
          </a:p>
        </p:txBody>
      </p:sp>
      <p:sp>
        <p:nvSpPr>
          <p:cNvPr id="14" name="Text 11"/>
          <p:cNvSpPr txBox="1"/>
          <p:nvPr/>
        </p:nvSpPr>
        <p:spPr>
          <a:xfrm>
            <a:off x="2235708" y="1764792"/>
            <a:ext cx="1353312" cy="45720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Check the market</a:t>
            </a:r>
            <a:endParaRPr lang="en-US" sz="1400" dirty="0"/>
          </a:p>
        </p:txBody>
      </p:sp>
      <p:sp>
        <p:nvSpPr>
          <p:cNvPr id="15" name="Text 12"/>
          <p:cNvSpPr txBox="1"/>
          <p:nvPr/>
        </p:nvSpPr>
        <p:spPr>
          <a:xfrm>
            <a:off x="2235708" y="2240280"/>
            <a:ext cx="1353312" cy="411480"/>
          </a:xfrm>
          <a:prstGeom prst="rect">
            <a:avLst/>
          </a:prstGeom>
          <a:noFill/>
          <a:ln/>
        </p:spPr>
        <p:txBody>
          <a:bodyPr wrap="square" lIns="0" tIns="0" rIns="0" bIns="0" rtlCol="0" anchor="t"/>
          <a:lstStyle/>
          <a:p>
            <a:pPr indent="0" marL="0">
              <a:buNone/>
            </a:pPr>
            <a:r>
              <a:rPr lang="en-US" sz="1200" dirty="0">
                <a:solidFill>
                  <a:schemeClr val="accent4"/>
                </a:solidFill>
              </a:rPr>
              <a:t>Demand, competition, margin</a:t>
            </a:r>
            <a:endParaRPr lang="en-US" sz="1200" dirty="0"/>
          </a:p>
        </p:txBody>
      </p:sp>
      <p:sp>
        <p:nvSpPr>
          <p:cNvPr id="16" name="journey step 3"/>
          <p:cNvSpPr/>
          <p:nvPr/>
        </p:nvSpPr>
        <p:spPr>
          <a:xfrm>
            <a:off x="3794760" y="1143000"/>
            <a:ext cx="1554480" cy="1554480"/>
          </a:xfrm>
          <a:prstGeom prst="roundRect">
            <a:avLst>
              <a:gd name="adj" fmla="val 5882"/>
            </a:avLst>
          </a:prstGeom>
          <a:solidFill>
            <a:schemeClr val="bg2"/>
          </a:solidFill>
          <a:ln w="12700">
            <a:solidFill>
              <a:schemeClr val="bg2"/>
            </a:solidFill>
            <a:prstDash val="solid"/>
          </a:ln>
        </p:spPr>
      </p:sp>
      <p:sp>
        <p:nvSpPr>
          <p:cNvPr id="17" name="step circle"/>
          <p:cNvSpPr/>
          <p:nvPr/>
        </p:nvSpPr>
        <p:spPr>
          <a:xfrm>
            <a:off x="3904488" y="1252728"/>
            <a:ext cx="384048" cy="384048"/>
          </a:xfrm>
          <a:prstGeom prst="ellipse">
            <a:avLst/>
          </a:prstGeom>
          <a:solidFill>
            <a:schemeClr val="accent6"/>
          </a:solidFill>
          <a:ln w="12700">
            <a:solidFill>
              <a:srgbClr val="FFFFFF"/>
            </a:solidFill>
            <a:prstDash val="solid"/>
          </a:ln>
        </p:spPr>
      </p:sp>
      <p:sp>
        <p:nvSpPr>
          <p:cNvPr id="18" name="Text 15"/>
          <p:cNvSpPr txBox="1"/>
          <p:nvPr/>
        </p:nvSpPr>
        <p:spPr>
          <a:xfrm>
            <a:off x="3904488" y="12527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9" name="Text 16"/>
          <p:cNvSpPr txBox="1"/>
          <p:nvPr/>
        </p:nvSpPr>
        <p:spPr>
          <a:xfrm>
            <a:off x="4343400" y="1325880"/>
            <a:ext cx="914400" cy="228600"/>
          </a:xfrm>
          <a:prstGeom prst="rect">
            <a:avLst/>
          </a:prstGeom>
          <a:noFill/>
          <a:ln/>
        </p:spPr>
        <p:txBody>
          <a:bodyPr wrap="square" lIns="0" tIns="0" rIns="0" bIns="0" rtlCol="0" anchor="t"/>
          <a:lstStyle/>
          <a:p>
            <a:pPr indent="0" marL="0">
              <a:buNone/>
            </a:pPr>
            <a:r>
              <a:rPr lang="en-US" sz="1100" b="1" dirty="0">
                <a:solidFill>
                  <a:schemeClr val="accent2"/>
                </a:solidFill>
              </a:rPr>
              <a:t>Lesson 3</a:t>
            </a:r>
            <a:endParaRPr lang="en-US" sz="1100" dirty="0"/>
          </a:p>
        </p:txBody>
      </p:sp>
      <p:sp>
        <p:nvSpPr>
          <p:cNvPr id="20" name="Text 17"/>
          <p:cNvSpPr txBox="1"/>
          <p:nvPr/>
        </p:nvSpPr>
        <p:spPr>
          <a:xfrm>
            <a:off x="3904488" y="1764792"/>
            <a:ext cx="1353312" cy="45720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Find suppliers</a:t>
            </a:r>
            <a:endParaRPr lang="en-US" sz="1400" dirty="0"/>
          </a:p>
        </p:txBody>
      </p:sp>
      <p:sp>
        <p:nvSpPr>
          <p:cNvPr id="21" name="Text 18"/>
          <p:cNvSpPr txBox="1"/>
          <p:nvPr/>
        </p:nvSpPr>
        <p:spPr>
          <a:xfrm>
            <a:off x="3904488" y="2240280"/>
            <a:ext cx="1353312" cy="411480"/>
          </a:xfrm>
          <a:prstGeom prst="rect">
            <a:avLst/>
          </a:prstGeom>
          <a:noFill/>
          <a:ln/>
        </p:spPr>
        <p:txBody>
          <a:bodyPr wrap="square" lIns="0" tIns="0" rIns="0" bIns="0" rtlCol="0" anchor="t"/>
          <a:lstStyle/>
          <a:p>
            <a:pPr indent="0" marL="0">
              <a:buNone/>
            </a:pPr>
            <a:r>
              <a:rPr lang="en-US" sz="1200" dirty="0">
                <a:solidFill>
                  <a:schemeClr val="tx1"/>
                </a:solidFill>
              </a:rPr>
              <a:t>Platforms, markets, agents</a:t>
            </a:r>
            <a:endParaRPr lang="en-US" sz="1200" dirty="0"/>
          </a:p>
        </p:txBody>
      </p:sp>
      <p:sp>
        <p:nvSpPr>
          <p:cNvPr id="22" name="journey step 4"/>
          <p:cNvSpPr/>
          <p:nvPr/>
        </p:nvSpPr>
        <p:spPr>
          <a:xfrm>
            <a:off x="5463540" y="1143000"/>
            <a:ext cx="1554480" cy="1554480"/>
          </a:xfrm>
          <a:prstGeom prst="roundRect">
            <a:avLst>
              <a:gd name="adj" fmla="val 5882"/>
            </a:avLst>
          </a:prstGeom>
          <a:solidFill>
            <a:schemeClr val="bg2"/>
          </a:solidFill>
          <a:ln w="12700">
            <a:solidFill>
              <a:schemeClr val="bg2"/>
            </a:solidFill>
            <a:prstDash val="solid"/>
          </a:ln>
        </p:spPr>
      </p:sp>
      <p:sp>
        <p:nvSpPr>
          <p:cNvPr id="23" name="step circle"/>
          <p:cNvSpPr/>
          <p:nvPr/>
        </p:nvSpPr>
        <p:spPr>
          <a:xfrm>
            <a:off x="5573268" y="1252728"/>
            <a:ext cx="384048" cy="384048"/>
          </a:xfrm>
          <a:prstGeom prst="ellipse">
            <a:avLst/>
          </a:prstGeom>
          <a:solidFill>
            <a:schemeClr val="accent2"/>
          </a:solidFill>
          <a:ln w="12700">
            <a:solidFill>
              <a:srgbClr val="FFFFFF"/>
            </a:solidFill>
            <a:prstDash val="solid"/>
          </a:ln>
        </p:spPr>
      </p:sp>
      <p:sp>
        <p:nvSpPr>
          <p:cNvPr id="24" name="Text 21"/>
          <p:cNvSpPr txBox="1"/>
          <p:nvPr/>
        </p:nvSpPr>
        <p:spPr>
          <a:xfrm>
            <a:off x="5573268" y="12527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5" name="Text 22"/>
          <p:cNvSpPr txBox="1"/>
          <p:nvPr/>
        </p:nvSpPr>
        <p:spPr>
          <a:xfrm>
            <a:off x="6012180" y="1325880"/>
            <a:ext cx="914400" cy="228600"/>
          </a:xfrm>
          <a:prstGeom prst="rect">
            <a:avLst/>
          </a:prstGeom>
          <a:noFill/>
          <a:ln/>
        </p:spPr>
        <p:txBody>
          <a:bodyPr wrap="square" lIns="0" tIns="0" rIns="0" bIns="0" rtlCol="0" anchor="t"/>
          <a:lstStyle/>
          <a:p>
            <a:pPr indent="0" marL="0">
              <a:buNone/>
            </a:pPr>
            <a:r>
              <a:rPr lang="en-US" sz="1100" b="1" dirty="0">
                <a:solidFill>
                  <a:schemeClr val="accent2"/>
                </a:solidFill>
              </a:rPr>
              <a:t>Lesson 4</a:t>
            </a:r>
            <a:endParaRPr lang="en-US" sz="1100" dirty="0"/>
          </a:p>
        </p:txBody>
      </p:sp>
      <p:sp>
        <p:nvSpPr>
          <p:cNvPr id="26" name="Text 23"/>
          <p:cNvSpPr txBox="1"/>
          <p:nvPr/>
        </p:nvSpPr>
        <p:spPr>
          <a:xfrm>
            <a:off x="5573268" y="1764792"/>
            <a:ext cx="1353312" cy="45720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Verify the supplier</a:t>
            </a:r>
            <a:endParaRPr lang="en-US" sz="1400" dirty="0"/>
          </a:p>
        </p:txBody>
      </p:sp>
      <p:sp>
        <p:nvSpPr>
          <p:cNvPr id="27" name="Text 24"/>
          <p:cNvSpPr txBox="1"/>
          <p:nvPr/>
        </p:nvSpPr>
        <p:spPr>
          <a:xfrm>
            <a:off x="5573268" y="2240280"/>
            <a:ext cx="1353312" cy="411480"/>
          </a:xfrm>
          <a:prstGeom prst="rect">
            <a:avLst/>
          </a:prstGeom>
          <a:noFill/>
          <a:ln/>
        </p:spPr>
        <p:txBody>
          <a:bodyPr wrap="square" lIns="0" tIns="0" rIns="0" bIns="0" rtlCol="0" anchor="t"/>
          <a:lstStyle/>
          <a:p>
            <a:pPr indent="0" marL="0">
              <a:buNone/>
            </a:pPr>
            <a:r>
              <a:rPr lang="en-US" sz="1200" dirty="0">
                <a:solidFill>
                  <a:schemeClr val="tx1"/>
                </a:solidFill>
              </a:rPr>
              <a:t>Scam checks, safe payment</a:t>
            </a:r>
            <a:endParaRPr lang="en-US" sz="1200" dirty="0"/>
          </a:p>
        </p:txBody>
      </p:sp>
      <p:sp>
        <p:nvSpPr>
          <p:cNvPr id="28" name="journey step 5"/>
          <p:cNvSpPr/>
          <p:nvPr/>
        </p:nvSpPr>
        <p:spPr>
          <a:xfrm>
            <a:off x="7132320" y="1143000"/>
            <a:ext cx="1554480" cy="1554480"/>
          </a:xfrm>
          <a:prstGeom prst="roundRect">
            <a:avLst>
              <a:gd name="adj" fmla="val 5882"/>
            </a:avLst>
          </a:prstGeom>
          <a:solidFill>
            <a:schemeClr val="bg2"/>
          </a:solidFill>
          <a:ln w="12700">
            <a:solidFill>
              <a:schemeClr val="bg2"/>
            </a:solidFill>
            <a:prstDash val="solid"/>
          </a:ln>
        </p:spPr>
      </p:sp>
      <p:sp>
        <p:nvSpPr>
          <p:cNvPr id="29" name="step circle"/>
          <p:cNvSpPr/>
          <p:nvPr/>
        </p:nvSpPr>
        <p:spPr>
          <a:xfrm>
            <a:off x="7242048" y="1252728"/>
            <a:ext cx="384048" cy="384048"/>
          </a:xfrm>
          <a:prstGeom prst="ellipse">
            <a:avLst/>
          </a:prstGeom>
          <a:solidFill>
            <a:schemeClr val="accent6"/>
          </a:solidFill>
          <a:ln w="12700">
            <a:solidFill>
              <a:srgbClr val="FFFFFF"/>
            </a:solidFill>
            <a:prstDash val="solid"/>
          </a:ln>
        </p:spPr>
      </p:sp>
      <p:sp>
        <p:nvSpPr>
          <p:cNvPr id="30" name="Text 27"/>
          <p:cNvSpPr txBox="1"/>
          <p:nvPr/>
        </p:nvSpPr>
        <p:spPr>
          <a:xfrm>
            <a:off x="7242048" y="12527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31" name="Text 28"/>
          <p:cNvSpPr txBox="1"/>
          <p:nvPr/>
        </p:nvSpPr>
        <p:spPr>
          <a:xfrm>
            <a:off x="7680960" y="1325880"/>
            <a:ext cx="914400" cy="228600"/>
          </a:xfrm>
          <a:prstGeom prst="rect">
            <a:avLst/>
          </a:prstGeom>
          <a:noFill/>
          <a:ln/>
        </p:spPr>
        <p:txBody>
          <a:bodyPr wrap="square" lIns="0" tIns="0" rIns="0" bIns="0" rtlCol="0" anchor="t"/>
          <a:lstStyle/>
          <a:p>
            <a:pPr indent="0" marL="0">
              <a:buNone/>
            </a:pPr>
            <a:r>
              <a:rPr lang="en-US" sz="1100" b="1" dirty="0">
                <a:solidFill>
                  <a:schemeClr val="accent2"/>
                </a:solidFill>
              </a:rPr>
              <a:t>Lesson 5</a:t>
            </a:r>
            <a:endParaRPr lang="en-US" sz="1100" dirty="0"/>
          </a:p>
        </p:txBody>
      </p:sp>
      <p:sp>
        <p:nvSpPr>
          <p:cNvPr id="32" name="Text 29"/>
          <p:cNvSpPr txBox="1"/>
          <p:nvPr/>
        </p:nvSpPr>
        <p:spPr>
          <a:xfrm>
            <a:off x="7242048" y="1764792"/>
            <a:ext cx="1353312" cy="45720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Negotiate and sample</a:t>
            </a:r>
            <a:endParaRPr lang="en-US" sz="1400" dirty="0"/>
          </a:p>
        </p:txBody>
      </p:sp>
      <p:sp>
        <p:nvSpPr>
          <p:cNvPr id="33" name="Text 30"/>
          <p:cNvSpPr txBox="1"/>
          <p:nvPr/>
        </p:nvSpPr>
        <p:spPr>
          <a:xfrm>
            <a:off x="7242048" y="2240280"/>
            <a:ext cx="1353312" cy="411480"/>
          </a:xfrm>
          <a:prstGeom prst="rect">
            <a:avLst/>
          </a:prstGeom>
          <a:noFill/>
          <a:ln/>
        </p:spPr>
        <p:txBody>
          <a:bodyPr wrap="square" lIns="0" tIns="0" rIns="0" bIns="0" rtlCol="0" anchor="t"/>
          <a:lstStyle/>
          <a:p>
            <a:pPr indent="0" marL="0">
              <a:buNone/>
            </a:pPr>
            <a:r>
              <a:rPr lang="en-US" sz="1200" dirty="0">
                <a:solidFill>
                  <a:schemeClr val="tx1"/>
                </a:solidFill>
              </a:rPr>
              <a:t>Price, MOQ, sample first</a:t>
            </a:r>
            <a:endParaRPr lang="en-US" sz="1200" dirty="0"/>
          </a:p>
        </p:txBody>
      </p:sp>
      <p:sp>
        <p:nvSpPr>
          <p:cNvPr id="34" name="journey step 6"/>
          <p:cNvSpPr/>
          <p:nvPr/>
        </p:nvSpPr>
        <p:spPr>
          <a:xfrm>
            <a:off x="457200" y="2834640"/>
            <a:ext cx="1554480" cy="1554480"/>
          </a:xfrm>
          <a:prstGeom prst="roundRect">
            <a:avLst>
              <a:gd name="adj" fmla="val 5882"/>
            </a:avLst>
          </a:prstGeom>
          <a:solidFill>
            <a:schemeClr val="bg2"/>
          </a:solidFill>
          <a:ln w="12700">
            <a:solidFill>
              <a:schemeClr val="bg2"/>
            </a:solidFill>
            <a:prstDash val="solid"/>
          </a:ln>
        </p:spPr>
      </p:sp>
      <p:sp>
        <p:nvSpPr>
          <p:cNvPr id="35" name="step circle"/>
          <p:cNvSpPr/>
          <p:nvPr/>
        </p:nvSpPr>
        <p:spPr>
          <a:xfrm>
            <a:off x="566928" y="2944368"/>
            <a:ext cx="384048" cy="384048"/>
          </a:xfrm>
          <a:prstGeom prst="ellipse">
            <a:avLst/>
          </a:prstGeom>
          <a:solidFill>
            <a:schemeClr val="accent2"/>
          </a:solidFill>
          <a:ln w="12700">
            <a:solidFill>
              <a:srgbClr val="FFFFFF"/>
            </a:solidFill>
            <a:prstDash val="solid"/>
          </a:ln>
        </p:spPr>
      </p:sp>
      <p:sp>
        <p:nvSpPr>
          <p:cNvPr id="36" name="Text 33"/>
          <p:cNvSpPr txBox="1"/>
          <p:nvPr/>
        </p:nvSpPr>
        <p:spPr>
          <a:xfrm>
            <a:off x="566928" y="2944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37" name="Text 34"/>
          <p:cNvSpPr txBox="1"/>
          <p:nvPr/>
        </p:nvSpPr>
        <p:spPr>
          <a:xfrm>
            <a:off x="1005840" y="3017520"/>
            <a:ext cx="914400" cy="228600"/>
          </a:xfrm>
          <a:prstGeom prst="rect">
            <a:avLst/>
          </a:prstGeom>
          <a:noFill/>
          <a:ln/>
        </p:spPr>
        <p:txBody>
          <a:bodyPr wrap="square" lIns="0" tIns="0" rIns="0" bIns="0" rtlCol="0" anchor="t"/>
          <a:lstStyle/>
          <a:p>
            <a:pPr indent="0" marL="0">
              <a:buNone/>
            </a:pPr>
            <a:r>
              <a:rPr lang="en-US" sz="1100" b="1" dirty="0">
                <a:solidFill>
                  <a:schemeClr val="accent2"/>
                </a:solidFill>
              </a:rPr>
              <a:t>Lesson 6</a:t>
            </a:r>
            <a:endParaRPr lang="en-US" sz="1100" dirty="0"/>
          </a:p>
        </p:txBody>
      </p:sp>
      <p:sp>
        <p:nvSpPr>
          <p:cNvPr id="38" name="Text 35"/>
          <p:cNvSpPr txBox="1"/>
          <p:nvPr/>
        </p:nvSpPr>
        <p:spPr>
          <a:xfrm>
            <a:off x="566928" y="3456432"/>
            <a:ext cx="1353312" cy="45720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Ship it</a:t>
            </a:r>
            <a:endParaRPr lang="en-US" sz="1400" dirty="0"/>
          </a:p>
        </p:txBody>
      </p:sp>
      <p:sp>
        <p:nvSpPr>
          <p:cNvPr id="39" name="Text 36"/>
          <p:cNvSpPr txBox="1"/>
          <p:nvPr/>
        </p:nvSpPr>
        <p:spPr>
          <a:xfrm>
            <a:off x="566928" y="3931920"/>
            <a:ext cx="1353312" cy="411480"/>
          </a:xfrm>
          <a:prstGeom prst="rect">
            <a:avLst/>
          </a:prstGeom>
          <a:noFill/>
          <a:ln/>
        </p:spPr>
        <p:txBody>
          <a:bodyPr wrap="square" lIns="0" tIns="0" rIns="0" bIns="0" rtlCol="0" anchor="t"/>
          <a:lstStyle/>
          <a:p>
            <a:pPr indent="0" marL="0">
              <a:buNone/>
            </a:pPr>
            <a:r>
              <a:rPr lang="en-US" sz="1200" dirty="0">
                <a:solidFill>
                  <a:schemeClr val="tx1"/>
                </a:solidFill>
              </a:rPr>
              <a:t>Air or sea, forwarder, insurance</a:t>
            </a:r>
            <a:endParaRPr lang="en-US" sz="1200" dirty="0"/>
          </a:p>
        </p:txBody>
      </p:sp>
      <p:sp>
        <p:nvSpPr>
          <p:cNvPr id="40" name="journey step 7"/>
          <p:cNvSpPr/>
          <p:nvPr/>
        </p:nvSpPr>
        <p:spPr>
          <a:xfrm>
            <a:off x="2125980" y="2834640"/>
            <a:ext cx="1554480" cy="1554480"/>
          </a:xfrm>
          <a:prstGeom prst="roundRect">
            <a:avLst>
              <a:gd name="adj" fmla="val 5882"/>
            </a:avLst>
          </a:prstGeom>
          <a:solidFill>
            <a:schemeClr val="bg2"/>
          </a:solidFill>
          <a:ln w="12700">
            <a:solidFill>
              <a:schemeClr val="bg2"/>
            </a:solidFill>
            <a:prstDash val="solid"/>
          </a:ln>
        </p:spPr>
      </p:sp>
      <p:sp>
        <p:nvSpPr>
          <p:cNvPr id="41" name="step circle"/>
          <p:cNvSpPr/>
          <p:nvPr/>
        </p:nvSpPr>
        <p:spPr>
          <a:xfrm>
            <a:off x="2235708" y="2944368"/>
            <a:ext cx="384048" cy="384048"/>
          </a:xfrm>
          <a:prstGeom prst="ellipse">
            <a:avLst/>
          </a:prstGeom>
          <a:solidFill>
            <a:schemeClr val="accent6"/>
          </a:solidFill>
          <a:ln w="12700">
            <a:solidFill>
              <a:srgbClr val="FFFFFF"/>
            </a:solidFill>
            <a:prstDash val="solid"/>
          </a:ln>
        </p:spPr>
      </p:sp>
      <p:sp>
        <p:nvSpPr>
          <p:cNvPr id="42" name="Text 39"/>
          <p:cNvSpPr txBox="1"/>
          <p:nvPr/>
        </p:nvSpPr>
        <p:spPr>
          <a:xfrm>
            <a:off x="2235708" y="2944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43" name="Text 40"/>
          <p:cNvSpPr txBox="1"/>
          <p:nvPr/>
        </p:nvSpPr>
        <p:spPr>
          <a:xfrm>
            <a:off x="2674620" y="3017520"/>
            <a:ext cx="914400" cy="228600"/>
          </a:xfrm>
          <a:prstGeom prst="rect">
            <a:avLst/>
          </a:prstGeom>
          <a:noFill/>
          <a:ln/>
        </p:spPr>
        <p:txBody>
          <a:bodyPr wrap="square" lIns="0" tIns="0" rIns="0" bIns="0" rtlCol="0" anchor="t"/>
          <a:lstStyle/>
          <a:p>
            <a:pPr indent="0" marL="0">
              <a:buNone/>
            </a:pPr>
            <a:r>
              <a:rPr lang="en-US" sz="1100" b="1" dirty="0">
                <a:solidFill>
                  <a:schemeClr val="accent2"/>
                </a:solidFill>
              </a:rPr>
              <a:t>Lessons 7-8</a:t>
            </a:r>
            <a:endParaRPr lang="en-US" sz="1100" dirty="0"/>
          </a:p>
        </p:txBody>
      </p:sp>
      <p:sp>
        <p:nvSpPr>
          <p:cNvPr id="44" name="Text 41"/>
          <p:cNvSpPr txBox="1"/>
          <p:nvPr/>
        </p:nvSpPr>
        <p:spPr>
          <a:xfrm>
            <a:off x="2235708" y="3456432"/>
            <a:ext cx="1353312" cy="45720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Documents and customs</a:t>
            </a:r>
            <a:endParaRPr lang="en-US" sz="1400" dirty="0"/>
          </a:p>
        </p:txBody>
      </p:sp>
      <p:sp>
        <p:nvSpPr>
          <p:cNvPr id="45" name="Text 42"/>
          <p:cNvSpPr txBox="1"/>
          <p:nvPr/>
        </p:nvSpPr>
        <p:spPr>
          <a:xfrm>
            <a:off x="2235708" y="3931920"/>
            <a:ext cx="1353312" cy="411480"/>
          </a:xfrm>
          <a:prstGeom prst="rect">
            <a:avLst/>
          </a:prstGeom>
          <a:noFill/>
          <a:ln/>
        </p:spPr>
        <p:txBody>
          <a:bodyPr wrap="square" lIns="0" tIns="0" rIns="0" bIns="0" rtlCol="0" anchor="t"/>
          <a:lstStyle/>
          <a:p>
            <a:pPr indent="0" marL="0">
              <a:buNone/>
            </a:pPr>
            <a:r>
              <a:rPr lang="en-US" sz="1200" dirty="0">
                <a:solidFill>
                  <a:schemeClr val="tx1"/>
                </a:solidFill>
              </a:rPr>
              <a:t>Invoice, B/L or AWB, HS code</a:t>
            </a:r>
            <a:endParaRPr lang="en-US" sz="1200" dirty="0"/>
          </a:p>
        </p:txBody>
      </p:sp>
      <p:sp>
        <p:nvSpPr>
          <p:cNvPr id="46" name="journey step 8"/>
          <p:cNvSpPr/>
          <p:nvPr/>
        </p:nvSpPr>
        <p:spPr>
          <a:xfrm>
            <a:off x="3794760" y="2834640"/>
            <a:ext cx="1554480" cy="1554480"/>
          </a:xfrm>
          <a:prstGeom prst="roundRect">
            <a:avLst>
              <a:gd name="adj" fmla="val 5882"/>
            </a:avLst>
          </a:prstGeom>
          <a:solidFill>
            <a:srgbClr val="0B1F3A"/>
          </a:solidFill>
          <a:ln w="12700">
            <a:solidFill>
              <a:srgbClr val="0B1F3A"/>
            </a:solidFill>
            <a:prstDash val="solid"/>
          </a:ln>
        </p:spPr>
      </p:sp>
      <p:sp>
        <p:nvSpPr>
          <p:cNvPr id="47" name="step circle"/>
          <p:cNvSpPr/>
          <p:nvPr/>
        </p:nvSpPr>
        <p:spPr>
          <a:xfrm>
            <a:off x="3904488" y="2944368"/>
            <a:ext cx="384048" cy="384048"/>
          </a:xfrm>
          <a:prstGeom prst="ellipse">
            <a:avLst/>
          </a:prstGeom>
          <a:solidFill>
            <a:schemeClr val="accent1"/>
          </a:solidFill>
          <a:ln w="12700">
            <a:solidFill>
              <a:srgbClr val="FFFFFF"/>
            </a:solidFill>
            <a:prstDash val="solid"/>
          </a:ln>
        </p:spPr>
      </p:sp>
      <p:sp>
        <p:nvSpPr>
          <p:cNvPr id="48" name="Text 45"/>
          <p:cNvSpPr txBox="1"/>
          <p:nvPr/>
        </p:nvSpPr>
        <p:spPr>
          <a:xfrm>
            <a:off x="3904488" y="2944368"/>
            <a:ext cx="384048" cy="384048"/>
          </a:xfrm>
          <a:prstGeom prst="rect">
            <a:avLst/>
          </a:prstGeom>
          <a:noFill/>
          <a:ln/>
        </p:spPr>
        <p:txBody>
          <a:bodyPr wrap="square" lIns="0" tIns="0" rIns="0" bIns="0" rtlCol="0" anchor="ctr"/>
          <a:lstStyle/>
          <a:p>
            <a:pPr algn="ctr" indent="0" marL="0">
              <a:buNone/>
            </a:pPr>
            <a:r>
              <a:rPr lang="en-US" sz="1500" b="1" dirty="0">
                <a:solidFill>
                  <a:srgbClr val="0B1F3A"/>
                </a:solidFill>
              </a:rPr>
              <a:t>8</a:t>
            </a:r>
            <a:endParaRPr lang="en-US" sz="1500" dirty="0"/>
          </a:p>
        </p:txBody>
      </p:sp>
      <p:sp>
        <p:nvSpPr>
          <p:cNvPr id="49" name="Text 46"/>
          <p:cNvSpPr txBox="1"/>
          <p:nvPr/>
        </p:nvSpPr>
        <p:spPr>
          <a:xfrm>
            <a:off x="4343400" y="3017520"/>
            <a:ext cx="914400" cy="228600"/>
          </a:xfrm>
          <a:prstGeom prst="rect">
            <a:avLst/>
          </a:prstGeom>
          <a:noFill/>
          <a:ln/>
        </p:spPr>
        <p:txBody>
          <a:bodyPr wrap="square" lIns="0" tIns="0" rIns="0" bIns="0" rtlCol="0" anchor="t"/>
          <a:lstStyle/>
          <a:p>
            <a:pPr indent="0" marL="0">
              <a:buNone/>
            </a:pPr>
            <a:r>
              <a:rPr lang="en-US" sz="1100" b="1" dirty="0">
                <a:solidFill>
                  <a:schemeClr val="accent1"/>
                </a:solidFill>
              </a:rPr>
              <a:t>Lesson 9</a:t>
            </a:r>
            <a:endParaRPr lang="en-US" sz="1100" dirty="0"/>
          </a:p>
        </p:txBody>
      </p:sp>
      <p:sp>
        <p:nvSpPr>
          <p:cNvPr id="50" name="Text 47"/>
          <p:cNvSpPr txBox="1"/>
          <p:nvPr/>
        </p:nvSpPr>
        <p:spPr>
          <a:xfrm>
            <a:off x="3904488" y="3456432"/>
            <a:ext cx="1353312" cy="45720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Count the real cost</a:t>
            </a:r>
            <a:endParaRPr lang="en-US" sz="1400" dirty="0"/>
          </a:p>
        </p:txBody>
      </p:sp>
      <p:sp>
        <p:nvSpPr>
          <p:cNvPr id="51" name="Text 48"/>
          <p:cNvSpPr txBox="1"/>
          <p:nvPr/>
        </p:nvSpPr>
        <p:spPr>
          <a:xfrm>
            <a:off x="3904488" y="3931920"/>
            <a:ext cx="1353312" cy="411480"/>
          </a:xfrm>
          <a:prstGeom prst="rect">
            <a:avLst/>
          </a:prstGeom>
          <a:noFill/>
          <a:ln/>
        </p:spPr>
        <p:txBody>
          <a:bodyPr wrap="square" lIns="0" tIns="0" rIns="0" bIns="0" rtlCol="0" anchor="t"/>
          <a:lstStyle/>
          <a:p>
            <a:pPr indent="0" marL="0">
              <a:buNone/>
            </a:pPr>
            <a:r>
              <a:rPr lang="en-US" sz="1200" dirty="0">
                <a:solidFill>
                  <a:schemeClr val="accent4"/>
                </a:solidFill>
              </a:rPr>
              <a:t>Landed cost per unit</a:t>
            </a:r>
            <a:endParaRPr lang="en-US" sz="1200" dirty="0"/>
          </a:p>
        </p:txBody>
      </p:sp>
      <p:sp>
        <p:nvSpPr>
          <p:cNvPr id="52" name="journey step 9"/>
          <p:cNvSpPr/>
          <p:nvPr/>
        </p:nvSpPr>
        <p:spPr>
          <a:xfrm>
            <a:off x="5463540" y="2834640"/>
            <a:ext cx="1554480" cy="1554480"/>
          </a:xfrm>
          <a:prstGeom prst="roundRect">
            <a:avLst>
              <a:gd name="adj" fmla="val 5882"/>
            </a:avLst>
          </a:prstGeom>
          <a:solidFill>
            <a:schemeClr val="bg2"/>
          </a:solidFill>
          <a:ln w="12700">
            <a:solidFill>
              <a:schemeClr val="bg2"/>
            </a:solidFill>
            <a:prstDash val="solid"/>
          </a:ln>
        </p:spPr>
      </p:sp>
      <p:sp>
        <p:nvSpPr>
          <p:cNvPr id="53" name="step circle"/>
          <p:cNvSpPr/>
          <p:nvPr/>
        </p:nvSpPr>
        <p:spPr>
          <a:xfrm>
            <a:off x="5573268" y="2944368"/>
            <a:ext cx="384048" cy="384048"/>
          </a:xfrm>
          <a:prstGeom prst="ellipse">
            <a:avLst/>
          </a:prstGeom>
          <a:solidFill>
            <a:schemeClr val="accent6"/>
          </a:solidFill>
          <a:ln w="12700">
            <a:solidFill>
              <a:srgbClr val="FFFFFF"/>
            </a:solidFill>
            <a:prstDash val="solid"/>
          </a:ln>
        </p:spPr>
      </p:sp>
      <p:sp>
        <p:nvSpPr>
          <p:cNvPr id="54" name="Text 51"/>
          <p:cNvSpPr txBox="1"/>
          <p:nvPr/>
        </p:nvSpPr>
        <p:spPr>
          <a:xfrm>
            <a:off x="5573268" y="2944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9</a:t>
            </a:r>
            <a:endParaRPr lang="en-US" sz="1500" dirty="0"/>
          </a:p>
        </p:txBody>
      </p:sp>
      <p:sp>
        <p:nvSpPr>
          <p:cNvPr id="55" name="Text 52"/>
          <p:cNvSpPr txBox="1"/>
          <p:nvPr/>
        </p:nvSpPr>
        <p:spPr>
          <a:xfrm>
            <a:off x="6012180" y="3017520"/>
            <a:ext cx="914400" cy="228600"/>
          </a:xfrm>
          <a:prstGeom prst="rect">
            <a:avLst/>
          </a:prstGeom>
          <a:noFill/>
          <a:ln/>
        </p:spPr>
        <p:txBody>
          <a:bodyPr wrap="square" lIns="0" tIns="0" rIns="0" bIns="0" rtlCol="0" anchor="t"/>
          <a:lstStyle/>
          <a:p>
            <a:pPr indent="0" marL="0">
              <a:buNone/>
            </a:pPr>
            <a:r>
              <a:rPr lang="en-US" sz="1100" b="1" dirty="0">
                <a:solidFill>
                  <a:schemeClr val="accent2"/>
                </a:solidFill>
              </a:rPr>
              <a:t>Lesson 9</a:t>
            </a:r>
            <a:endParaRPr lang="en-US" sz="1100" dirty="0"/>
          </a:p>
        </p:txBody>
      </p:sp>
      <p:sp>
        <p:nvSpPr>
          <p:cNvPr id="56" name="Text 53"/>
          <p:cNvSpPr txBox="1"/>
          <p:nvPr/>
        </p:nvSpPr>
        <p:spPr>
          <a:xfrm>
            <a:off x="5573268" y="3456432"/>
            <a:ext cx="1353312" cy="45720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Price it</a:t>
            </a:r>
            <a:endParaRPr lang="en-US" sz="1400" dirty="0"/>
          </a:p>
        </p:txBody>
      </p:sp>
      <p:sp>
        <p:nvSpPr>
          <p:cNvPr id="57" name="Text 54"/>
          <p:cNvSpPr txBox="1"/>
          <p:nvPr/>
        </p:nvSpPr>
        <p:spPr>
          <a:xfrm>
            <a:off x="5573268" y="3931920"/>
            <a:ext cx="1353312" cy="411480"/>
          </a:xfrm>
          <a:prstGeom prst="rect">
            <a:avLst/>
          </a:prstGeom>
          <a:noFill/>
          <a:ln/>
        </p:spPr>
        <p:txBody>
          <a:bodyPr wrap="square" lIns="0" tIns="0" rIns="0" bIns="0" rtlCol="0" anchor="t"/>
          <a:lstStyle/>
          <a:p>
            <a:pPr indent="0" marL="0">
              <a:buNone/>
            </a:pPr>
            <a:r>
              <a:rPr lang="en-US" sz="1200" dirty="0">
                <a:solidFill>
                  <a:schemeClr val="tx1"/>
                </a:solidFill>
              </a:rPr>
              <a:t>Price for your target margin</a:t>
            </a:r>
            <a:endParaRPr lang="en-US" sz="1200" dirty="0"/>
          </a:p>
        </p:txBody>
      </p:sp>
      <p:sp>
        <p:nvSpPr>
          <p:cNvPr id="58" name="journey step 10"/>
          <p:cNvSpPr/>
          <p:nvPr/>
        </p:nvSpPr>
        <p:spPr>
          <a:xfrm>
            <a:off x="7132320" y="2834640"/>
            <a:ext cx="1554480" cy="1554480"/>
          </a:xfrm>
          <a:prstGeom prst="roundRect">
            <a:avLst>
              <a:gd name="adj" fmla="val 5882"/>
            </a:avLst>
          </a:prstGeom>
          <a:solidFill>
            <a:schemeClr val="bg2"/>
          </a:solidFill>
          <a:ln w="12700">
            <a:solidFill>
              <a:schemeClr val="bg2"/>
            </a:solidFill>
            <a:prstDash val="solid"/>
          </a:ln>
        </p:spPr>
      </p:sp>
      <p:sp>
        <p:nvSpPr>
          <p:cNvPr id="59" name="step circle"/>
          <p:cNvSpPr/>
          <p:nvPr/>
        </p:nvSpPr>
        <p:spPr>
          <a:xfrm>
            <a:off x="7242048" y="2944368"/>
            <a:ext cx="384048" cy="384048"/>
          </a:xfrm>
          <a:prstGeom prst="ellipse">
            <a:avLst/>
          </a:prstGeom>
          <a:solidFill>
            <a:schemeClr val="accent2"/>
          </a:solidFill>
          <a:ln w="12700">
            <a:solidFill>
              <a:srgbClr val="FFFFFF"/>
            </a:solidFill>
            <a:prstDash val="solid"/>
          </a:ln>
        </p:spPr>
      </p:sp>
      <p:sp>
        <p:nvSpPr>
          <p:cNvPr id="60" name="Text 57"/>
          <p:cNvSpPr txBox="1"/>
          <p:nvPr/>
        </p:nvSpPr>
        <p:spPr>
          <a:xfrm>
            <a:off x="7242048" y="2944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10</a:t>
            </a:r>
            <a:endParaRPr lang="en-US" sz="1500" dirty="0"/>
          </a:p>
        </p:txBody>
      </p:sp>
      <p:sp>
        <p:nvSpPr>
          <p:cNvPr id="61" name="Text 58"/>
          <p:cNvSpPr txBox="1"/>
          <p:nvPr/>
        </p:nvSpPr>
        <p:spPr>
          <a:xfrm>
            <a:off x="7680960" y="3017520"/>
            <a:ext cx="914400" cy="228600"/>
          </a:xfrm>
          <a:prstGeom prst="rect">
            <a:avLst/>
          </a:prstGeom>
          <a:noFill/>
          <a:ln/>
        </p:spPr>
        <p:txBody>
          <a:bodyPr wrap="square" lIns="0" tIns="0" rIns="0" bIns="0" rtlCol="0" anchor="t"/>
          <a:lstStyle/>
          <a:p>
            <a:pPr indent="0" marL="0">
              <a:buNone/>
            </a:pPr>
            <a:r>
              <a:rPr lang="en-US" sz="1100" b="1" dirty="0">
                <a:solidFill>
                  <a:schemeClr val="accent2"/>
                </a:solidFill>
              </a:rPr>
              <a:t>Lesson 10</a:t>
            </a:r>
            <a:endParaRPr lang="en-US" sz="1100" dirty="0"/>
          </a:p>
        </p:txBody>
      </p:sp>
      <p:sp>
        <p:nvSpPr>
          <p:cNvPr id="62" name="Text 59"/>
          <p:cNvSpPr txBox="1"/>
          <p:nvPr/>
        </p:nvSpPr>
        <p:spPr>
          <a:xfrm>
            <a:off x="7242048" y="3456432"/>
            <a:ext cx="1353312" cy="45720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Sell and reorder</a:t>
            </a:r>
            <a:endParaRPr lang="en-US" sz="1400" dirty="0"/>
          </a:p>
        </p:txBody>
      </p:sp>
      <p:sp>
        <p:nvSpPr>
          <p:cNvPr id="63" name="Text 60"/>
          <p:cNvSpPr txBox="1"/>
          <p:nvPr/>
        </p:nvSpPr>
        <p:spPr>
          <a:xfrm>
            <a:off x="7242048" y="3931920"/>
            <a:ext cx="1353312" cy="411480"/>
          </a:xfrm>
          <a:prstGeom prst="rect">
            <a:avLst/>
          </a:prstGeom>
          <a:noFill/>
          <a:ln/>
        </p:spPr>
        <p:txBody>
          <a:bodyPr wrap="square" lIns="0" tIns="0" rIns="0" bIns="0" rtlCol="0" anchor="t"/>
          <a:lstStyle/>
          <a:p>
            <a:pPr indent="0" marL="0">
              <a:buNone/>
            </a:pPr>
            <a:r>
              <a:rPr lang="en-US" sz="1200" dirty="0">
                <a:solidFill>
                  <a:schemeClr val="tx1"/>
                </a:solidFill>
              </a:rPr>
              <a:t>Channels, stock, cash flow</a:t>
            </a:r>
            <a:endParaRPr lang="en-US" sz="1200" dirty="0"/>
          </a:p>
        </p:txBody>
      </p:sp>
      <p:sp>
        <p:nvSpPr>
          <p:cNvPr id="64" name="Text 61"/>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300" b="1" dirty="0">
                <a:solidFill>
                  <a:schemeClr val="accent2"/>
                </a:solidFill>
              </a:rPr>
              <a:t>Dark boxes protect your money: do the numbers before you spend, test small before you go big.</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Steps 1 and 2: choose and test the market</a:t>
            </a:r>
            <a:endParaRPr lang="en-US" sz="2800" dirty="0"/>
          </a:p>
        </p:txBody>
      </p:sp>
      <p:sp>
        <p:nvSpPr>
          <p:cNvPr id="4" name="card Demand"/>
          <p:cNvSpPr/>
          <p:nvPr/>
        </p:nvSpPr>
        <p:spPr>
          <a:xfrm>
            <a:off x="457200" y="1188720"/>
            <a:ext cx="2651760" cy="1508760"/>
          </a:xfrm>
          <a:prstGeom prst="roundRect">
            <a:avLst>
              <a:gd name="adj" fmla="val 6061"/>
            </a:avLst>
          </a:prstGeom>
          <a:solidFill>
            <a:schemeClr val="bg2"/>
          </a:solidFill>
          <a:ln w="12700">
            <a:solidFill>
              <a:schemeClr val="bg2"/>
            </a:solidFill>
            <a:prstDash val="solid"/>
          </a:ln>
        </p:spPr>
      </p:sp>
      <p:sp>
        <p:nvSpPr>
          <p:cNvPr id="5" name="icon-circle Demand"/>
          <p:cNvSpPr/>
          <p:nvPr/>
        </p:nvSpPr>
        <p:spPr>
          <a:xfrm>
            <a:off x="621792" y="1353312"/>
            <a:ext cx="457200" cy="457200"/>
          </a:xfrm>
          <a:prstGeom prst="ellipse">
            <a:avLst/>
          </a:prstGeom>
          <a:solidFill>
            <a:schemeClr val="accent2"/>
          </a:solidFill>
          <a:ln w="12700">
            <a:solidFill>
              <a:schemeClr val="accent2"/>
            </a:solidFill>
            <a:prstDash val="solid"/>
          </a:ln>
        </p:spPr>
      </p:sp>
      <p:pic>
        <p:nvPicPr>
          <p:cNvPr id="6" name="icon FaChartLine" descr="preencoded.png">    </p:cNvPr>
          <p:cNvPicPr>
            <a:picLocks noChangeAspect="1"/>
          </p:cNvPicPr>
          <p:nvPr/>
        </p:nvPicPr>
        <p:blipFill>
          <a:blip r:embed="rId1"/>
          <a:stretch>
            <a:fillRect/>
          </a:stretch>
        </p:blipFill>
        <p:spPr>
          <a:xfrm>
            <a:off x="740664" y="1472184"/>
            <a:ext cx="219456" cy="219456"/>
          </a:xfrm>
          <a:prstGeom prst="rect">
            <a:avLst/>
          </a:prstGeom>
        </p:spPr>
      </p:pic>
      <p:sp>
        <p:nvSpPr>
          <p:cNvPr id="7" name="Text 3"/>
          <p:cNvSpPr txBox="1"/>
          <p:nvPr/>
        </p:nvSpPr>
        <p:spPr>
          <a:xfrm>
            <a:off x="1207008" y="1335024"/>
            <a:ext cx="17373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Demand</a:t>
            </a:r>
            <a:endParaRPr lang="en-US" sz="1600" dirty="0"/>
          </a:p>
        </p:txBody>
      </p:sp>
      <p:sp>
        <p:nvSpPr>
          <p:cNvPr id="8" name="Text 4"/>
          <p:cNvSpPr txBox="1"/>
          <p:nvPr/>
        </p:nvSpPr>
        <p:spPr>
          <a:xfrm>
            <a:off x="1207008" y="1664208"/>
            <a:ext cx="1737360" cy="905256"/>
          </a:xfrm>
          <a:prstGeom prst="rect">
            <a:avLst/>
          </a:prstGeom>
          <a:noFill/>
          <a:ln/>
        </p:spPr>
        <p:txBody>
          <a:bodyPr wrap="square" lIns="0" tIns="0" rIns="0" bIns="0" rtlCol="0" anchor="t"/>
          <a:lstStyle/>
          <a:p>
            <a:pPr indent="0" marL="0">
              <a:buNone/>
            </a:pPr>
            <a:r>
              <a:rPr lang="en-US" sz="1400" dirty="0">
                <a:solidFill>
                  <a:schemeClr val="tx1"/>
                </a:solidFill>
              </a:rPr>
              <a:t>Are people already buying it again and again?</a:t>
            </a:r>
            <a:endParaRPr lang="en-US" sz="1400" dirty="0"/>
          </a:p>
        </p:txBody>
      </p:sp>
      <p:sp>
        <p:nvSpPr>
          <p:cNvPr id="9" name="card Gap"/>
          <p:cNvSpPr/>
          <p:nvPr/>
        </p:nvSpPr>
        <p:spPr>
          <a:xfrm>
            <a:off x="3291840" y="1188720"/>
            <a:ext cx="2651760" cy="1508760"/>
          </a:xfrm>
          <a:prstGeom prst="roundRect">
            <a:avLst>
              <a:gd name="adj" fmla="val 6061"/>
            </a:avLst>
          </a:prstGeom>
          <a:solidFill>
            <a:schemeClr val="bg2"/>
          </a:solidFill>
          <a:ln w="12700">
            <a:solidFill>
              <a:schemeClr val="bg2"/>
            </a:solidFill>
            <a:prstDash val="solid"/>
          </a:ln>
        </p:spPr>
      </p:sp>
      <p:sp>
        <p:nvSpPr>
          <p:cNvPr id="10" name="icon-circle Gap"/>
          <p:cNvSpPr/>
          <p:nvPr/>
        </p:nvSpPr>
        <p:spPr>
          <a:xfrm>
            <a:off x="3456432" y="1353312"/>
            <a:ext cx="457200" cy="457200"/>
          </a:xfrm>
          <a:prstGeom prst="ellipse">
            <a:avLst/>
          </a:prstGeom>
          <a:solidFill>
            <a:schemeClr val="accent6"/>
          </a:solidFill>
          <a:ln w="12700">
            <a:solidFill>
              <a:schemeClr val="accent6"/>
            </a:solidFill>
            <a:prstDash val="solid"/>
          </a:ln>
        </p:spPr>
      </p:sp>
      <p:pic>
        <p:nvPicPr>
          <p:cNvPr id="11" name="icon FaSearch" descr="preencoded.png">    </p:cNvPr>
          <p:cNvPicPr>
            <a:picLocks noChangeAspect="1"/>
          </p:cNvPicPr>
          <p:nvPr/>
        </p:nvPicPr>
        <p:blipFill>
          <a:blip r:embed="rId2"/>
          <a:stretch>
            <a:fillRect/>
          </a:stretch>
        </p:blipFill>
        <p:spPr>
          <a:xfrm>
            <a:off x="3575304" y="1472184"/>
            <a:ext cx="219456" cy="219456"/>
          </a:xfrm>
          <a:prstGeom prst="rect">
            <a:avLst/>
          </a:prstGeom>
        </p:spPr>
      </p:pic>
      <p:sp>
        <p:nvSpPr>
          <p:cNvPr id="12" name="Text 7"/>
          <p:cNvSpPr txBox="1"/>
          <p:nvPr/>
        </p:nvSpPr>
        <p:spPr>
          <a:xfrm>
            <a:off x="4041648" y="1335024"/>
            <a:ext cx="17373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Gap</a:t>
            </a:r>
            <a:endParaRPr lang="en-US" sz="1600" dirty="0"/>
          </a:p>
        </p:txBody>
      </p:sp>
      <p:sp>
        <p:nvSpPr>
          <p:cNvPr id="13" name="Text 8"/>
          <p:cNvSpPr txBox="1"/>
          <p:nvPr/>
        </p:nvSpPr>
        <p:spPr>
          <a:xfrm>
            <a:off x="4041648" y="1664208"/>
            <a:ext cx="1737360" cy="905256"/>
          </a:xfrm>
          <a:prstGeom prst="rect">
            <a:avLst/>
          </a:prstGeom>
          <a:noFill/>
          <a:ln/>
        </p:spPr>
        <p:txBody>
          <a:bodyPr wrap="square" lIns="0" tIns="0" rIns="0" bIns="0" rtlCol="0" anchor="t"/>
          <a:lstStyle/>
          <a:p>
            <a:pPr indent="0" marL="0">
              <a:buNone/>
            </a:pPr>
            <a:r>
              <a:rPr lang="en-US" sz="1400" dirty="0">
                <a:solidFill>
                  <a:schemeClr val="tx1"/>
                </a:solidFill>
              </a:rPr>
              <a:t>Is it overpriced, hard to find or badly presented locally?</a:t>
            </a:r>
            <a:endParaRPr lang="en-US" sz="1400" dirty="0"/>
          </a:p>
        </p:txBody>
      </p:sp>
      <p:sp>
        <p:nvSpPr>
          <p:cNvPr id="14" name="card Margin"/>
          <p:cNvSpPr/>
          <p:nvPr/>
        </p:nvSpPr>
        <p:spPr>
          <a:xfrm>
            <a:off x="6126480" y="1188720"/>
            <a:ext cx="2651760" cy="1508760"/>
          </a:xfrm>
          <a:prstGeom prst="roundRect">
            <a:avLst>
              <a:gd name="adj" fmla="val 6061"/>
            </a:avLst>
          </a:prstGeom>
          <a:solidFill>
            <a:schemeClr val="bg2"/>
          </a:solidFill>
          <a:ln w="12700">
            <a:solidFill>
              <a:schemeClr val="bg2"/>
            </a:solidFill>
            <a:prstDash val="solid"/>
          </a:ln>
        </p:spPr>
      </p:sp>
      <p:sp>
        <p:nvSpPr>
          <p:cNvPr id="15" name="icon-circle Margin"/>
          <p:cNvSpPr/>
          <p:nvPr/>
        </p:nvSpPr>
        <p:spPr>
          <a:xfrm>
            <a:off x="6291072" y="1353312"/>
            <a:ext cx="457200" cy="457200"/>
          </a:xfrm>
          <a:prstGeom prst="ellipse">
            <a:avLst/>
          </a:prstGeom>
          <a:solidFill>
            <a:schemeClr val="accent3"/>
          </a:solidFill>
          <a:ln w="12700">
            <a:solidFill>
              <a:schemeClr val="accent3"/>
            </a:solidFill>
            <a:prstDash val="solid"/>
          </a:ln>
        </p:spPr>
      </p:sp>
      <p:pic>
        <p:nvPicPr>
          <p:cNvPr id="16" name="icon FaMoneyBillWave" descr="preencoded.png">    </p:cNvPr>
          <p:cNvPicPr>
            <a:picLocks noChangeAspect="1"/>
          </p:cNvPicPr>
          <p:nvPr/>
        </p:nvPicPr>
        <p:blipFill>
          <a:blip r:embed="rId3"/>
          <a:stretch>
            <a:fillRect/>
          </a:stretch>
        </p:blipFill>
        <p:spPr>
          <a:xfrm>
            <a:off x="6409944" y="1472184"/>
            <a:ext cx="219456" cy="219456"/>
          </a:xfrm>
          <a:prstGeom prst="rect">
            <a:avLst/>
          </a:prstGeom>
        </p:spPr>
      </p:pic>
      <p:sp>
        <p:nvSpPr>
          <p:cNvPr id="17" name="Text 11"/>
          <p:cNvSpPr txBox="1"/>
          <p:nvPr/>
        </p:nvSpPr>
        <p:spPr>
          <a:xfrm>
            <a:off x="6876288" y="1335024"/>
            <a:ext cx="17373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Margin</a:t>
            </a:r>
            <a:endParaRPr lang="en-US" sz="1600" dirty="0"/>
          </a:p>
        </p:txBody>
      </p:sp>
      <p:sp>
        <p:nvSpPr>
          <p:cNvPr id="18" name="Text 12"/>
          <p:cNvSpPr txBox="1"/>
          <p:nvPr/>
        </p:nvSpPr>
        <p:spPr>
          <a:xfrm>
            <a:off x="6876288" y="1664208"/>
            <a:ext cx="1737360" cy="905256"/>
          </a:xfrm>
          <a:prstGeom prst="rect">
            <a:avLst/>
          </a:prstGeom>
          <a:noFill/>
          <a:ln/>
        </p:spPr>
        <p:txBody>
          <a:bodyPr wrap="square" lIns="0" tIns="0" rIns="0" bIns="0" rtlCol="0" anchor="t"/>
          <a:lstStyle/>
          <a:p>
            <a:pPr indent="0" marL="0">
              <a:buNone/>
            </a:pPr>
            <a:r>
              <a:rPr lang="en-US" sz="1400" dirty="0">
                <a:solidFill>
                  <a:schemeClr val="tx1"/>
                </a:solidFill>
              </a:rPr>
              <a:t>After every cost, is the profit worth the risk?</a:t>
            </a:r>
            <a:endParaRPr lang="en-US" sz="1400" dirty="0"/>
          </a:p>
        </p:txBody>
      </p:sp>
      <p:sp>
        <p:nvSpPr>
          <p:cNvPr id="19" name="tests panel"/>
          <p:cNvSpPr/>
          <p:nvPr/>
        </p:nvSpPr>
        <p:spPr>
          <a:xfrm>
            <a:off x="457200" y="2880360"/>
            <a:ext cx="8229600" cy="1691640"/>
          </a:xfrm>
          <a:prstGeom prst="roundRect">
            <a:avLst>
              <a:gd name="adj" fmla="val 5405"/>
            </a:avLst>
          </a:prstGeom>
          <a:solidFill>
            <a:srgbClr val="0B1F3A"/>
          </a:solidFill>
          <a:ln w="12700">
            <a:solidFill>
              <a:srgbClr val="0B1F3A"/>
            </a:solidFill>
            <a:prstDash val="solid"/>
          </a:ln>
        </p:spPr>
      </p:sp>
      <p:sp>
        <p:nvSpPr>
          <p:cNvPr id="20" name="Text 14"/>
          <p:cNvSpPr txBox="1"/>
          <p:nvPr/>
        </p:nvSpPr>
        <p:spPr>
          <a:xfrm>
            <a:off x="685800" y="3017520"/>
            <a:ext cx="77724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FOUR QUICK TESTS BEFORE YOU SPEND</a:t>
            </a:r>
            <a:endParaRPr lang="en-US" sz="1200" dirty="0"/>
          </a:p>
        </p:txBody>
      </p:sp>
      <p:sp>
        <p:nvSpPr>
          <p:cNvPr id="21" name="Text 15"/>
          <p:cNvSpPr txBox="1"/>
          <p:nvPr/>
        </p:nvSpPr>
        <p:spPr>
          <a:xfrm>
            <a:off x="685800" y="3383280"/>
            <a:ext cx="7772400" cy="10972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Search it on Jumia, Jiji, Instagram and Google</a:t>
            </a:r>
            <a:endParaRPr lang="en-US" sz="1400" dirty="0"/>
          </a:p>
          <a:p>
            <a:pPr marL="342900" indent="-342900">
              <a:spcAft>
                <a:spcPts val="300"/>
              </a:spcAft>
              <a:buSzPct val="100000"/>
              <a:buChar char="•"/>
            </a:pPr>
            <a:r>
              <a:rPr lang="en-US" sz="1400" dirty="0">
                <a:solidFill>
                  <a:schemeClr val="bg1"/>
                </a:solidFill>
              </a:rPr>
              <a:t>Read competitor reviews: repeated complaints are your gap</a:t>
            </a:r>
            <a:endParaRPr lang="en-US" sz="1400" dirty="0"/>
          </a:p>
          <a:p>
            <a:pPr marL="342900" indent="-342900">
              <a:spcAft>
                <a:spcPts val="300"/>
              </a:spcAft>
              <a:buSzPct val="100000"/>
              <a:buChar char="•"/>
            </a:pPr>
            <a:r>
              <a:rPr lang="en-US" sz="1400" dirty="0">
                <a:solidFill>
                  <a:schemeClr val="bg1"/>
                </a:solidFill>
              </a:rPr>
              <a:t>Ask ten possible customers what they would pay</a:t>
            </a:r>
            <a:endParaRPr lang="en-US" sz="1400" dirty="0"/>
          </a:p>
          <a:p>
            <a:pPr marL="342900" indent="-342900">
              <a:spcAft>
                <a:spcPts val="300"/>
              </a:spcAft>
              <a:buSzPct val="100000"/>
              <a:buChar char="•"/>
            </a:pPr>
            <a:r>
              <a:rPr lang="en-US" sz="1400" dirty="0">
                <a:solidFill>
                  <a:schemeClr val="bg1"/>
                </a:solidFill>
              </a:rPr>
              <a:t>Pre-sell with supplier sample photos and collect deposits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Pick small, light and legal</a:t>
            </a:r>
            <a:endParaRPr lang="en-US" sz="2800" dirty="0"/>
          </a:p>
        </p:txBody>
      </p:sp>
      <p:sp>
        <p:nvSpPr>
          <p:cNvPr id="4" name="good panel"/>
          <p:cNvSpPr/>
          <p:nvPr/>
        </p:nvSpPr>
        <p:spPr>
          <a:xfrm>
            <a:off x="457200" y="1188720"/>
            <a:ext cx="4023360" cy="2743200"/>
          </a:xfrm>
          <a:prstGeom prst="roundRect">
            <a:avLst>
              <a:gd name="adj" fmla="val 3333"/>
            </a:avLst>
          </a:prstGeom>
          <a:solidFill>
            <a:schemeClr val="bg2"/>
          </a:solidFill>
          <a:ln w="12700">
            <a:solidFill>
              <a:schemeClr val="bg2"/>
            </a:solidFill>
            <a:prstDash val="solid"/>
          </a:ln>
        </p:spPr>
      </p:sp>
      <p:sp>
        <p:nvSpPr>
          <p:cNvPr id="5" name="icon-circle good"/>
          <p:cNvSpPr/>
          <p:nvPr/>
        </p:nvSpPr>
        <p:spPr>
          <a:xfrm>
            <a:off x="640080" y="1325880"/>
            <a:ext cx="457200" cy="457200"/>
          </a:xfrm>
          <a:prstGeom prst="ellipse">
            <a:avLst/>
          </a:prstGeom>
          <a:solidFill>
            <a:schemeClr val="accent5"/>
          </a:solidFill>
          <a:ln w="12700">
            <a:solidFill>
              <a:schemeClr val="accent5"/>
            </a:solidFill>
            <a:prstDash val="solid"/>
          </a:ln>
        </p:spPr>
      </p:sp>
      <p:pic>
        <p:nvPicPr>
          <p:cNvPr id="6" name="icon FaCheckCircle" descr="preencoded.png">    </p:cNvPr>
          <p:cNvPicPr>
            <a:picLocks noChangeAspect="1"/>
          </p:cNvPicPr>
          <p:nvPr/>
        </p:nvPicPr>
        <p:blipFill>
          <a:blip r:embed="rId1"/>
          <a:stretch>
            <a:fillRect/>
          </a:stretch>
        </p:blipFill>
        <p:spPr>
          <a:xfrm>
            <a:off x="758952" y="1444752"/>
            <a:ext cx="219456" cy="219456"/>
          </a:xfrm>
          <a:prstGeom prst="rect">
            <a:avLst/>
          </a:prstGeom>
        </p:spPr>
      </p:pic>
      <p:sp>
        <p:nvSpPr>
          <p:cNvPr id="7" name="Text 3"/>
          <p:cNvSpPr txBox="1"/>
          <p:nvPr/>
        </p:nvSpPr>
        <p:spPr>
          <a:xfrm>
            <a:off x="1234440" y="1371600"/>
            <a:ext cx="31089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 good first product</a:t>
            </a:r>
            <a:endParaRPr lang="en-US" sz="1800" dirty="0"/>
          </a:p>
        </p:txBody>
      </p:sp>
      <p:sp>
        <p:nvSpPr>
          <p:cNvPr id="8" name="Text 4"/>
          <p:cNvSpPr txBox="1"/>
          <p:nvPr/>
        </p:nvSpPr>
        <p:spPr>
          <a:xfrm>
            <a:off x="685800" y="1920240"/>
            <a:ext cx="3611880" cy="19202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Small and light, cheap to ship</a:t>
            </a:r>
            <a:endParaRPr lang="en-US" sz="1500" dirty="0"/>
          </a:p>
          <a:p>
            <a:pPr marL="342900" indent="-342900">
              <a:spcAft>
                <a:spcPts val="400"/>
              </a:spcAft>
              <a:buSzPct val="100000"/>
              <a:buChar char="•"/>
            </a:pPr>
            <a:r>
              <a:rPr lang="en-US" sz="1500" dirty="0">
                <a:solidFill>
                  <a:schemeClr val="tx1"/>
                </a:solidFill>
              </a:rPr>
              <a:t>Durable, survives the journey</a:t>
            </a:r>
            <a:endParaRPr lang="en-US" sz="1500" dirty="0"/>
          </a:p>
          <a:p>
            <a:pPr marL="342900" indent="-342900">
              <a:spcAft>
                <a:spcPts val="400"/>
              </a:spcAft>
              <a:buSzPct val="100000"/>
              <a:buChar char="•"/>
            </a:pPr>
            <a:r>
              <a:rPr lang="en-US" sz="1500" dirty="0">
                <a:solidFill>
                  <a:schemeClr val="tx1"/>
                </a:solidFill>
              </a:rPr>
              <a:t>Already selling near you</a:t>
            </a:r>
            <a:endParaRPr lang="en-US" sz="1500" dirty="0"/>
          </a:p>
          <a:p>
            <a:pPr marL="342900" indent="-342900">
              <a:spcAft>
                <a:spcPts val="400"/>
              </a:spcAft>
              <a:buSzPct val="100000"/>
              <a:buChar char="•"/>
            </a:pPr>
            <a:r>
              <a:rPr lang="en-US" sz="1500" dirty="0">
                <a:solidFill>
                  <a:schemeClr val="tx1"/>
                </a:solidFill>
              </a:rPr>
              <a:t>Not heavily regulated</a:t>
            </a:r>
            <a:endParaRPr lang="en-US" sz="1500" dirty="0"/>
          </a:p>
          <a:p>
            <a:pPr marL="342900" indent="-342900">
              <a:spcAft>
                <a:spcPts val="400"/>
              </a:spcAft>
              <a:buSzPct val="100000"/>
              <a:buChar char="•"/>
            </a:pPr>
            <a:r>
              <a:rPr lang="en-US" sz="1500" dirty="0">
                <a:solidFill>
                  <a:schemeClr val="tx1"/>
                </a:solidFill>
              </a:rPr>
              <a:t>Margin you can prove on paper</a:t>
            </a:r>
            <a:endParaRPr lang="en-US" sz="1500" dirty="0"/>
          </a:p>
        </p:txBody>
      </p:sp>
      <p:sp>
        <p:nvSpPr>
          <p:cNvPr id="9" name="avoid panel"/>
          <p:cNvSpPr/>
          <p:nvPr/>
        </p:nvSpPr>
        <p:spPr>
          <a:xfrm>
            <a:off x="4663440" y="1188720"/>
            <a:ext cx="4023360" cy="2743200"/>
          </a:xfrm>
          <a:prstGeom prst="roundRect">
            <a:avLst>
              <a:gd name="adj" fmla="val 3333"/>
            </a:avLst>
          </a:prstGeom>
          <a:solidFill>
            <a:srgbClr val="FBEAE6"/>
          </a:solidFill>
          <a:ln w="12700">
            <a:solidFill>
              <a:srgbClr val="FBEAE6"/>
            </a:solidFill>
            <a:prstDash val="solid"/>
          </a:ln>
        </p:spPr>
      </p:sp>
      <p:sp>
        <p:nvSpPr>
          <p:cNvPr id="10" name="icon-circle avoid"/>
          <p:cNvSpPr/>
          <p:nvPr/>
        </p:nvSpPr>
        <p:spPr>
          <a:xfrm>
            <a:off x="4846320" y="1325880"/>
            <a:ext cx="457200" cy="457200"/>
          </a:xfrm>
          <a:prstGeom prst="ellipse">
            <a:avLst/>
          </a:prstGeom>
          <a:solidFill>
            <a:schemeClr val="accent3"/>
          </a:solidFill>
          <a:ln w="12700">
            <a:solidFill>
              <a:schemeClr val="accent3"/>
            </a:solidFill>
            <a:prstDash val="solid"/>
          </a:ln>
        </p:spPr>
      </p:sp>
      <p:pic>
        <p:nvPicPr>
          <p:cNvPr id="11" name="icon FaExclamationTriangle" descr="preencoded.png">    </p:cNvPr>
          <p:cNvPicPr>
            <a:picLocks noChangeAspect="1"/>
          </p:cNvPicPr>
          <p:nvPr/>
        </p:nvPicPr>
        <p:blipFill>
          <a:blip r:embed="rId2"/>
          <a:stretch>
            <a:fillRect/>
          </a:stretch>
        </p:blipFill>
        <p:spPr>
          <a:xfrm>
            <a:off x="4965192" y="1444752"/>
            <a:ext cx="219456" cy="219456"/>
          </a:xfrm>
          <a:prstGeom prst="rect">
            <a:avLst/>
          </a:prstGeom>
        </p:spPr>
      </p:pic>
      <p:sp>
        <p:nvSpPr>
          <p:cNvPr id="12" name="Text 7"/>
          <p:cNvSpPr txBox="1"/>
          <p:nvPr/>
        </p:nvSpPr>
        <p:spPr>
          <a:xfrm>
            <a:off x="5440680" y="1371600"/>
            <a:ext cx="31089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Check before you buy</a:t>
            </a:r>
            <a:endParaRPr lang="en-US" sz="1800" dirty="0"/>
          </a:p>
        </p:txBody>
      </p:sp>
      <p:sp>
        <p:nvSpPr>
          <p:cNvPr id="13" name="Text 8"/>
          <p:cNvSpPr txBox="1"/>
          <p:nvPr/>
        </p:nvSpPr>
        <p:spPr>
          <a:xfrm>
            <a:off x="4892040" y="1920240"/>
            <a:ext cx="3611880" cy="19202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Banned or restricted goods</a:t>
            </a:r>
            <a:endParaRPr lang="en-US" sz="1500" dirty="0"/>
          </a:p>
          <a:p>
            <a:pPr marL="342900" indent="-342900">
              <a:spcAft>
                <a:spcPts val="400"/>
              </a:spcAft>
              <a:buSzPct val="100000"/>
              <a:buChar char="•"/>
            </a:pPr>
            <a:r>
              <a:rPr lang="en-US" sz="1500" dirty="0">
                <a:solidFill>
                  <a:schemeClr val="tx1"/>
                </a:solidFill>
              </a:rPr>
              <a:t>Food, drugs, cosmetics: NAFDAC</a:t>
            </a:r>
            <a:endParaRPr lang="en-US" sz="1500" dirty="0"/>
          </a:p>
          <a:p>
            <a:pPr marL="342900" indent="-342900">
              <a:spcAft>
                <a:spcPts val="400"/>
              </a:spcAft>
              <a:buSzPct val="100000"/>
              <a:buChar char="•"/>
            </a:pPr>
            <a:r>
              <a:rPr lang="en-US" sz="1500" dirty="0">
                <a:solidFill>
                  <a:schemeClr val="tx1"/>
                </a:solidFill>
              </a:rPr>
              <a:t>Electrical goods: SON standards</a:t>
            </a:r>
            <a:endParaRPr lang="en-US" sz="1500" dirty="0"/>
          </a:p>
          <a:p>
            <a:pPr marL="342900" indent="-342900">
              <a:spcAft>
                <a:spcPts val="400"/>
              </a:spcAft>
              <a:buSzPct val="100000"/>
              <a:buChar char="•"/>
            </a:pPr>
            <a:r>
              <a:rPr lang="en-US" sz="1500" dirty="0">
                <a:solidFill>
                  <a:schemeClr val="tx1"/>
                </a:solidFill>
              </a:rPr>
              <a:t>Fake brands (replicas): seizure</a:t>
            </a:r>
            <a:endParaRPr lang="en-US" sz="1500" dirty="0"/>
          </a:p>
          <a:p>
            <a:pPr marL="342900" indent="-342900">
              <a:spcAft>
                <a:spcPts val="400"/>
              </a:spcAft>
              <a:buSzPct val="100000"/>
              <a:buChar char="•"/>
            </a:pPr>
            <a:r>
              <a:rPr lang="en-US" sz="1500" dirty="0">
                <a:solidFill>
                  <a:schemeClr val="tx1"/>
                </a:solidFill>
              </a:rPr>
              <a:t>Batteries, liquids: shipping limits</a:t>
            </a:r>
            <a:endParaRPr lang="en-US" sz="1500" dirty="0"/>
          </a:p>
        </p:txBody>
      </p:sp>
      <p:sp>
        <p:nvSpPr>
          <p:cNvPr id="14" name="battery tip"/>
          <p:cNvSpPr/>
          <p:nvPr/>
        </p:nvSpPr>
        <p:spPr>
          <a:xfrm>
            <a:off x="457200" y="4114800"/>
            <a:ext cx="8229600" cy="457200"/>
          </a:xfrm>
          <a:prstGeom prst="roundRect">
            <a:avLst>
              <a:gd name="adj" fmla="val 16000"/>
            </a:avLst>
          </a:prstGeom>
          <a:solidFill>
            <a:srgbClr val="0B1F3A"/>
          </a:solidFill>
          <a:ln w="12700">
            <a:solidFill>
              <a:srgbClr val="0B1F3A"/>
            </a:solidFill>
            <a:prstDash val="solid"/>
          </a:ln>
        </p:spPr>
      </p:sp>
      <p:sp>
        <p:nvSpPr>
          <p:cNvPr id="15" name="Text 10"/>
          <p:cNvSpPr txBox="1"/>
          <p:nvPr/>
        </p:nvSpPr>
        <p:spPr>
          <a:xfrm>
            <a:off x="640080" y="4206240"/>
            <a:ext cx="7863840" cy="274320"/>
          </a:xfrm>
          <a:prstGeom prst="rect">
            <a:avLst/>
          </a:prstGeom>
          <a:noFill/>
          <a:ln/>
        </p:spPr>
        <p:txBody>
          <a:bodyPr wrap="square" lIns="0" tIns="0" rIns="0" bIns="0" rtlCol="0" anchor="t"/>
          <a:lstStyle/>
          <a:p>
            <a:pPr indent="0" marL="0">
              <a:buNone/>
            </a:pPr>
            <a:r>
              <a:rPr lang="en-US" sz="1400" b="1" dirty="0">
                <a:solidFill>
                  <a:schemeClr val="accent1"/>
                </a:solidFill>
              </a:rPr>
              <a:t>Tunde's power banks: </a:t>
            </a:r>
            <a:pPr indent="0" marL="0">
              <a:buNone/>
            </a:pPr>
            <a:r>
              <a:rPr lang="en-US" sz="1400" dirty="0">
                <a:solidFill>
                  <a:schemeClr val="bg1"/>
                </a:solidFill>
              </a:rPr>
              <a:t>lithium batteries have airline limits. Ask the forwarder first.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Step 3: where to find suppliers</a:t>
            </a:r>
            <a:endParaRPr lang="en-US" sz="2800" dirty="0"/>
          </a:p>
        </p:txBody>
      </p:sp>
      <p:pic>
        <p:nvPicPr>
          <p:cNvPr id="4" name="Yiwu International Trade Market, China" descr="Yiwu International Trade Market, China">    </p:cNvPr>
          <p:cNvPicPr>
            <a:picLocks noChangeAspect="1"/>
          </p:cNvPicPr>
          <p:nvPr/>
        </p:nvPicPr>
        <p:blipFill>
          <a:blip r:embed="rId1"/>
          <a:stretch>
            <a:fillRect/>
          </a:stretch>
        </p:blipFill>
        <p:spPr>
          <a:xfrm>
            <a:off x="5577840" y="1188720"/>
            <a:ext cx="3108960" cy="3017520"/>
          </a:xfrm>
          <a:prstGeom prst="rect">
            <a:avLst/>
          </a:prstGeom>
        </p:spPr>
      </p:pic>
      <p:sp>
        <p:nvSpPr>
          <p:cNvPr id="5" name="Text 1"/>
          <p:cNvSpPr txBox="1"/>
          <p:nvPr/>
        </p:nvSpPr>
        <p:spPr>
          <a:xfrm>
            <a:off x="5577840" y="4251960"/>
            <a:ext cx="3108960" cy="201168"/>
          </a:xfrm>
          <a:prstGeom prst="rect">
            <a:avLst/>
          </a:prstGeom>
          <a:noFill/>
          <a:ln/>
        </p:spPr>
        <p:txBody>
          <a:bodyPr wrap="square" lIns="0" tIns="0" rIns="0" bIns="0" rtlCol="0" anchor="t"/>
          <a:lstStyle/>
          <a:p>
            <a:pPr indent="0" marL="0">
              <a:buNone/>
            </a:pPr>
            <a:r>
              <a:rPr lang="en-US" sz="1000" i="1" dirty="0">
                <a:solidFill>
                  <a:schemeClr val="accent4"/>
                </a:solidFill>
              </a:rPr>
              <a:t>Yiwu market. Whisper of the heart, CC BY-SA 4.0</a:t>
            </a:r>
            <a:endParaRPr lang="en-US" sz="1000" dirty="0"/>
          </a:p>
        </p:txBody>
      </p:sp>
      <p:sp>
        <p:nvSpPr>
          <p:cNvPr id="6" name="row 0"/>
          <p:cNvSpPr/>
          <p:nvPr/>
        </p:nvSpPr>
        <p:spPr>
          <a:xfrm>
            <a:off x="457200" y="1188720"/>
            <a:ext cx="4846320" cy="457200"/>
          </a:xfrm>
          <a:prstGeom prst="roundRect">
            <a:avLst>
              <a:gd name="adj" fmla="val 12000"/>
            </a:avLst>
          </a:prstGeom>
          <a:solidFill>
            <a:schemeClr val="bg2"/>
          </a:solidFill>
          <a:ln w="12700">
            <a:solidFill>
              <a:schemeClr val="bg2"/>
            </a:solidFill>
            <a:prstDash val="solid"/>
          </a:ln>
        </p:spPr>
      </p:sp>
      <p:sp>
        <p:nvSpPr>
          <p:cNvPr id="7" name="Text 3"/>
          <p:cNvSpPr txBox="1"/>
          <p:nvPr/>
        </p:nvSpPr>
        <p:spPr>
          <a:xfrm>
            <a:off x="594360" y="1298448"/>
            <a:ext cx="2377440" cy="274320"/>
          </a:xfrm>
          <a:prstGeom prst="rect">
            <a:avLst/>
          </a:prstGeom>
          <a:noFill/>
          <a:ln/>
        </p:spPr>
        <p:txBody>
          <a:bodyPr wrap="square" lIns="0" tIns="0" rIns="0" bIns="0" rtlCol="0" anchor="ctr"/>
          <a:lstStyle/>
          <a:p>
            <a:pPr indent="0" marL="0">
              <a:buNone/>
            </a:pPr>
            <a:r>
              <a:rPr lang="en-US" sz="1400" b="1" dirty="0">
                <a:solidFill>
                  <a:schemeClr val="tx1"/>
                </a:solidFill>
              </a:rPr>
              <a:t>Alibaba.com</a:t>
            </a:r>
            <a:endParaRPr lang="en-US" sz="1400" dirty="0"/>
          </a:p>
        </p:txBody>
      </p:sp>
      <p:sp>
        <p:nvSpPr>
          <p:cNvPr id="8" name="Text 4"/>
          <p:cNvSpPr txBox="1"/>
          <p:nvPr/>
        </p:nvSpPr>
        <p:spPr>
          <a:xfrm>
            <a:off x="2926080" y="1298448"/>
            <a:ext cx="2331720" cy="274320"/>
          </a:xfrm>
          <a:prstGeom prst="rect">
            <a:avLst/>
          </a:prstGeom>
          <a:noFill/>
          <a:ln/>
        </p:spPr>
        <p:txBody>
          <a:bodyPr wrap="square" lIns="0" tIns="0" rIns="0" bIns="0" rtlCol="0" anchor="ctr"/>
          <a:lstStyle/>
          <a:p>
            <a:pPr indent="0" marL="0">
              <a:buNone/>
            </a:pPr>
            <a:r>
              <a:rPr lang="en-US" sz="1200" dirty="0">
                <a:solidFill>
                  <a:schemeClr val="accent2"/>
                </a:solidFill>
              </a:rPr>
              <a:t>Wholesale and customising</a:t>
            </a:r>
            <a:endParaRPr lang="en-US" sz="1200" dirty="0"/>
          </a:p>
        </p:txBody>
      </p:sp>
      <p:sp>
        <p:nvSpPr>
          <p:cNvPr id="9" name="row 1"/>
          <p:cNvSpPr/>
          <p:nvPr/>
        </p:nvSpPr>
        <p:spPr>
          <a:xfrm>
            <a:off x="457200" y="1737360"/>
            <a:ext cx="4846320" cy="457200"/>
          </a:xfrm>
          <a:prstGeom prst="roundRect">
            <a:avLst>
              <a:gd name="adj" fmla="val 12000"/>
            </a:avLst>
          </a:prstGeom>
          <a:solidFill>
            <a:srgbClr val="FFFFFF"/>
          </a:solidFill>
          <a:ln w="12700">
            <a:solidFill>
              <a:srgbClr val="FFFFFF"/>
            </a:solidFill>
            <a:prstDash val="solid"/>
          </a:ln>
        </p:spPr>
      </p:sp>
      <p:sp>
        <p:nvSpPr>
          <p:cNvPr id="10" name="Text 6"/>
          <p:cNvSpPr txBox="1"/>
          <p:nvPr/>
        </p:nvSpPr>
        <p:spPr>
          <a:xfrm>
            <a:off x="594360" y="1847088"/>
            <a:ext cx="2377440" cy="274320"/>
          </a:xfrm>
          <a:prstGeom prst="rect">
            <a:avLst/>
          </a:prstGeom>
          <a:noFill/>
          <a:ln/>
        </p:spPr>
        <p:txBody>
          <a:bodyPr wrap="square" lIns="0" tIns="0" rIns="0" bIns="0" rtlCol="0" anchor="ctr"/>
          <a:lstStyle/>
          <a:p>
            <a:pPr indent="0" marL="0">
              <a:buNone/>
            </a:pPr>
            <a:r>
              <a:rPr lang="en-US" sz="1400" b="1" dirty="0">
                <a:solidFill>
                  <a:schemeClr val="tx1"/>
                </a:solidFill>
              </a:rPr>
              <a:t>1688.com</a:t>
            </a:r>
            <a:endParaRPr lang="en-US" sz="1400" dirty="0"/>
          </a:p>
        </p:txBody>
      </p:sp>
      <p:sp>
        <p:nvSpPr>
          <p:cNvPr id="11" name="Text 7"/>
          <p:cNvSpPr txBox="1"/>
          <p:nvPr/>
        </p:nvSpPr>
        <p:spPr>
          <a:xfrm>
            <a:off x="2926080" y="1847088"/>
            <a:ext cx="2331720" cy="274320"/>
          </a:xfrm>
          <a:prstGeom prst="rect">
            <a:avLst/>
          </a:prstGeom>
          <a:noFill/>
          <a:ln/>
        </p:spPr>
        <p:txBody>
          <a:bodyPr wrap="square" lIns="0" tIns="0" rIns="0" bIns="0" rtlCol="0" anchor="ctr"/>
          <a:lstStyle/>
          <a:p>
            <a:pPr indent="0" marL="0">
              <a:buNone/>
            </a:pPr>
            <a:r>
              <a:rPr lang="en-US" sz="1200" dirty="0">
                <a:solidFill>
                  <a:schemeClr val="accent2"/>
                </a:solidFill>
              </a:rPr>
              <a:t>Lowest prices, needs an agent</a:t>
            </a:r>
            <a:endParaRPr lang="en-US" sz="1200" dirty="0"/>
          </a:p>
        </p:txBody>
      </p:sp>
      <p:sp>
        <p:nvSpPr>
          <p:cNvPr id="12" name="row 2"/>
          <p:cNvSpPr/>
          <p:nvPr/>
        </p:nvSpPr>
        <p:spPr>
          <a:xfrm>
            <a:off x="457200" y="2286000"/>
            <a:ext cx="4846320" cy="457200"/>
          </a:xfrm>
          <a:prstGeom prst="roundRect">
            <a:avLst>
              <a:gd name="adj" fmla="val 12000"/>
            </a:avLst>
          </a:prstGeom>
          <a:solidFill>
            <a:schemeClr val="bg2"/>
          </a:solidFill>
          <a:ln w="12700">
            <a:solidFill>
              <a:schemeClr val="bg2"/>
            </a:solidFill>
            <a:prstDash val="solid"/>
          </a:ln>
        </p:spPr>
      </p:sp>
      <p:sp>
        <p:nvSpPr>
          <p:cNvPr id="13" name="Text 9"/>
          <p:cNvSpPr txBox="1"/>
          <p:nvPr/>
        </p:nvSpPr>
        <p:spPr>
          <a:xfrm>
            <a:off x="594360" y="2395728"/>
            <a:ext cx="2377440" cy="274320"/>
          </a:xfrm>
          <a:prstGeom prst="rect">
            <a:avLst/>
          </a:prstGeom>
          <a:noFill/>
          <a:ln/>
        </p:spPr>
        <p:txBody>
          <a:bodyPr wrap="square" lIns="0" tIns="0" rIns="0" bIns="0" rtlCol="0" anchor="ctr"/>
          <a:lstStyle/>
          <a:p>
            <a:pPr indent="0" marL="0">
              <a:buNone/>
            </a:pPr>
            <a:r>
              <a:rPr lang="en-US" sz="1400" b="1" dirty="0">
                <a:solidFill>
                  <a:schemeClr val="tx1"/>
                </a:solidFill>
              </a:rPr>
              <a:t>AliExpress</a:t>
            </a:r>
            <a:endParaRPr lang="en-US" sz="1400" dirty="0"/>
          </a:p>
        </p:txBody>
      </p:sp>
      <p:sp>
        <p:nvSpPr>
          <p:cNvPr id="14" name="Text 10"/>
          <p:cNvSpPr txBox="1"/>
          <p:nvPr/>
        </p:nvSpPr>
        <p:spPr>
          <a:xfrm>
            <a:off x="2926080" y="2395728"/>
            <a:ext cx="2331720" cy="274320"/>
          </a:xfrm>
          <a:prstGeom prst="rect">
            <a:avLst/>
          </a:prstGeom>
          <a:noFill/>
          <a:ln/>
        </p:spPr>
        <p:txBody>
          <a:bodyPr wrap="square" lIns="0" tIns="0" rIns="0" bIns="0" rtlCol="0" anchor="ctr"/>
          <a:lstStyle/>
          <a:p>
            <a:pPr indent="0" marL="0">
              <a:buNone/>
            </a:pPr>
            <a:r>
              <a:rPr lang="en-US" sz="1200" dirty="0">
                <a:solidFill>
                  <a:schemeClr val="accent2"/>
                </a:solidFill>
              </a:rPr>
              <a:t>Very small test orders</a:t>
            </a:r>
            <a:endParaRPr lang="en-US" sz="1200" dirty="0"/>
          </a:p>
        </p:txBody>
      </p:sp>
      <p:sp>
        <p:nvSpPr>
          <p:cNvPr id="15" name="row 3"/>
          <p:cNvSpPr/>
          <p:nvPr/>
        </p:nvSpPr>
        <p:spPr>
          <a:xfrm>
            <a:off x="457200" y="2834640"/>
            <a:ext cx="4846320" cy="457200"/>
          </a:xfrm>
          <a:prstGeom prst="roundRect">
            <a:avLst>
              <a:gd name="adj" fmla="val 12000"/>
            </a:avLst>
          </a:prstGeom>
          <a:solidFill>
            <a:srgbClr val="FFFFFF"/>
          </a:solidFill>
          <a:ln w="12700">
            <a:solidFill>
              <a:srgbClr val="FFFFFF"/>
            </a:solidFill>
            <a:prstDash val="solid"/>
          </a:ln>
        </p:spPr>
      </p:sp>
      <p:sp>
        <p:nvSpPr>
          <p:cNvPr id="16" name="Text 12"/>
          <p:cNvSpPr txBox="1"/>
          <p:nvPr/>
        </p:nvSpPr>
        <p:spPr>
          <a:xfrm>
            <a:off x="594360" y="2944368"/>
            <a:ext cx="2377440" cy="274320"/>
          </a:xfrm>
          <a:prstGeom prst="rect">
            <a:avLst/>
          </a:prstGeom>
          <a:noFill/>
          <a:ln/>
        </p:spPr>
        <p:txBody>
          <a:bodyPr wrap="square" lIns="0" tIns="0" rIns="0" bIns="0" rtlCol="0" anchor="ctr"/>
          <a:lstStyle/>
          <a:p>
            <a:pPr indent="0" marL="0">
              <a:buNone/>
            </a:pPr>
            <a:r>
              <a:rPr lang="en-US" sz="1400" b="1" dirty="0">
                <a:solidFill>
                  <a:schemeClr val="tx1"/>
                </a:solidFill>
              </a:rPr>
              <a:t>Other B2B sites</a:t>
            </a:r>
            <a:endParaRPr lang="en-US" sz="1400" dirty="0"/>
          </a:p>
        </p:txBody>
      </p:sp>
      <p:sp>
        <p:nvSpPr>
          <p:cNvPr id="17" name="Text 13"/>
          <p:cNvSpPr txBox="1"/>
          <p:nvPr/>
        </p:nvSpPr>
        <p:spPr>
          <a:xfrm>
            <a:off x="2926080" y="2944368"/>
            <a:ext cx="2331720" cy="274320"/>
          </a:xfrm>
          <a:prstGeom prst="rect">
            <a:avLst/>
          </a:prstGeom>
          <a:noFill/>
          <a:ln/>
        </p:spPr>
        <p:txBody>
          <a:bodyPr wrap="square" lIns="0" tIns="0" rIns="0" bIns="0" rtlCol="0" anchor="ctr"/>
          <a:lstStyle/>
          <a:p>
            <a:pPr indent="0" marL="0">
              <a:buNone/>
            </a:pPr>
            <a:r>
              <a:rPr lang="en-US" sz="1200" dirty="0">
                <a:solidFill>
                  <a:schemeClr val="accent2"/>
                </a:solidFill>
              </a:rPr>
              <a:t>Made-in-China, Global Sources</a:t>
            </a:r>
            <a:endParaRPr lang="en-US" sz="1200" dirty="0"/>
          </a:p>
        </p:txBody>
      </p:sp>
      <p:sp>
        <p:nvSpPr>
          <p:cNvPr id="18" name="row 4"/>
          <p:cNvSpPr/>
          <p:nvPr/>
        </p:nvSpPr>
        <p:spPr>
          <a:xfrm>
            <a:off x="457200" y="3383280"/>
            <a:ext cx="4846320" cy="457200"/>
          </a:xfrm>
          <a:prstGeom prst="roundRect">
            <a:avLst>
              <a:gd name="adj" fmla="val 12000"/>
            </a:avLst>
          </a:prstGeom>
          <a:solidFill>
            <a:schemeClr val="bg2"/>
          </a:solidFill>
          <a:ln w="12700">
            <a:solidFill>
              <a:schemeClr val="bg2"/>
            </a:solidFill>
            <a:prstDash val="solid"/>
          </a:ln>
        </p:spPr>
      </p:sp>
      <p:sp>
        <p:nvSpPr>
          <p:cNvPr id="19" name="Text 15"/>
          <p:cNvSpPr txBox="1"/>
          <p:nvPr/>
        </p:nvSpPr>
        <p:spPr>
          <a:xfrm>
            <a:off x="594360" y="3493008"/>
            <a:ext cx="2377440" cy="274320"/>
          </a:xfrm>
          <a:prstGeom prst="rect">
            <a:avLst/>
          </a:prstGeom>
          <a:noFill/>
          <a:ln/>
        </p:spPr>
        <p:txBody>
          <a:bodyPr wrap="square" lIns="0" tIns="0" rIns="0" bIns="0" rtlCol="0" anchor="ctr"/>
          <a:lstStyle/>
          <a:p>
            <a:pPr indent="0" marL="0">
              <a:buNone/>
            </a:pPr>
            <a:r>
              <a:rPr lang="en-US" sz="1400" b="1" dirty="0">
                <a:solidFill>
                  <a:schemeClr val="tx1"/>
                </a:solidFill>
              </a:rPr>
              <a:t>Markets and trade fairs</a:t>
            </a:r>
            <a:endParaRPr lang="en-US" sz="1400" dirty="0"/>
          </a:p>
        </p:txBody>
      </p:sp>
      <p:sp>
        <p:nvSpPr>
          <p:cNvPr id="20" name="Text 16"/>
          <p:cNvSpPr txBox="1"/>
          <p:nvPr/>
        </p:nvSpPr>
        <p:spPr>
          <a:xfrm>
            <a:off x="2926080" y="3493008"/>
            <a:ext cx="2331720" cy="274320"/>
          </a:xfrm>
          <a:prstGeom prst="rect">
            <a:avLst/>
          </a:prstGeom>
          <a:noFill/>
          <a:ln/>
        </p:spPr>
        <p:txBody>
          <a:bodyPr wrap="square" lIns="0" tIns="0" rIns="0" bIns="0" rtlCol="0" anchor="ctr"/>
          <a:lstStyle/>
          <a:p>
            <a:pPr indent="0" marL="0">
              <a:buNone/>
            </a:pPr>
            <a:r>
              <a:rPr lang="en-US" sz="1200" dirty="0">
                <a:solidFill>
                  <a:schemeClr val="accent2"/>
                </a:solidFill>
              </a:rPr>
              <a:t>See and touch the goods</a:t>
            </a:r>
            <a:endParaRPr lang="en-US" sz="1200" dirty="0"/>
          </a:p>
        </p:txBody>
      </p:sp>
      <p:sp>
        <p:nvSpPr>
          <p:cNvPr id="21" name="row 5"/>
          <p:cNvSpPr/>
          <p:nvPr/>
        </p:nvSpPr>
        <p:spPr>
          <a:xfrm>
            <a:off x="457200" y="3931920"/>
            <a:ext cx="4846320" cy="457200"/>
          </a:xfrm>
          <a:prstGeom prst="roundRect">
            <a:avLst>
              <a:gd name="adj" fmla="val 12000"/>
            </a:avLst>
          </a:prstGeom>
          <a:solidFill>
            <a:srgbClr val="FFFFFF"/>
          </a:solidFill>
          <a:ln w="12700">
            <a:solidFill>
              <a:srgbClr val="FFFFFF"/>
            </a:solidFill>
            <a:prstDash val="solid"/>
          </a:ln>
        </p:spPr>
      </p:sp>
      <p:sp>
        <p:nvSpPr>
          <p:cNvPr id="22" name="Text 18"/>
          <p:cNvSpPr txBox="1"/>
          <p:nvPr/>
        </p:nvSpPr>
        <p:spPr>
          <a:xfrm>
            <a:off x="594360" y="4041648"/>
            <a:ext cx="2377440" cy="274320"/>
          </a:xfrm>
          <a:prstGeom prst="rect">
            <a:avLst/>
          </a:prstGeom>
          <a:noFill/>
          <a:ln/>
        </p:spPr>
        <p:txBody>
          <a:bodyPr wrap="square" lIns="0" tIns="0" rIns="0" bIns="0" rtlCol="0" anchor="ctr"/>
          <a:lstStyle/>
          <a:p>
            <a:pPr indent="0" marL="0">
              <a:buNone/>
            </a:pPr>
            <a:r>
              <a:rPr lang="en-US" sz="1400" b="1" dirty="0">
                <a:solidFill>
                  <a:schemeClr val="tx1"/>
                </a:solidFill>
              </a:rPr>
              <a:t>Sourcing agents</a:t>
            </a:r>
            <a:endParaRPr lang="en-US" sz="1400" dirty="0"/>
          </a:p>
        </p:txBody>
      </p:sp>
      <p:sp>
        <p:nvSpPr>
          <p:cNvPr id="23" name="Text 19"/>
          <p:cNvSpPr txBox="1"/>
          <p:nvPr/>
        </p:nvSpPr>
        <p:spPr>
          <a:xfrm>
            <a:off x="2926080" y="4041648"/>
            <a:ext cx="2331720" cy="274320"/>
          </a:xfrm>
          <a:prstGeom prst="rect">
            <a:avLst/>
          </a:prstGeom>
          <a:noFill/>
          <a:ln/>
        </p:spPr>
        <p:txBody>
          <a:bodyPr wrap="square" lIns="0" tIns="0" rIns="0" bIns="0" rtlCol="0" anchor="ctr"/>
          <a:lstStyle/>
          <a:p>
            <a:pPr indent="0" marL="0">
              <a:buNone/>
            </a:pPr>
            <a:r>
              <a:rPr lang="en-US" sz="1200" dirty="0">
                <a:solidFill>
                  <a:schemeClr val="accent2"/>
                </a:solidFill>
              </a:rPr>
              <a:t>Help for beginners, for a fee</a:t>
            </a:r>
            <a:endParaRPr lang="en-US" sz="1200" dirty="0"/>
          </a:p>
        </p:txBody>
      </p:sp>
      <p:sp>
        <p:nvSpPr>
          <p:cNvPr id="24" name="Text 20"/>
          <p:cNvSpPr txBox="1"/>
          <p:nvPr/>
        </p:nvSpPr>
        <p:spPr>
          <a:xfrm>
            <a:off x="457200" y="4526280"/>
            <a:ext cx="7315200" cy="228600"/>
          </a:xfrm>
          <a:prstGeom prst="rect">
            <a:avLst/>
          </a:prstGeom>
          <a:noFill/>
          <a:ln/>
        </p:spPr>
        <p:txBody>
          <a:bodyPr wrap="square" lIns="0" tIns="0" rIns="0" bIns="0" rtlCol="0" anchor="t"/>
          <a:lstStyle/>
          <a:p>
            <a:pPr indent="0" marL="0">
              <a:buNone/>
            </a:pPr>
            <a:r>
              <a:rPr lang="en-US" sz="1400" b="1" dirty="0">
                <a:solidFill>
                  <a:schemeClr val="accent6"/>
                </a:solidFill>
              </a:rPr>
              <a:t>Shortlist 3 to 5 suppliers. Send each the same enquiry.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Reading a supplier listing</a:t>
            </a:r>
            <a:endParaRPr lang="en-US" sz="2800" dirty="0"/>
          </a:p>
        </p:txBody>
      </p:sp>
      <p:sp>
        <p:nvSpPr>
          <p:cNvPr id="4" name="mock listing"/>
          <p:cNvSpPr/>
          <p:nvPr/>
        </p:nvSpPr>
        <p:spPr>
          <a:xfrm>
            <a:off x="457200" y="1188720"/>
            <a:ext cx="4023360" cy="3383280"/>
          </a:xfrm>
          <a:prstGeom prst="roundRect">
            <a:avLst>
              <a:gd name="adj" fmla="val 2703"/>
            </a:avLst>
          </a:prstGeom>
          <a:solidFill>
            <a:srgbClr val="FFFFFF"/>
          </a:solidFill>
          <a:ln w="15875">
            <a:solidFill>
              <a:srgbClr val="9FB4CC"/>
            </a:solidFill>
            <a:prstDash val="solid"/>
          </a:ln>
        </p:spPr>
      </p:sp>
      <p:sp>
        <p:nvSpPr>
          <p:cNvPr id="5" name="photo box"/>
          <p:cNvSpPr/>
          <p:nvPr/>
        </p:nvSpPr>
        <p:spPr>
          <a:xfrm>
            <a:off x="594360" y="1325880"/>
            <a:ext cx="1097280" cy="1005840"/>
          </a:xfrm>
          <a:prstGeom prst="roundRect">
            <a:avLst>
              <a:gd name="adj" fmla="val 5455"/>
            </a:avLst>
          </a:prstGeom>
          <a:solidFill>
            <a:srgbClr val="F6EBD3"/>
          </a:solidFill>
          <a:ln w="12700">
            <a:solidFill>
              <a:srgbClr val="F6EBD3"/>
            </a:solidFill>
            <a:prstDash val="solid"/>
          </a:ln>
        </p:spPr>
      </p:sp>
      <p:sp>
        <p:nvSpPr>
          <p:cNvPr id="6" name="Text 3"/>
          <p:cNvSpPr txBox="1"/>
          <p:nvPr/>
        </p:nvSpPr>
        <p:spPr>
          <a:xfrm>
            <a:off x="594360" y="1691640"/>
            <a:ext cx="1097280" cy="274320"/>
          </a:xfrm>
          <a:prstGeom prst="rect">
            <a:avLst/>
          </a:prstGeom>
          <a:noFill/>
          <a:ln/>
        </p:spPr>
        <p:txBody>
          <a:bodyPr wrap="square" lIns="0" tIns="0" rIns="0" bIns="0" rtlCol="0" anchor="t"/>
          <a:lstStyle/>
          <a:p>
            <a:pPr algn="ctr" indent="0" marL="0">
              <a:buNone/>
            </a:pPr>
            <a:r>
              <a:rPr lang="en-US" sz="1200" b="1" dirty="0">
                <a:solidFill>
                  <a:schemeClr val="accent6"/>
                </a:solidFill>
              </a:rPr>
              <a:t>Photos</a:t>
            </a:r>
            <a:endParaRPr lang="en-US" sz="1200" dirty="0"/>
          </a:p>
        </p:txBody>
      </p:sp>
      <p:sp>
        <p:nvSpPr>
          <p:cNvPr id="7" name="Text 4"/>
          <p:cNvSpPr txBox="1"/>
          <p:nvPr/>
        </p:nvSpPr>
        <p:spPr>
          <a:xfrm>
            <a:off x="1828800" y="1325880"/>
            <a:ext cx="2103120" cy="411480"/>
          </a:xfrm>
          <a:prstGeom prst="rect">
            <a:avLst/>
          </a:prstGeom>
          <a:noFill/>
          <a:ln/>
        </p:spPr>
        <p:txBody>
          <a:bodyPr wrap="square" lIns="0" tIns="0" rIns="0" bIns="0" rtlCol="0" anchor="t"/>
          <a:lstStyle/>
          <a:p>
            <a:pPr indent="0" marL="0">
              <a:buNone/>
            </a:pPr>
            <a:r>
              <a:rPr lang="en-US" sz="1300" b="1" dirty="0">
                <a:solidFill>
                  <a:schemeClr val="tx1"/>
                </a:solidFill>
              </a:rPr>
              <a:t>Wireless earbuds, Bluetooth 5.3</a:t>
            </a:r>
            <a:endParaRPr lang="en-US" sz="1300" dirty="0"/>
          </a:p>
        </p:txBody>
      </p:sp>
      <p:sp>
        <p:nvSpPr>
          <p:cNvPr id="8" name="tier box"/>
          <p:cNvSpPr/>
          <p:nvPr/>
        </p:nvSpPr>
        <p:spPr>
          <a:xfrm>
            <a:off x="1828800" y="1783080"/>
            <a:ext cx="2103120" cy="640080"/>
          </a:xfrm>
          <a:prstGeom prst="roundRect">
            <a:avLst>
              <a:gd name="adj" fmla="val 7143"/>
            </a:avLst>
          </a:prstGeom>
          <a:solidFill>
            <a:srgbClr val="EEF1F5"/>
          </a:solidFill>
          <a:ln w="12700">
            <a:solidFill>
              <a:srgbClr val="EEF1F5"/>
            </a:solidFill>
            <a:prstDash val="solid"/>
          </a:ln>
        </p:spPr>
      </p:sp>
      <p:sp>
        <p:nvSpPr>
          <p:cNvPr id="9" name="Text 6"/>
          <p:cNvSpPr txBox="1"/>
          <p:nvPr/>
        </p:nvSpPr>
        <p:spPr>
          <a:xfrm>
            <a:off x="1920240" y="1819656"/>
            <a:ext cx="1280160" cy="182880"/>
          </a:xfrm>
          <a:prstGeom prst="rect">
            <a:avLst/>
          </a:prstGeom>
          <a:noFill/>
          <a:ln/>
        </p:spPr>
        <p:txBody>
          <a:bodyPr wrap="square" lIns="0" tIns="0" rIns="0" bIns="0" rtlCol="0" anchor="t"/>
          <a:lstStyle/>
          <a:p>
            <a:pPr indent="0" marL="0">
              <a:buNone/>
            </a:pPr>
            <a:r>
              <a:rPr lang="en-US" sz="1100" dirty="0">
                <a:solidFill>
                  <a:schemeClr val="tx1"/>
                </a:solidFill>
              </a:rPr>
              <a:t>1-99 pcs</a:t>
            </a:r>
            <a:endParaRPr lang="en-US" sz="1100" dirty="0"/>
          </a:p>
        </p:txBody>
      </p:sp>
      <p:sp>
        <p:nvSpPr>
          <p:cNvPr id="10" name="Text 7"/>
          <p:cNvSpPr txBox="1"/>
          <p:nvPr/>
        </p:nvSpPr>
        <p:spPr>
          <a:xfrm>
            <a:off x="3200400" y="1819656"/>
            <a:ext cx="640080" cy="182880"/>
          </a:xfrm>
          <a:prstGeom prst="rect">
            <a:avLst/>
          </a:prstGeom>
          <a:noFill/>
          <a:ln/>
        </p:spPr>
        <p:txBody>
          <a:bodyPr wrap="square" lIns="0" tIns="0" rIns="0" bIns="0" rtlCol="0" anchor="t"/>
          <a:lstStyle/>
          <a:p>
            <a:pPr algn="r" indent="0" marL="0">
              <a:buNone/>
            </a:pPr>
            <a:r>
              <a:rPr lang="en-US" sz="1100" b="1" dirty="0">
                <a:solidFill>
                  <a:schemeClr val="tx1"/>
                </a:solidFill>
              </a:rPr>
              <a:t>$6.80</a:t>
            </a:r>
            <a:endParaRPr lang="en-US" sz="1100" dirty="0"/>
          </a:p>
        </p:txBody>
      </p:sp>
      <p:sp>
        <p:nvSpPr>
          <p:cNvPr id="11" name="Text 8"/>
          <p:cNvSpPr txBox="1"/>
          <p:nvPr/>
        </p:nvSpPr>
        <p:spPr>
          <a:xfrm>
            <a:off x="1920240" y="2011680"/>
            <a:ext cx="1280160" cy="182880"/>
          </a:xfrm>
          <a:prstGeom prst="rect">
            <a:avLst/>
          </a:prstGeom>
          <a:noFill/>
          <a:ln/>
        </p:spPr>
        <p:txBody>
          <a:bodyPr wrap="square" lIns="0" tIns="0" rIns="0" bIns="0" rtlCol="0" anchor="t"/>
          <a:lstStyle/>
          <a:p>
            <a:pPr indent="0" marL="0">
              <a:buNone/>
            </a:pPr>
            <a:r>
              <a:rPr lang="en-US" sz="1100" dirty="0">
                <a:solidFill>
                  <a:schemeClr val="tx1"/>
                </a:solidFill>
              </a:rPr>
              <a:t>100-499 pcs</a:t>
            </a:r>
            <a:endParaRPr lang="en-US" sz="1100" dirty="0"/>
          </a:p>
        </p:txBody>
      </p:sp>
      <p:sp>
        <p:nvSpPr>
          <p:cNvPr id="12" name="Text 9"/>
          <p:cNvSpPr txBox="1"/>
          <p:nvPr/>
        </p:nvSpPr>
        <p:spPr>
          <a:xfrm>
            <a:off x="3200400" y="2011680"/>
            <a:ext cx="640080" cy="182880"/>
          </a:xfrm>
          <a:prstGeom prst="rect">
            <a:avLst/>
          </a:prstGeom>
          <a:noFill/>
          <a:ln/>
        </p:spPr>
        <p:txBody>
          <a:bodyPr wrap="square" lIns="0" tIns="0" rIns="0" bIns="0" rtlCol="0" anchor="t"/>
          <a:lstStyle/>
          <a:p>
            <a:pPr algn="r" indent="0" marL="0">
              <a:buNone/>
            </a:pPr>
            <a:r>
              <a:rPr lang="en-US" sz="1100" b="1" dirty="0">
                <a:solidFill>
                  <a:schemeClr val="tx1"/>
                </a:solidFill>
              </a:rPr>
              <a:t>$5.90</a:t>
            </a:r>
            <a:endParaRPr lang="en-US" sz="1100" dirty="0"/>
          </a:p>
        </p:txBody>
      </p:sp>
      <p:sp>
        <p:nvSpPr>
          <p:cNvPr id="13" name="Text 10"/>
          <p:cNvSpPr txBox="1"/>
          <p:nvPr/>
        </p:nvSpPr>
        <p:spPr>
          <a:xfrm>
            <a:off x="1920240" y="2203704"/>
            <a:ext cx="1280160" cy="182880"/>
          </a:xfrm>
          <a:prstGeom prst="rect">
            <a:avLst/>
          </a:prstGeom>
          <a:noFill/>
          <a:ln/>
        </p:spPr>
        <p:txBody>
          <a:bodyPr wrap="square" lIns="0" tIns="0" rIns="0" bIns="0" rtlCol="0" anchor="t"/>
          <a:lstStyle/>
          <a:p>
            <a:pPr indent="0" marL="0">
              <a:buNone/>
            </a:pPr>
            <a:r>
              <a:rPr lang="en-US" sz="1100" dirty="0">
                <a:solidFill>
                  <a:schemeClr val="tx1"/>
                </a:solidFill>
              </a:rPr>
              <a:t>500+ pcs</a:t>
            </a:r>
            <a:endParaRPr lang="en-US" sz="1100" dirty="0"/>
          </a:p>
        </p:txBody>
      </p:sp>
      <p:sp>
        <p:nvSpPr>
          <p:cNvPr id="14" name="Text 11"/>
          <p:cNvSpPr txBox="1"/>
          <p:nvPr/>
        </p:nvSpPr>
        <p:spPr>
          <a:xfrm>
            <a:off x="3200400" y="2203704"/>
            <a:ext cx="640080" cy="182880"/>
          </a:xfrm>
          <a:prstGeom prst="rect">
            <a:avLst/>
          </a:prstGeom>
          <a:noFill/>
          <a:ln/>
        </p:spPr>
        <p:txBody>
          <a:bodyPr wrap="square" lIns="0" tIns="0" rIns="0" bIns="0" rtlCol="0" anchor="t"/>
          <a:lstStyle/>
          <a:p>
            <a:pPr algn="r" indent="0" marL="0">
              <a:buNone/>
            </a:pPr>
            <a:r>
              <a:rPr lang="en-US" sz="1100" b="1" dirty="0">
                <a:solidFill>
                  <a:schemeClr val="tx1"/>
                </a:solidFill>
              </a:rPr>
              <a:t>$5.20</a:t>
            </a:r>
            <a:endParaRPr lang="en-US" sz="1100" dirty="0"/>
          </a:p>
        </p:txBody>
      </p:sp>
      <p:sp>
        <p:nvSpPr>
          <p:cNvPr id="15" name="Text 12"/>
          <p:cNvSpPr txBox="1"/>
          <p:nvPr/>
        </p:nvSpPr>
        <p:spPr>
          <a:xfrm>
            <a:off x="594360" y="2560320"/>
            <a:ext cx="3291840" cy="274320"/>
          </a:xfrm>
          <a:prstGeom prst="rect">
            <a:avLst/>
          </a:prstGeom>
          <a:noFill/>
          <a:ln/>
        </p:spPr>
        <p:txBody>
          <a:bodyPr wrap="square" lIns="0" tIns="0" rIns="0" bIns="0" rtlCol="0" anchor="t"/>
          <a:lstStyle/>
          <a:p>
            <a:pPr indent="0" marL="0">
              <a:buNone/>
            </a:pPr>
            <a:r>
              <a:rPr lang="en-US" sz="1400" b="1" dirty="0">
                <a:solidFill>
                  <a:schemeClr val="tx1"/>
                </a:solidFill>
              </a:rPr>
              <a:t>Minimum order: 100 pieces</a:t>
            </a:r>
            <a:endParaRPr lang="en-US" sz="1400" dirty="0"/>
          </a:p>
        </p:txBody>
      </p:sp>
      <p:sp>
        <p:nvSpPr>
          <p:cNvPr id="16" name="Text 13"/>
          <p:cNvSpPr txBox="1"/>
          <p:nvPr/>
        </p:nvSpPr>
        <p:spPr>
          <a:xfrm>
            <a:off x="594360" y="2926080"/>
            <a:ext cx="3383280" cy="457200"/>
          </a:xfrm>
          <a:prstGeom prst="rect">
            <a:avLst/>
          </a:prstGeom>
          <a:noFill/>
          <a:ln/>
        </p:spPr>
        <p:txBody>
          <a:bodyPr wrap="square" lIns="0" tIns="0" rIns="0" bIns="0" rtlCol="0" anchor="t"/>
          <a:lstStyle/>
          <a:p>
            <a:pPr indent="0" marL="0">
              <a:buNone/>
            </a:pPr>
            <a:r>
              <a:rPr lang="en-US" sz="1200" b="1" dirty="0">
                <a:solidFill>
                  <a:schemeClr val="tx1"/>
                </a:solidFill>
              </a:rPr>
              <a:t>Shenzhen Example Electronics Co.</a:t>
            </a:r>
            <a:endParaRPr lang="en-US" sz="1200" dirty="0"/>
          </a:p>
          <a:p>
            <a:pPr indent="0" marL="0">
              <a:buNone/>
            </a:pPr>
            <a:r>
              <a:rPr lang="en-US" sz="1200" dirty="0">
                <a:solidFill>
                  <a:schemeClr val="accent4"/>
                </a:solidFill>
              </a:rPr>
              <a:t>Manufacturer | 8 years | Verified</a:t>
            </a:r>
            <a:endParaRPr lang="en-US" sz="1200" dirty="0"/>
          </a:p>
        </p:txBody>
      </p:sp>
      <p:sp>
        <p:nvSpPr>
          <p:cNvPr id="17" name="Text 14"/>
          <p:cNvSpPr txBox="1"/>
          <p:nvPr/>
        </p:nvSpPr>
        <p:spPr>
          <a:xfrm>
            <a:off x="594360" y="3474720"/>
            <a:ext cx="3383280" cy="274320"/>
          </a:xfrm>
          <a:prstGeom prst="rect">
            <a:avLst/>
          </a:prstGeom>
          <a:noFill/>
          <a:ln/>
        </p:spPr>
        <p:txBody>
          <a:bodyPr wrap="square" lIns="0" tIns="0" rIns="0" bIns="0" rtlCol="0" anchor="t"/>
          <a:lstStyle/>
          <a:p>
            <a:pPr indent="0" marL="0">
              <a:buNone/>
            </a:pPr>
            <a:r>
              <a:rPr lang="en-US" sz="1200" dirty="0">
                <a:solidFill>
                  <a:schemeClr val="tx1"/>
                </a:solidFill>
              </a:rPr>
              <a:t>Samples available | Logo printing</a:t>
            </a:r>
            <a:endParaRPr lang="en-US" sz="1200" dirty="0"/>
          </a:p>
        </p:txBody>
      </p:sp>
      <p:sp>
        <p:nvSpPr>
          <p:cNvPr id="18" name="Text 15"/>
          <p:cNvSpPr txBox="1"/>
          <p:nvPr/>
        </p:nvSpPr>
        <p:spPr>
          <a:xfrm>
            <a:off x="594360" y="3749040"/>
            <a:ext cx="3383280" cy="274320"/>
          </a:xfrm>
          <a:prstGeom prst="rect">
            <a:avLst/>
          </a:prstGeom>
          <a:noFill/>
          <a:ln/>
        </p:spPr>
        <p:txBody>
          <a:bodyPr wrap="square" lIns="0" tIns="0" rIns="0" bIns="0" rtlCol="0" anchor="t"/>
          <a:lstStyle/>
          <a:p>
            <a:pPr indent="0" marL="0">
              <a:buNone/>
            </a:pPr>
            <a:r>
              <a:rPr lang="en-US" sz="1200" dirty="0">
                <a:solidFill>
                  <a:schemeClr val="tx1"/>
                </a:solidFill>
              </a:rPr>
              <a:t>Order protection: payment held</a:t>
            </a:r>
            <a:endParaRPr lang="en-US" sz="1200" dirty="0"/>
          </a:p>
        </p:txBody>
      </p:sp>
      <p:sp>
        <p:nvSpPr>
          <p:cNvPr id="19" name="contact button"/>
          <p:cNvSpPr/>
          <p:nvPr/>
        </p:nvSpPr>
        <p:spPr>
          <a:xfrm>
            <a:off x="594360" y="4114800"/>
            <a:ext cx="3383280" cy="347472"/>
          </a:xfrm>
          <a:prstGeom prst="roundRect">
            <a:avLst>
              <a:gd name="adj" fmla="val 15789"/>
            </a:avLst>
          </a:prstGeom>
          <a:solidFill>
            <a:schemeClr val="accent5"/>
          </a:solidFill>
          <a:ln w="12700">
            <a:solidFill>
              <a:schemeClr val="accent5"/>
            </a:solidFill>
            <a:prstDash val="solid"/>
          </a:ln>
        </p:spPr>
      </p:sp>
      <p:sp>
        <p:nvSpPr>
          <p:cNvPr id="20" name="Text 17"/>
          <p:cNvSpPr txBox="1"/>
          <p:nvPr/>
        </p:nvSpPr>
        <p:spPr>
          <a:xfrm>
            <a:off x="594360" y="4114800"/>
            <a:ext cx="3383280" cy="347472"/>
          </a:xfrm>
          <a:prstGeom prst="rect">
            <a:avLst/>
          </a:prstGeom>
          <a:noFill/>
          <a:ln/>
        </p:spPr>
        <p:txBody>
          <a:bodyPr wrap="square" lIns="0" tIns="0" rIns="0" bIns="0" rtlCol="0" anchor="ctr"/>
          <a:lstStyle/>
          <a:p>
            <a:pPr algn="ctr" indent="0" marL="0">
              <a:buNone/>
            </a:pPr>
            <a:r>
              <a:rPr lang="en-US" sz="1300" b="1" dirty="0">
                <a:solidFill>
                  <a:srgbClr val="FFFFFF"/>
                </a:solidFill>
              </a:rPr>
              <a:t>Contact supplier</a:t>
            </a:r>
            <a:endParaRPr lang="en-US" sz="1300" dirty="0"/>
          </a:p>
        </p:txBody>
      </p:sp>
      <p:sp>
        <p:nvSpPr>
          <p:cNvPr id="21" name="marker 1"/>
          <p:cNvSpPr/>
          <p:nvPr/>
        </p:nvSpPr>
        <p:spPr>
          <a:xfrm>
            <a:off x="4069080" y="1371600"/>
            <a:ext cx="256032" cy="256032"/>
          </a:xfrm>
          <a:prstGeom prst="ellipse">
            <a:avLst/>
          </a:prstGeom>
          <a:solidFill>
            <a:schemeClr val="accent6"/>
          </a:solidFill>
          <a:ln w="12700">
            <a:solidFill>
              <a:schemeClr val="accent6"/>
            </a:solidFill>
            <a:prstDash val="solid"/>
          </a:ln>
        </p:spPr>
      </p:sp>
      <p:sp>
        <p:nvSpPr>
          <p:cNvPr id="22" name="Text 19"/>
          <p:cNvSpPr txBox="1"/>
          <p:nvPr/>
        </p:nvSpPr>
        <p:spPr>
          <a:xfrm>
            <a:off x="4069080" y="137160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3" name="marker 2"/>
          <p:cNvSpPr/>
          <p:nvPr/>
        </p:nvSpPr>
        <p:spPr>
          <a:xfrm>
            <a:off x="4069080" y="1828800"/>
            <a:ext cx="256032" cy="256032"/>
          </a:xfrm>
          <a:prstGeom prst="ellipse">
            <a:avLst/>
          </a:prstGeom>
          <a:solidFill>
            <a:schemeClr val="accent6"/>
          </a:solidFill>
          <a:ln w="12700">
            <a:solidFill>
              <a:schemeClr val="accent6"/>
            </a:solidFill>
            <a:prstDash val="solid"/>
          </a:ln>
        </p:spPr>
      </p:sp>
      <p:sp>
        <p:nvSpPr>
          <p:cNvPr id="24" name="Text 21"/>
          <p:cNvSpPr txBox="1"/>
          <p:nvPr/>
        </p:nvSpPr>
        <p:spPr>
          <a:xfrm>
            <a:off x="4069080" y="182880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5" name="marker 3"/>
          <p:cNvSpPr/>
          <p:nvPr/>
        </p:nvSpPr>
        <p:spPr>
          <a:xfrm>
            <a:off x="4069080" y="2606040"/>
            <a:ext cx="256032" cy="256032"/>
          </a:xfrm>
          <a:prstGeom prst="ellipse">
            <a:avLst/>
          </a:prstGeom>
          <a:solidFill>
            <a:schemeClr val="accent6"/>
          </a:solidFill>
          <a:ln w="12700">
            <a:solidFill>
              <a:schemeClr val="accent6"/>
            </a:solidFill>
            <a:prstDash val="solid"/>
          </a:ln>
        </p:spPr>
      </p:sp>
      <p:sp>
        <p:nvSpPr>
          <p:cNvPr id="26" name="Text 23"/>
          <p:cNvSpPr txBox="1"/>
          <p:nvPr/>
        </p:nvSpPr>
        <p:spPr>
          <a:xfrm>
            <a:off x="4069080" y="2606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7" name="marker 4"/>
          <p:cNvSpPr/>
          <p:nvPr/>
        </p:nvSpPr>
        <p:spPr>
          <a:xfrm>
            <a:off x="4069080" y="3017520"/>
            <a:ext cx="256032" cy="256032"/>
          </a:xfrm>
          <a:prstGeom prst="ellipse">
            <a:avLst/>
          </a:prstGeom>
          <a:solidFill>
            <a:schemeClr val="accent6"/>
          </a:solidFill>
          <a:ln w="12700">
            <a:solidFill>
              <a:schemeClr val="accent6"/>
            </a:solidFill>
            <a:prstDash val="solid"/>
          </a:ln>
        </p:spPr>
      </p:sp>
      <p:sp>
        <p:nvSpPr>
          <p:cNvPr id="28" name="Text 25"/>
          <p:cNvSpPr txBox="1"/>
          <p:nvPr/>
        </p:nvSpPr>
        <p:spPr>
          <a:xfrm>
            <a:off x="4069080" y="30175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9" name="marker 5"/>
          <p:cNvSpPr/>
          <p:nvPr/>
        </p:nvSpPr>
        <p:spPr>
          <a:xfrm>
            <a:off x="4069080" y="3456432"/>
            <a:ext cx="256032" cy="256032"/>
          </a:xfrm>
          <a:prstGeom prst="ellipse">
            <a:avLst/>
          </a:prstGeom>
          <a:solidFill>
            <a:schemeClr val="accent6"/>
          </a:solidFill>
          <a:ln w="12700">
            <a:solidFill>
              <a:schemeClr val="accent6"/>
            </a:solidFill>
            <a:prstDash val="solid"/>
          </a:ln>
        </p:spPr>
      </p:sp>
      <p:sp>
        <p:nvSpPr>
          <p:cNvPr id="30" name="Text 27"/>
          <p:cNvSpPr txBox="1"/>
          <p:nvPr/>
        </p:nvSpPr>
        <p:spPr>
          <a:xfrm>
            <a:off x="4069080" y="345643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1" name="marker 6"/>
          <p:cNvSpPr/>
          <p:nvPr/>
        </p:nvSpPr>
        <p:spPr>
          <a:xfrm>
            <a:off x="4069080" y="3767328"/>
            <a:ext cx="256032" cy="256032"/>
          </a:xfrm>
          <a:prstGeom prst="ellipse">
            <a:avLst/>
          </a:prstGeom>
          <a:solidFill>
            <a:schemeClr val="accent6"/>
          </a:solidFill>
          <a:ln w="12700">
            <a:solidFill>
              <a:schemeClr val="accent6"/>
            </a:solidFill>
            <a:prstDash val="solid"/>
          </a:ln>
        </p:spPr>
      </p:sp>
      <p:sp>
        <p:nvSpPr>
          <p:cNvPr id="32" name="Text 29"/>
          <p:cNvSpPr txBox="1"/>
          <p:nvPr/>
        </p:nvSpPr>
        <p:spPr>
          <a:xfrm>
            <a:off x="4069080" y="37673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3" name="note num"/>
          <p:cNvSpPr/>
          <p:nvPr/>
        </p:nvSpPr>
        <p:spPr>
          <a:xfrm>
            <a:off x="4754880" y="1261872"/>
            <a:ext cx="329184" cy="329184"/>
          </a:xfrm>
          <a:prstGeom prst="ellipse">
            <a:avLst/>
          </a:prstGeom>
          <a:solidFill>
            <a:schemeClr val="accent6"/>
          </a:solidFill>
          <a:ln w="12700">
            <a:solidFill>
              <a:schemeClr val="accent6"/>
            </a:solidFill>
            <a:prstDash val="solid"/>
          </a:ln>
        </p:spPr>
      </p:sp>
      <p:sp>
        <p:nvSpPr>
          <p:cNvPr id="34" name="Text 31"/>
          <p:cNvSpPr txBox="1"/>
          <p:nvPr/>
        </p:nvSpPr>
        <p:spPr>
          <a:xfrm>
            <a:off x="4754880" y="12618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35" name="Text 32"/>
          <p:cNvSpPr txBox="1"/>
          <p:nvPr/>
        </p:nvSpPr>
        <p:spPr>
          <a:xfrm>
            <a:off x="5257800" y="1207008"/>
            <a:ext cx="3429000" cy="475488"/>
          </a:xfrm>
          <a:prstGeom prst="rect">
            <a:avLst/>
          </a:prstGeom>
          <a:noFill/>
          <a:ln/>
        </p:spPr>
        <p:txBody>
          <a:bodyPr wrap="square" lIns="0" tIns="0" rIns="0" bIns="0" rtlCol="0" anchor="t"/>
          <a:lstStyle/>
          <a:p>
            <a:pPr indent="0" marL="0">
              <a:buNone/>
            </a:pPr>
            <a:r>
              <a:rPr lang="en-US" sz="1400" b="1" dirty="0">
                <a:solidFill>
                  <a:schemeClr val="tx1"/>
                </a:solidFill>
              </a:rPr>
              <a:t>Title and photos</a:t>
            </a:r>
            <a:endParaRPr lang="en-US" sz="1400" dirty="0"/>
          </a:p>
          <a:p>
            <a:pPr indent="0" marL="0">
              <a:buNone/>
            </a:pPr>
            <a:r>
              <a:rPr lang="en-US" sz="1200" dirty="0">
                <a:solidFill>
                  <a:schemeClr val="accent2"/>
                </a:solidFill>
              </a:rPr>
              <a:t>Do they match? Ask for real photos.</a:t>
            </a:r>
            <a:endParaRPr lang="en-US" sz="1400" dirty="0"/>
          </a:p>
        </p:txBody>
      </p:sp>
      <p:sp>
        <p:nvSpPr>
          <p:cNvPr id="36" name="note num"/>
          <p:cNvSpPr/>
          <p:nvPr/>
        </p:nvSpPr>
        <p:spPr>
          <a:xfrm>
            <a:off x="4754880" y="1828800"/>
            <a:ext cx="329184" cy="329184"/>
          </a:xfrm>
          <a:prstGeom prst="ellipse">
            <a:avLst/>
          </a:prstGeom>
          <a:solidFill>
            <a:schemeClr val="accent6"/>
          </a:solidFill>
          <a:ln w="12700">
            <a:solidFill>
              <a:schemeClr val="accent6"/>
            </a:solidFill>
            <a:prstDash val="solid"/>
          </a:ln>
        </p:spPr>
      </p:sp>
      <p:sp>
        <p:nvSpPr>
          <p:cNvPr id="37" name="Text 34"/>
          <p:cNvSpPr txBox="1"/>
          <p:nvPr/>
        </p:nvSpPr>
        <p:spPr>
          <a:xfrm>
            <a:off x="4754880" y="1828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8" name="Text 35"/>
          <p:cNvSpPr txBox="1"/>
          <p:nvPr/>
        </p:nvSpPr>
        <p:spPr>
          <a:xfrm>
            <a:off x="5257800" y="1773936"/>
            <a:ext cx="3429000" cy="475488"/>
          </a:xfrm>
          <a:prstGeom prst="rect">
            <a:avLst/>
          </a:prstGeom>
          <a:noFill/>
          <a:ln/>
        </p:spPr>
        <p:txBody>
          <a:bodyPr wrap="square" lIns="0" tIns="0" rIns="0" bIns="0" rtlCol="0" anchor="t"/>
          <a:lstStyle/>
          <a:p>
            <a:pPr indent="0" marL="0">
              <a:buNone/>
            </a:pPr>
            <a:r>
              <a:rPr lang="en-US" sz="1400" b="1" dirty="0">
                <a:solidFill>
                  <a:schemeClr val="tx1"/>
                </a:solidFill>
              </a:rPr>
              <a:t>Price tiers</a:t>
            </a:r>
            <a:endParaRPr lang="en-US" sz="1400" dirty="0"/>
          </a:p>
          <a:p>
            <a:pPr indent="0" marL="0">
              <a:buNone/>
            </a:pPr>
            <a:r>
              <a:rPr lang="en-US" sz="1200" dirty="0">
                <a:solidFill>
                  <a:schemeClr val="accent2"/>
                </a:solidFill>
              </a:rPr>
              <a:t>Price falls as you buy more. Plan your tier.</a:t>
            </a:r>
            <a:endParaRPr lang="en-US" sz="1400" dirty="0"/>
          </a:p>
        </p:txBody>
      </p:sp>
      <p:sp>
        <p:nvSpPr>
          <p:cNvPr id="39" name="note num"/>
          <p:cNvSpPr/>
          <p:nvPr/>
        </p:nvSpPr>
        <p:spPr>
          <a:xfrm>
            <a:off x="4754880" y="2395728"/>
            <a:ext cx="329184" cy="329184"/>
          </a:xfrm>
          <a:prstGeom prst="ellipse">
            <a:avLst/>
          </a:prstGeom>
          <a:solidFill>
            <a:schemeClr val="accent6"/>
          </a:solidFill>
          <a:ln w="12700">
            <a:solidFill>
              <a:schemeClr val="accent6"/>
            </a:solidFill>
            <a:prstDash val="solid"/>
          </a:ln>
        </p:spPr>
      </p:sp>
      <p:sp>
        <p:nvSpPr>
          <p:cNvPr id="40" name="Text 37"/>
          <p:cNvSpPr txBox="1"/>
          <p:nvPr/>
        </p:nvSpPr>
        <p:spPr>
          <a:xfrm>
            <a:off x="4754880" y="23957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41" name="Text 38"/>
          <p:cNvSpPr txBox="1"/>
          <p:nvPr/>
        </p:nvSpPr>
        <p:spPr>
          <a:xfrm>
            <a:off x="5257800" y="2340864"/>
            <a:ext cx="3429000" cy="475488"/>
          </a:xfrm>
          <a:prstGeom prst="rect">
            <a:avLst/>
          </a:prstGeom>
          <a:noFill/>
          <a:ln/>
        </p:spPr>
        <p:txBody>
          <a:bodyPr wrap="square" lIns="0" tIns="0" rIns="0" bIns="0" rtlCol="0" anchor="t"/>
          <a:lstStyle/>
          <a:p>
            <a:pPr indent="0" marL="0">
              <a:buNone/>
            </a:pPr>
            <a:r>
              <a:rPr lang="en-US" sz="1400" b="1" dirty="0">
                <a:solidFill>
                  <a:schemeClr val="tx1"/>
                </a:solidFill>
              </a:rPr>
              <a:t>Minimum order</a:t>
            </a:r>
            <a:endParaRPr lang="en-US" sz="1400" dirty="0"/>
          </a:p>
          <a:p>
            <a:pPr indent="0" marL="0">
              <a:buNone/>
            </a:pPr>
            <a:r>
              <a:rPr lang="en-US" sz="1200" dirty="0">
                <a:solidFill>
                  <a:schemeClr val="accent2"/>
                </a:solidFill>
              </a:rPr>
              <a:t>Does your first order fit your budget?</a:t>
            </a:r>
            <a:endParaRPr lang="en-US" sz="1400" dirty="0"/>
          </a:p>
        </p:txBody>
      </p:sp>
      <p:sp>
        <p:nvSpPr>
          <p:cNvPr id="42" name="note num"/>
          <p:cNvSpPr/>
          <p:nvPr/>
        </p:nvSpPr>
        <p:spPr>
          <a:xfrm>
            <a:off x="4754880" y="2962656"/>
            <a:ext cx="329184" cy="329184"/>
          </a:xfrm>
          <a:prstGeom prst="ellipse">
            <a:avLst/>
          </a:prstGeom>
          <a:solidFill>
            <a:schemeClr val="accent6"/>
          </a:solidFill>
          <a:ln w="12700">
            <a:solidFill>
              <a:schemeClr val="accent6"/>
            </a:solidFill>
            <a:prstDash val="solid"/>
          </a:ln>
        </p:spPr>
      </p:sp>
      <p:sp>
        <p:nvSpPr>
          <p:cNvPr id="43" name="Text 40"/>
          <p:cNvSpPr txBox="1"/>
          <p:nvPr/>
        </p:nvSpPr>
        <p:spPr>
          <a:xfrm>
            <a:off x="4754880" y="29626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44" name="Text 41"/>
          <p:cNvSpPr txBox="1"/>
          <p:nvPr/>
        </p:nvSpPr>
        <p:spPr>
          <a:xfrm>
            <a:off x="5257800" y="2907792"/>
            <a:ext cx="3429000" cy="475488"/>
          </a:xfrm>
          <a:prstGeom prst="rect">
            <a:avLst/>
          </a:prstGeom>
          <a:noFill/>
          <a:ln/>
        </p:spPr>
        <p:txBody>
          <a:bodyPr wrap="square" lIns="0" tIns="0" rIns="0" bIns="0" rtlCol="0" anchor="t"/>
          <a:lstStyle/>
          <a:p>
            <a:pPr indent="0" marL="0">
              <a:buNone/>
            </a:pPr>
            <a:r>
              <a:rPr lang="en-US" sz="1400" b="1" dirty="0">
                <a:solidFill>
                  <a:schemeClr val="tx1"/>
                </a:solidFill>
              </a:rPr>
              <a:t>Who is selling</a:t>
            </a:r>
            <a:endParaRPr lang="en-US" sz="1400" dirty="0"/>
          </a:p>
          <a:p>
            <a:pPr indent="0" marL="0">
              <a:buNone/>
            </a:pPr>
            <a:r>
              <a:rPr lang="en-US" sz="1200" dirty="0">
                <a:solidFill>
                  <a:schemeClr val="accent2"/>
                </a:solidFill>
              </a:rPr>
              <a:t>Factory or trader? Badges help, not proof.</a:t>
            </a:r>
            <a:endParaRPr lang="en-US" sz="1400" dirty="0"/>
          </a:p>
        </p:txBody>
      </p:sp>
      <p:sp>
        <p:nvSpPr>
          <p:cNvPr id="45" name="note num"/>
          <p:cNvSpPr/>
          <p:nvPr/>
        </p:nvSpPr>
        <p:spPr>
          <a:xfrm>
            <a:off x="4754880" y="3529584"/>
            <a:ext cx="329184" cy="329184"/>
          </a:xfrm>
          <a:prstGeom prst="ellipse">
            <a:avLst/>
          </a:prstGeom>
          <a:solidFill>
            <a:schemeClr val="accent6"/>
          </a:solidFill>
          <a:ln w="12700">
            <a:solidFill>
              <a:schemeClr val="accent6"/>
            </a:solidFill>
            <a:prstDash val="solid"/>
          </a:ln>
        </p:spPr>
      </p:sp>
      <p:sp>
        <p:nvSpPr>
          <p:cNvPr id="46" name="Text 43"/>
          <p:cNvSpPr txBox="1"/>
          <p:nvPr/>
        </p:nvSpPr>
        <p:spPr>
          <a:xfrm>
            <a:off x="4754880" y="35295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47" name="Text 44"/>
          <p:cNvSpPr txBox="1"/>
          <p:nvPr/>
        </p:nvSpPr>
        <p:spPr>
          <a:xfrm>
            <a:off x="5257800" y="3474720"/>
            <a:ext cx="3429000" cy="475488"/>
          </a:xfrm>
          <a:prstGeom prst="rect">
            <a:avLst/>
          </a:prstGeom>
          <a:noFill/>
          <a:ln/>
        </p:spPr>
        <p:txBody>
          <a:bodyPr wrap="square" lIns="0" tIns="0" rIns="0" bIns="0" rtlCol="0" anchor="t"/>
          <a:lstStyle/>
          <a:p>
            <a:pPr indent="0" marL="0">
              <a:buNone/>
            </a:pPr>
            <a:r>
              <a:rPr lang="en-US" sz="1400" b="1" dirty="0">
                <a:solidFill>
                  <a:schemeClr val="tx1"/>
                </a:solidFill>
              </a:rPr>
              <a:t>Samples</a:t>
            </a:r>
            <a:endParaRPr lang="en-US" sz="1400" dirty="0"/>
          </a:p>
          <a:p>
            <a:pPr indent="0" marL="0">
              <a:buNone/>
            </a:pPr>
            <a:r>
              <a:rPr lang="en-US" sz="1200" dirty="0">
                <a:solidFill>
                  <a:schemeClr val="accent2"/>
                </a:solidFill>
              </a:rPr>
              <a:t>Order one before the bulk order.</a:t>
            </a:r>
            <a:endParaRPr lang="en-US" sz="1400" dirty="0"/>
          </a:p>
        </p:txBody>
      </p:sp>
      <p:sp>
        <p:nvSpPr>
          <p:cNvPr id="48" name="note num"/>
          <p:cNvSpPr/>
          <p:nvPr/>
        </p:nvSpPr>
        <p:spPr>
          <a:xfrm>
            <a:off x="4754880" y="4096512"/>
            <a:ext cx="329184" cy="329184"/>
          </a:xfrm>
          <a:prstGeom prst="ellipse">
            <a:avLst/>
          </a:prstGeom>
          <a:solidFill>
            <a:schemeClr val="accent6"/>
          </a:solidFill>
          <a:ln w="12700">
            <a:solidFill>
              <a:schemeClr val="accent6"/>
            </a:solidFill>
            <a:prstDash val="solid"/>
          </a:ln>
        </p:spPr>
      </p:sp>
      <p:sp>
        <p:nvSpPr>
          <p:cNvPr id="49" name="Text 46"/>
          <p:cNvSpPr txBox="1"/>
          <p:nvPr/>
        </p:nvSpPr>
        <p:spPr>
          <a:xfrm>
            <a:off x="4754880" y="40965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50" name="Text 47"/>
          <p:cNvSpPr txBox="1"/>
          <p:nvPr/>
        </p:nvSpPr>
        <p:spPr>
          <a:xfrm>
            <a:off x="5257800" y="4041648"/>
            <a:ext cx="3429000" cy="475488"/>
          </a:xfrm>
          <a:prstGeom prst="rect">
            <a:avLst/>
          </a:prstGeom>
          <a:noFill/>
          <a:ln/>
        </p:spPr>
        <p:txBody>
          <a:bodyPr wrap="square" lIns="0" tIns="0" rIns="0" bIns="0" rtlCol="0" anchor="t"/>
          <a:lstStyle/>
          <a:p>
            <a:pPr indent="0" marL="0">
              <a:buNone/>
            </a:pPr>
            <a:r>
              <a:rPr lang="en-US" sz="1400" b="1" dirty="0">
                <a:solidFill>
                  <a:schemeClr val="tx1"/>
                </a:solidFill>
              </a:rPr>
              <a:t>Payment protection</a:t>
            </a:r>
            <a:endParaRPr lang="en-US" sz="1400" dirty="0"/>
          </a:p>
          <a:p>
            <a:pPr indent="0" marL="0">
              <a:buNone/>
            </a:pPr>
            <a:r>
              <a:rPr lang="en-US" sz="1200" dirty="0">
                <a:solidFill>
                  <a:schemeClr val="accent2"/>
                </a:solidFill>
              </a:rPr>
              <a:t>Pay via the platform: held until delivery.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Step 4: verify before you pay</a:t>
            </a:r>
            <a:endParaRPr lang="en-US" sz="2800" dirty="0"/>
          </a:p>
        </p:txBody>
      </p:sp>
      <p:sp>
        <p:nvSpPr>
          <p:cNvPr id="4" name="Text 1"/>
          <p:cNvSpPr txBox="1"/>
          <p:nvPr/>
        </p:nvSpPr>
        <p:spPr>
          <a:xfrm>
            <a:off x="457200" y="1188720"/>
            <a:ext cx="3657600" cy="228600"/>
          </a:xfrm>
          <a:prstGeom prst="rect">
            <a:avLst/>
          </a:prstGeom>
          <a:noFill/>
          <a:ln/>
        </p:spPr>
        <p:txBody>
          <a:bodyPr wrap="square" lIns="0" tIns="0" rIns="0" bIns="0" rtlCol="0" anchor="t"/>
          <a:lstStyle/>
          <a:p>
            <a:pPr indent="0" marL="0">
              <a:buNone/>
            </a:pPr>
            <a:r>
              <a:rPr lang="en-US" sz="1200" b="1" spc="200" kern="0" dirty="0">
                <a:solidFill>
                  <a:schemeClr val="accent3"/>
                </a:solidFill>
              </a:rPr>
              <a:t>RED FLAGS</a:t>
            </a:r>
            <a:endParaRPr lang="en-US" sz="1200" dirty="0"/>
          </a:p>
        </p:txBody>
      </p:sp>
      <p:sp>
        <p:nvSpPr>
          <p:cNvPr id="5" name="flag 0"/>
          <p:cNvSpPr/>
          <p:nvPr/>
        </p:nvSpPr>
        <p:spPr>
          <a:xfrm>
            <a:off x="457200" y="1508760"/>
            <a:ext cx="4023360" cy="640080"/>
          </a:xfrm>
          <a:prstGeom prst="roundRect">
            <a:avLst>
              <a:gd name="adj" fmla="val 11429"/>
            </a:avLst>
          </a:prstGeom>
          <a:solidFill>
            <a:srgbClr val="FBEAE6"/>
          </a:solidFill>
          <a:ln w="12700">
            <a:solidFill>
              <a:srgbClr val="FBEAE6"/>
            </a:solidFill>
            <a:prstDash val="solid"/>
          </a:ln>
        </p:spPr>
      </p:sp>
      <p:pic>
        <p:nvPicPr>
          <p:cNvPr id="6" name="warn icon" descr="warning">    </p:cNvPr>
          <p:cNvPicPr>
            <a:picLocks noChangeAspect="1"/>
          </p:cNvPicPr>
          <p:nvPr/>
        </p:nvPicPr>
        <p:blipFill>
          <a:blip r:embed="rId1"/>
          <a:stretch>
            <a:fillRect/>
          </a:stretch>
        </p:blipFill>
        <p:spPr>
          <a:xfrm>
            <a:off x="594360" y="1664208"/>
            <a:ext cx="329184" cy="329184"/>
          </a:xfrm>
          <a:prstGeom prst="rect">
            <a:avLst/>
          </a:prstGeom>
        </p:spPr>
      </p:pic>
      <p:sp>
        <p:nvSpPr>
          <p:cNvPr id="7" name="Text 3"/>
          <p:cNvSpPr txBox="1"/>
          <p:nvPr/>
        </p:nvSpPr>
        <p:spPr>
          <a:xfrm>
            <a:off x="1051560" y="1581912"/>
            <a:ext cx="3337560" cy="502920"/>
          </a:xfrm>
          <a:prstGeom prst="rect">
            <a:avLst/>
          </a:prstGeom>
          <a:noFill/>
          <a:ln/>
        </p:spPr>
        <p:txBody>
          <a:bodyPr wrap="square" lIns="0" tIns="0" rIns="0" bIns="0" rtlCol="0" anchor="t"/>
          <a:lstStyle/>
          <a:p>
            <a:pPr indent="0" marL="0">
              <a:buNone/>
            </a:pPr>
            <a:r>
              <a:rPr lang="en-US" sz="1300" b="1" dirty="0">
                <a:solidFill>
                  <a:schemeClr val="tx1"/>
                </a:solidFill>
              </a:rPr>
              <a:t>Price far below every other quote</a:t>
            </a:r>
            <a:endParaRPr lang="en-US" sz="1300" dirty="0"/>
          </a:p>
          <a:p>
            <a:pPr indent="0" marL="0">
              <a:buNone/>
            </a:pPr>
            <a:r>
              <a:rPr lang="en-US" sz="1300" dirty="0">
                <a:solidFill>
                  <a:schemeClr val="accent3"/>
                </a:solidFill>
              </a:rPr>
              <a:t>Bait price</a:t>
            </a:r>
            <a:endParaRPr lang="en-US" sz="1300" dirty="0"/>
          </a:p>
        </p:txBody>
      </p:sp>
      <p:sp>
        <p:nvSpPr>
          <p:cNvPr id="8" name="flag 1"/>
          <p:cNvSpPr/>
          <p:nvPr/>
        </p:nvSpPr>
        <p:spPr>
          <a:xfrm>
            <a:off x="457200" y="2240280"/>
            <a:ext cx="4023360" cy="640080"/>
          </a:xfrm>
          <a:prstGeom prst="roundRect">
            <a:avLst>
              <a:gd name="adj" fmla="val 11429"/>
            </a:avLst>
          </a:prstGeom>
          <a:solidFill>
            <a:srgbClr val="FBEAE6"/>
          </a:solidFill>
          <a:ln w="12700">
            <a:solidFill>
              <a:srgbClr val="FBEAE6"/>
            </a:solidFill>
            <a:prstDash val="solid"/>
          </a:ln>
        </p:spPr>
      </p:sp>
      <p:pic>
        <p:nvPicPr>
          <p:cNvPr id="9" name="warn icon" descr="warning">    </p:cNvPr>
          <p:cNvPicPr>
            <a:picLocks noChangeAspect="1"/>
          </p:cNvPicPr>
          <p:nvPr/>
        </p:nvPicPr>
        <p:blipFill>
          <a:blip r:embed="rId2"/>
          <a:stretch>
            <a:fillRect/>
          </a:stretch>
        </p:blipFill>
        <p:spPr>
          <a:xfrm>
            <a:off x="594360" y="2395728"/>
            <a:ext cx="329184" cy="329184"/>
          </a:xfrm>
          <a:prstGeom prst="rect">
            <a:avLst/>
          </a:prstGeom>
        </p:spPr>
      </p:pic>
      <p:sp>
        <p:nvSpPr>
          <p:cNvPr id="10" name="Text 5"/>
          <p:cNvSpPr txBox="1"/>
          <p:nvPr/>
        </p:nvSpPr>
        <p:spPr>
          <a:xfrm>
            <a:off x="1051560" y="2313432"/>
            <a:ext cx="3337560" cy="502920"/>
          </a:xfrm>
          <a:prstGeom prst="rect">
            <a:avLst/>
          </a:prstGeom>
          <a:noFill/>
          <a:ln/>
        </p:spPr>
        <p:txBody>
          <a:bodyPr wrap="square" lIns="0" tIns="0" rIns="0" bIns="0" rtlCol="0" anchor="t"/>
          <a:lstStyle/>
          <a:p>
            <a:pPr indent="0" marL="0">
              <a:buNone/>
            </a:pPr>
            <a:r>
              <a:rPr lang="en-US" sz="1300" b="1" dirty="0">
                <a:solidFill>
                  <a:schemeClr val="tx1"/>
                </a:solidFill>
              </a:rPr>
              <a:t>New bank account after weeks of emails</a:t>
            </a:r>
            <a:endParaRPr lang="en-US" sz="1300" dirty="0"/>
          </a:p>
          <a:p>
            <a:pPr indent="0" marL="0">
              <a:buNone/>
            </a:pPr>
            <a:r>
              <a:rPr lang="en-US" sz="1300" dirty="0">
                <a:solidFill>
                  <a:schemeClr val="accent3"/>
                </a:solidFill>
              </a:rPr>
              <a:t>Hijacked email</a:t>
            </a:r>
            <a:endParaRPr lang="en-US" sz="1300" dirty="0"/>
          </a:p>
        </p:txBody>
      </p:sp>
      <p:sp>
        <p:nvSpPr>
          <p:cNvPr id="11" name="flag 2"/>
          <p:cNvSpPr/>
          <p:nvPr/>
        </p:nvSpPr>
        <p:spPr>
          <a:xfrm>
            <a:off x="457200" y="2971800"/>
            <a:ext cx="4023360" cy="640080"/>
          </a:xfrm>
          <a:prstGeom prst="roundRect">
            <a:avLst>
              <a:gd name="adj" fmla="val 11429"/>
            </a:avLst>
          </a:prstGeom>
          <a:solidFill>
            <a:srgbClr val="FBEAE6"/>
          </a:solidFill>
          <a:ln w="12700">
            <a:solidFill>
              <a:srgbClr val="FBEAE6"/>
            </a:solidFill>
            <a:prstDash val="solid"/>
          </a:ln>
        </p:spPr>
      </p:sp>
      <p:pic>
        <p:nvPicPr>
          <p:cNvPr id="12" name="warn icon" descr="warning">    </p:cNvPr>
          <p:cNvPicPr>
            <a:picLocks noChangeAspect="1"/>
          </p:cNvPicPr>
          <p:nvPr/>
        </p:nvPicPr>
        <p:blipFill>
          <a:blip r:embed="rId3"/>
          <a:stretch>
            <a:fillRect/>
          </a:stretch>
        </p:blipFill>
        <p:spPr>
          <a:xfrm>
            <a:off x="594360" y="3127248"/>
            <a:ext cx="329184" cy="329184"/>
          </a:xfrm>
          <a:prstGeom prst="rect">
            <a:avLst/>
          </a:prstGeom>
        </p:spPr>
      </p:pic>
      <p:sp>
        <p:nvSpPr>
          <p:cNvPr id="13" name="Text 7"/>
          <p:cNvSpPr txBox="1"/>
          <p:nvPr/>
        </p:nvSpPr>
        <p:spPr>
          <a:xfrm>
            <a:off x="1051560" y="3044952"/>
            <a:ext cx="3337560" cy="502920"/>
          </a:xfrm>
          <a:prstGeom prst="rect">
            <a:avLst/>
          </a:prstGeom>
          <a:noFill/>
          <a:ln/>
        </p:spPr>
        <p:txBody>
          <a:bodyPr wrap="square" lIns="0" tIns="0" rIns="0" bIns="0" rtlCol="0" anchor="t"/>
          <a:lstStyle/>
          <a:p>
            <a:pPr indent="0" marL="0">
              <a:buNone/>
            </a:pPr>
            <a:r>
              <a:rPr lang="en-US" sz="1300" b="1" dirty="0">
                <a:solidFill>
                  <a:schemeClr val="tx1"/>
                </a:solidFill>
              </a:rPr>
              <a:t>Personal account for a company</a:t>
            </a:r>
            <a:endParaRPr lang="en-US" sz="1300" dirty="0"/>
          </a:p>
          <a:p>
            <a:pPr indent="0" marL="0">
              <a:buNone/>
            </a:pPr>
            <a:r>
              <a:rPr lang="en-US" sz="1300" dirty="0">
                <a:solidFill>
                  <a:schemeClr val="accent3"/>
                </a:solidFill>
              </a:rPr>
              <a:t>No protection</a:t>
            </a:r>
            <a:endParaRPr lang="en-US" sz="1300" dirty="0"/>
          </a:p>
        </p:txBody>
      </p:sp>
      <p:sp>
        <p:nvSpPr>
          <p:cNvPr id="14" name="flag 3"/>
          <p:cNvSpPr/>
          <p:nvPr/>
        </p:nvSpPr>
        <p:spPr>
          <a:xfrm>
            <a:off x="457200" y="3703320"/>
            <a:ext cx="4023360" cy="640080"/>
          </a:xfrm>
          <a:prstGeom prst="roundRect">
            <a:avLst>
              <a:gd name="adj" fmla="val 11429"/>
            </a:avLst>
          </a:prstGeom>
          <a:solidFill>
            <a:srgbClr val="FBEAE6"/>
          </a:solidFill>
          <a:ln w="12700">
            <a:solidFill>
              <a:srgbClr val="FBEAE6"/>
            </a:solidFill>
            <a:prstDash val="solid"/>
          </a:ln>
        </p:spPr>
      </p:sp>
      <p:pic>
        <p:nvPicPr>
          <p:cNvPr id="15" name="warn icon" descr="warning">    </p:cNvPr>
          <p:cNvPicPr>
            <a:picLocks noChangeAspect="1"/>
          </p:cNvPicPr>
          <p:nvPr/>
        </p:nvPicPr>
        <p:blipFill>
          <a:blip r:embed="rId4"/>
          <a:stretch>
            <a:fillRect/>
          </a:stretch>
        </p:blipFill>
        <p:spPr>
          <a:xfrm>
            <a:off x="594360" y="3858768"/>
            <a:ext cx="329184" cy="329184"/>
          </a:xfrm>
          <a:prstGeom prst="rect">
            <a:avLst/>
          </a:prstGeom>
        </p:spPr>
      </p:pic>
      <p:sp>
        <p:nvSpPr>
          <p:cNvPr id="16" name="Text 9"/>
          <p:cNvSpPr txBox="1"/>
          <p:nvPr/>
        </p:nvSpPr>
        <p:spPr>
          <a:xfrm>
            <a:off x="1051560" y="3776472"/>
            <a:ext cx="3337560" cy="502920"/>
          </a:xfrm>
          <a:prstGeom prst="rect">
            <a:avLst/>
          </a:prstGeom>
          <a:noFill/>
          <a:ln/>
        </p:spPr>
        <p:txBody>
          <a:bodyPr wrap="square" lIns="0" tIns="0" rIns="0" bIns="0" rtlCol="0" anchor="t"/>
          <a:lstStyle/>
          <a:p>
            <a:pPr indent="0" marL="0">
              <a:buNone/>
            </a:pPr>
            <a:r>
              <a:rPr lang="en-US" sz="1300" b="1" dirty="0">
                <a:solidFill>
                  <a:schemeClr val="tx1"/>
                </a:solidFill>
              </a:rPr>
              <a:t>No live video of the factory</a:t>
            </a:r>
            <a:endParaRPr lang="en-US" sz="1300" dirty="0"/>
          </a:p>
          <a:p>
            <a:pPr indent="0" marL="0">
              <a:buNone/>
            </a:pPr>
            <a:r>
              <a:rPr lang="en-US" sz="1300" dirty="0">
                <a:solidFill>
                  <a:schemeClr val="accent3"/>
                </a:solidFill>
              </a:rPr>
              <a:t>Probably not a factory</a:t>
            </a:r>
            <a:endParaRPr lang="en-US" sz="1300" dirty="0"/>
          </a:p>
        </p:txBody>
      </p:sp>
      <p:sp>
        <p:nvSpPr>
          <p:cNvPr id="17" name="Text 10"/>
          <p:cNvSpPr txBox="1"/>
          <p:nvPr/>
        </p:nvSpPr>
        <p:spPr>
          <a:xfrm>
            <a:off x="4663440" y="1188720"/>
            <a:ext cx="3657600" cy="228600"/>
          </a:xfrm>
          <a:prstGeom prst="rect">
            <a:avLst/>
          </a:prstGeom>
          <a:noFill/>
          <a:ln/>
        </p:spPr>
        <p:txBody>
          <a:bodyPr wrap="square" lIns="0" tIns="0" rIns="0" bIns="0" rtlCol="0" anchor="t"/>
          <a:lstStyle/>
          <a:p>
            <a:pPr indent="0" marL="0">
              <a:buNone/>
            </a:pPr>
            <a:r>
              <a:rPr lang="en-US" sz="1200" b="1" spc="200" kern="0" dirty="0">
                <a:solidFill>
                  <a:schemeClr val="accent5"/>
                </a:solidFill>
              </a:rPr>
              <a:t>SAFE HABITS</a:t>
            </a:r>
            <a:endParaRPr lang="en-US" sz="1200" dirty="0"/>
          </a:p>
        </p:txBody>
      </p:sp>
      <p:sp>
        <p:nvSpPr>
          <p:cNvPr id="18" name="safe 0"/>
          <p:cNvSpPr/>
          <p:nvPr/>
        </p:nvSpPr>
        <p:spPr>
          <a:xfrm>
            <a:off x="4663440" y="1508760"/>
            <a:ext cx="4023360" cy="640080"/>
          </a:xfrm>
          <a:prstGeom prst="roundRect">
            <a:avLst>
              <a:gd name="adj" fmla="val 11429"/>
            </a:avLst>
          </a:prstGeom>
          <a:solidFill>
            <a:srgbClr val="E3F1E8"/>
          </a:solidFill>
          <a:ln w="12700">
            <a:solidFill>
              <a:srgbClr val="E3F1E8"/>
            </a:solidFill>
            <a:prstDash val="solid"/>
          </a:ln>
        </p:spPr>
      </p:sp>
      <p:pic>
        <p:nvPicPr>
          <p:cNvPr id="19" name="check icon" descr="check">    </p:cNvPr>
          <p:cNvPicPr>
            <a:picLocks noChangeAspect="1"/>
          </p:cNvPicPr>
          <p:nvPr/>
        </p:nvPicPr>
        <p:blipFill>
          <a:blip r:embed="rId5"/>
          <a:stretch>
            <a:fillRect/>
          </a:stretch>
        </p:blipFill>
        <p:spPr>
          <a:xfrm>
            <a:off x="4800600" y="1664208"/>
            <a:ext cx="329184" cy="329184"/>
          </a:xfrm>
          <a:prstGeom prst="rect">
            <a:avLst/>
          </a:prstGeom>
        </p:spPr>
      </p:pic>
      <p:sp>
        <p:nvSpPr>
          <p:cNvPr id="20" name="Text 12"/>
          <p:cNvSpPr txBox="1"/>
          <p:nvPr/>
        </p:nvSpPr>
        <p:spPr>
          <a:xfrm>
            <a:off x="5257800" y="1581912"/>
            <a:ext cx="3337560" cy="502920"/>
          </a:xfrm>
          <a:prstGeom prst="rect">
            <a:avLst/>
          </a:prstGeom>
          <a:noFill/>
          <a:ln/>
        </p:spPr>
        <p:txBody>
          <a:bodyPr wrap="square" lIns="0" tIns="0" rIns="0" bIns="0" rtlCol="0" anchor="t"/>
          <a:lstStyle/>
          <a:p>
            <a:pPr indent="0" marL="0">
              <a:buNone/>
            </a:pPr>
            <a:r>
              <a:rPr lang="en-US" sz="1300" b="1" dirty="0">
                <a:solidFill>
                  <a:schemeClr val="tx1"/>
                </a:solidFill>
              </a:rPr>
              <a:t>Pay through the platform</a:t>
            </a:r>
            <a:endParaRPr lang="en-US" sz="1300" dirty="0"/>
          </a:p>
          <a:p>
            <a:pPr indent="0" marL="0">
              <a:buNone/>
            </a:pPr>
            <a:r>
              <a:rPr lang="en-US" sz="1300" dirty="0">
                <a:solidFill>
                  <a:schemeClr val="accent5"/>
                </a:solidFill>
              </a:rPr>
              <a:t>Trade Assurance or escrow holds your money</a:t>
            </a:r>
            <a:endParaRPr lang="en-US" sz="1300" dirty="0"/>
          </a:p>
        </p:txBody>
      </p:sp>
      <p:sp>
        <p:nvSpPr>
          <p:cNvPr id="21" name="safe 1"/>
          <p:cNvSpPr/>
          <p:nvPr/>
        </p:nvSpPr>
        <p:spPr>
          <a:xfrm>
            <a:off x="4663440" y="2240280"/>
            <a:ext cx="4023360" cy="640080"/>
          </a:xfrm>
          <a:prstGeom prst="roundRect">
            <a:avLst>
              <a:gd name="adj" fmla="val 11429"/>
            </a:avLst>
          </a:prstGeom>
          <a:solidFill>
            <a:srgbClr val="E3F1E8"/>
          </a:solidFill>
          <a:ln w="12700">
            <a:solidFill>
              <a:srgbClr val="E3F1E8"/>
            </a:solidFill>
            <a:prstDash val="solid"/>
          </a:ln>
        </p:spPr>
      </p:sp>
      <p:pic>
        <p:nvPicPr>
          <p:cNvPr id="22" name="check icon" descr="check">    </p:cNvPr>
          <p:cNvPicPr>
            <a:picLocks noChangeAspect="1"/>
          </p:cNvPicPr>
          <p:nvPr/>
        </p:nvPicPr>
        <p:blipFill>
          <a:blip r:embed="rId6"/>
          <a:stretch>
            <a:fillRect/>
          </a:stretch>
        </p:blipFill>
        <p:spPr>
          <a:xfrm>
            <a:off x="4800600" y="2395728"/>
            <a:ext cx="329184" cy="329184"/>
          </a:xfrm>
          <a:prstGeom prst="rect">
            <a:avLst/>
          </a:prstGeom>
        </p:spPr>
      </p:pic>
      <p:sp>
        <p:nvSpPr>
          <p:cNvPr id="23" name="Text 14"/>
          <p:cNvSpPr txBox="1"/>
          <p:nvPr/>
        </p:nvSpPr>
        <p:spPr>
          <a:xfrm>
            <a:off x="5257800" y="2313432"/>
            <a:ext cx="3337560" cy="502920"/>
          </a:xfrm>
          <a:prstGeom prst="rect">
            <a:avLst/>
          </a:prstGeom>
          <a:noFill/>
          <a:ln/>
        </p:spPr>
        <p:txBody>
          <a:bodyPr wrap="square" lIns="0" tIns="0" rIns="0" bIns="0" rtlCol="0" anchor="t"/>
          <a:lstStyle/>
          <a:p>
            <a:pPr indent="0" marL="0">
              <a:buNone/>
            </a:pPr>
            <a:r>
              <a:rPr lang="en-US" sz="1300" b="1" dirty="0">
                <a:solidFill>
                  <a:schemeClr val="tx1"/>
                </a:solidFill>
              </a:rPr>
              <a:t>Ask for a live video call</a:t>
            </a:r>
            <a:endParaRPr lang="en-US" sz="1300" dirty="0"/>
          </a:p>
          <a:p>
            <a:pPr indent="0" marL="0">
              <a:buNone/>
            </a:pPr>
            <a:r>
              <a:rPr lang="en-US" sz="1300" dirty="0">
                <a:solidFill>
                  <a:schemeClr val="accent5"/>
                </a:solidFill>
              </a:rPr>
              <a:t>Factory floor, stock, production line</a:t>
            </a:r>
            <a:endParaRPr lang="en-US" sz="1300" dirty="0"/>
          </a:p>
        </p:txBody>
      </p:sp>
      <p:sp>
        <p:nvSpPr>
          <p:cNvPr id="24" name="safe 2"/>
          <p:cNvSpPr/>
          <p:nvPr/>
        </p:nvSpPr>
        <p:spPr>
          <a:xfrm>
            <a:off x="4663440" y="2971800"/>
            <a:ext cx="4023360" cy="640080"/>
          </a:xfrm>
          <a:prstGeom prst="roundRect">
            <a:avLst>
              <a:gd name="adj" fmla="val 11429"/>
            </a:avLst>
          </a:prstGeom>
          <a:solidFill>
            <a:srgbClr val="E3F1E8"/>
          </a:solidFill>
          <a:ln w="12700">
            <a:solidFill>
              <a:srgbClr val="E3F1E8"/>
            </a:solidFill>
            <a:prstDash val="solid"/>
          </a:ln>
        </p:spPr>
      </p:sp>
      <p:pic>
        <p:nvPicPr>
          <p:cNvPr id="25" name="check icon" descr="check">    </p:cNvPr>
          <p:cNvPicPr>
            <a:picLocks noChangeAspect="1"/>
          </p:cNvPicPr>
          <p:nvPr/>
        </p:nvPicPr>
        <p:blipFill>
          <a:blip r:embed="rId7"/>
          <a:stretch>
            <a:fillRect/>
          </a:stretch>
        </p:blipFill>
        <p:spPr>
          <a:xfrm>
            <a:off x="4800600" y="3127248"/>
            <a:ext cx="329184" cy="329184"/>
          </a:xfrm>
          <a:prstGeom prst="rect">
            <a:avLst/>
          </a:prstGeom>
        </p:spPr>
      </p:pic>
      <p:sp>
        <p:nvSpPr>
          <p:cNvPr id="26" name="Text 16"/>
          <p:cNvSpPr txBox="1"/>
          <p:nvPr/>
        </p:nvSpPr>
        <p:spPr>
          <a:xfrm>
            <a:off x="5257800" y="3044952"/>
            <a:ext cx="3337560" cy="502920"/>
          </a:xfrm>
          <a:prstGeom prst="rect">
            <a:avLst/>
          </a:prstGeom>
          <a:noFill/>
          <a:ln/>
        </p:spPr>
        <p:txBody>
          <a:bodyPr wrap="square" lIns="0" tIns="0" rIns="0" bIns="0" rtlCol="0" anchor="t"/>
          <a:lstStyle/>
          <a:p>
            <a:pPr indent="0" marL="0">
              <a:buNone/>
            </a:pPr>
            <a:r>
              <a:rPr lang="en-US" sz="1300" b="1" dirty="0">
                <a:solidFill>
                  <a:schemeClr val="tx1"/>
                </a:solidFill>
              </a:rPr>
              <a:t>Match every name</a:t>
            </a:r>
            <a:endParaRPr lang="en-US" sz="1300" dirty="0"/>
          </a:p>
          <a:p>
            <a:pPr indent="0" marL="0">
              <a:buNone/>
            </a:pPr>
            <a:r>
              <a:rPr lang="en-US" sz="1300" dirty="0">
                <a:solidFill>
                  <a:schemeClr val="accent5"/>
                </a:solidFill>
              </a:rPr>
              <a:t>Licence, invoice and bank account holder</a:t>
            </a:r>
            <a:endParaRPr lang="en-US" sz="1300" dirty="0"/>
          </a:p>
        </p:txBody>
      </p:sp>
      <p:sp>
        <p:nvSpPr>
          <p:cNvPr id="27" name="safe 3"/>
          <p:cNvSpPr/>
          <p:nvPr/>
        </p:nvSpPr>
        <p:spPr>
          <a:xfrm>
            <a:off x="4663440" y="3703320"/>
            <a:ext cx="4023360" cy="640080"/>
          </a:xfrm>
          <a:prstGeom prst="roundRect">
            <a:avLst>
              <a:gd name="adj" fmla="val 11429"/>
            </a:avLst>
          </a:prstGeom>
          <a:solidFill>
            <a:srgbClr val="E3F1E8"/>
          </a:solidFill>
          <a:ln w="12700">
            <a:solidFill>
              <a:srgbClr val="E3F1E8"/>
            </a:solidFill>
            <a:prstDash val="solid"/>
          </a:ln>
        </p:spPr>
      </p:sp>
      <p:pic>
        <p:nvPicPr>
          <p:cNvPr id="28" name="check icon" descr="check">    </p:cNvPr>
          <p:cNvPicPr>
            <a:picLocks noChangeAspect="1"/>
          </p:cNvPicPr>
          <p:nvPr/>
        </p:nvPicPr>
        <p:blipFill>
          <a:blip r:embed="rId8"/>
          <a:stretch>
            <a:fillRect/>
          </a:stretch>
        </p:blipFill>
        <p:spPr>
          <a:xfrm>
            <a:off x="4800600" y="3858768"/>
            <a:ext cx="329184" cy="329184"/>
          </a:xfrm>
          <a:prstGeom prst="rect">
            <a:avLst/>
          </a:prstGeom>
        </p:spPr>
      </p:pic>
      <p:sp>
        <p:nvSpPr>
          <p:cNvPr id="29" name="Text 18"/>
          <p:cNvSpPr txBox="1"/>
          <p:nvPr/>
        </p:nvSpPr>
        <p:spPr>
          <a:xfrm>
            <a:off x="5257800" y="3776472"/>
            <a:ext cx="3337560" cy="502920"/>
          </a:xfrm>
          <a:prstGeom prst="rect">
            <a:avLst/>
          </a:prstGeom>
          <a:noFill/>
          <a:ln/>
        </p:spPr>
        <p:txBody>
          <a:bodyPr wrap="square" lIns="0" tIns="0" rIns="0" bIns="0" rtlCol="0" anchor="t"/>
          <a:lstStyle/>
          <a:p>
            <a:pPr indent="0" marL="0">
              <a:buNone/>
            </a:pPr>
            <a:r>
              <a:rPr lang="en-US" sz="1300" b="1" dirty="0">
                <a:solidFill>
                  <a:schemeClr val="tx1"/>
                </a:solidFill>
              </a:rPr>
              <a:t>Pay a deposit, not everything</a:t>
            </a:r>
            <a:endParaRPr lang="en-US" sz="1300" dirty="0"/>
          </a:p>
          <a:p>
            <a:pPr indent="0" marL="0">
              <a:buNone/>
            </a:pPr>
            <a:r>
              <a:rPr lang="en-US" sz="1300" dirty="0">
                <a:solidFill>
                  <a:schemeClr val="accent5"/>
                </a:solidFill>
              </a:rPr>
              <a:t>Often 30%, balance after inspection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Step 5: negotiate, then test a sample</a:t>
            </a:r>
            <a:endParaRPr lang="en-US" sz="2800" dirty="0"/>
          </a:p>
        </p:txBody>
      </p:sp>
      <p:sp>
        <p:nvSpPr>
          <p:cNvPr id="4" name="card Ask for tier prices"/>
          <p:cNvSpPr/>
          <p:nvPr/>
        </p:nvSpPr>
        <p:spPr>
          <a:xfrm>
            <a:off x="457200" y="1188720"/>
            <a:ext cx="4023360" cy="1280160"/>
          </a:xfrm>
          <a:prstGeom prst="roundRect">
            <a:avLst>
              <a:gd name="adj" fmla="val 7143"/>
            </a:avLst>
          </a:prstGeom>
          <a:solidFill>
            <a:schemeClr val="bg2"/>
          </a:solidFill>
          <a:ln w="12700">
            <a:solidFill>
              <a:schemeClr val="bg2"/>
            </a:solidFill>
            <a:prstDash val="solid"/>
          </a:ln>
        </p:spPr>
      </p:sp>
      <p:sp>
        <p:nvSpPr>
          <p:cNvPr id="5" name="icon-circle Ask for tier prices"/>
          <p:cNvSpPr/>
          <p:nvPr/>
        </p:nvSpPr>
        <p:spPr>
          <a:xfrm>
            <a:off x="621792" y="1353312"/>
            <a:ext cx="457200" cy="457200"/>
          </a:xfrm>
          <a:prstGeom prst="ellipse">
            <a:avLst/>
          </a:prstGeom>
          <a:solidFill>
            <a:schemeClr val="accent2"/>
          </a:solidFill>
          <a:ln w="12700">
            <a:solidFill>
              <a:schemeClr val="accent2"/>
            </a:solidFill>
            <a:prstDash val="solid"/>
          </a:ln>
        </p:spPr>
      </p:sp>
      <p:pic>
        <p:nvPicPr>
          <p:cNvPr id="6" name="icon FaHandshake" descr="preencoded.png">    </p:cNvPr>
          <p:cNvPicPr>
            <a:picLocks noChangeAspect="1"/>
          </p:cNvPicPr>
          <p:nvPr/>
        </p:nvPicPr>
        <p:blipFill>
          <a:blip r:embed="rId1"/>
          <a:stretch>
            <a:fillRect/>
          </a:stretch>
        </p:blipFill>
        <p:spPr>
          <a:xfrm>
            <a:off x="740664" y="1472184"/>
            <a:ext cx="219456" cy="219456"/>
          </a:xfrm>
          <a:prstGeom prst="rect">
            <a:avLst/>
          </a:prstGeom>
        </p:spPr>
      </p:pic>
      <p:sp>
        <p:nvSpPr>
          <p:cNvPr id="7" name="Text 3"/>
          <p:cNvSpPr txBox="1"/>
          <p:nvPr/>
        </p:nvSpPr>
        <p:spPr>
          <a:xfrm>
            <a:off x="1207008" y="133502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Ask for tier prices</a:t>
            </a:r>
            <a:endParaRPr lang="en-US" sz="1600" dirty="0"/>
          </a:p>
        </p:txBody>
      </p:sp>
      <p:sp>
        <p:nvSpPr>
          <p:cNvPr id="8" name="Text 4"/>
          <p:cNvSpPr txBox="1"/>
          <p:nvPr/>
        </p:nvSpPr>
        <p:spPr>
          <a:xfrm>
            <a:off x="1207008" y="1664208"/>
            <a:ext cx="3108960" cy="676656"/>
          </a:xfrm>
          <a:prstGeom prst="rect">
            <a:avLst/>
          </a:prstGeom>
          <a:noFill/>
          <a:ln/>
        </p:spPr>
        <p:txBody>
          <a:bodyPr wrap="square" lIns="0" tIns="0" rIns="0" bIns="0" rtlCol="0" anchor="t"/>
          <a:lstStyle/>
          <a:p>
            <a:pPr indent="0" marL="0">
              <a:buNone/>
            </a:pPr>
            <a:r>
              <a:rPr lang="en-US" sz="1400" dirty="0">
                <a:solidFill>
                  <a:schemeClr val="tx1"/>
                </a:solidFill>
              </a:rPr>
              <a:t>What is the price at 300, 500 and 1,000 units?</a:t>
            </a:r>
            <a:endParaRPr lang="en-US" sz="1400" dirty="0"/>
          </a:p>
        </p:txBody>
      </p:sp>
      <p:sp>
        <p:nvSpPr>
          <p:cNvPr id="9" name="card Show you will reorder"/>
          <p:cNvSpPr/>
          <p:nvPr/>
        </p:nvSpPr>
        <p:spPr>
          <a:xfrm>
            <a:off x="4663440" y="1188720"/>
            <a:ext cx="4023360" cy="1280160"/>
          </a:xfrm>
          <a:prstGeom prst="roundRect">
            <a:avLst>
              <a:gd name="adj" fmla="val 7143"/>
            </a:avLst>
          </a:prstGeom>
          <a:solidFill>
            <a:schemeClr val="bg2"/>
          </a:solidFill>
          <a:ln w="12700">
            <a:solidFill>
              <a:schemeClr val="bg2"/>
            </a:solidFill>
            <a:prstDash val="solid"/>
          </a:ln>
        </p:spPr>
      </p:sp>
      <p:sp>
        <p:nvSpPr>
          <p:cNvPr id="10" name="icon-circle Show you will reorder"/>
          <p:cNvSpPr/>
          <p:nvPr/>
        </p:nvSpPr>
        <p:spPr>
          <a:xfrm>
            <a:off x="4828032" y="1353312"/>
            <a:ext cx="457200" cy="457200"/>
          </a:xfrm>
          <a:prstGeom prst="ellipse">
            <a:avLst/>
          </a:prstGeom>
          <a:solidFill>
            <a:schemeClr val="accent6"/>
          </a:solidFill>
          <a:ln w="12700">
            <a:solidFill>
              <a:schemeClr val="accent6"/>
            </a:solidFill>
            <a:prstDash val="solid"/>
          </a:ln>
        </p:spPr>
      </p:sp>
      <p:pic>
        <p:nvPicPr>
          <p:cNvPr id="11" name="icon FaRoute" descr="preencoded.png">    </p:cNvPr>
          <p:cNvPicPr>
            <a:picLocks noChangeAspect="1"/>
          </p:cNvPicPr>
          <p:nvPr/>
        </p:nvPicPr>
        <p:blipFill>
          <a:blip r:embed="rId2"/>
          <a:stretch>
            <a:fillRect/>
          </a:stretch>
        </p:blipFill>
        <p:spPr>
          <a:xfrm>
            <a:off x="4946904" y="1472184"/>
            <a:ext cx="219456" cy="219456"/>
          </a:xfrm>
          <a:prstGeom prst="rect">
            <a:avLst/>
          </a:prstGeom>
        </p:spPr>
      </p:pic>
      <p:sp>
        <p:nvSpPr>
          <p:cNvPr id="12" name="Text 7"/>
          <p:cNvSpPr txBox="1"/>
          <p:nvPr/>
        </p:nvSpPr>
        <p:spPr>
          <a:xfrm>
            <a:off x="5413248" y="133502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Show you will reorder</a:t>
            </a:r>
            <a:endParaRPr lang="en-US" sz="1600" dirty="0"/>
          </a:p>
        </p:txBody>
      </p:sp>
      <p:sp>
        <p:nvSpPr>
          <p:cNvPr id="13" name="Text 8"/>
          <p:cNvSpPr txBox="1"/>
          <p:nvPr/>
        </p:nvSpPr>
        <p:spPr>
          <a:xfrm>
            <a:off x="5413248" y="1664208"/>
            <a:ext cx="3108960" cy="676656"/>
          </a:xfrm>
          <a:prstGeom prst="rect">
            <a:avLst/>
          </a:prstGeom>
          <a:noFill/>
          <a:ln/>
        </p:spPr>
        <p:txBody>
          <a:bodyPr wrap="square" lIns="0" tIns="0" rIns="0" bIns="0" rtlCol="0" anchor="t"/>
          <a:lstStyle/>
          <a:p>
            <a:pPr indent="0" marL="0">
              <a:buNone/>
            </a:pPr>
            <a:r>
              <a:rPr lang="en-US" sz="1400" dirty="0">
                <a:solidFill>
                  <a:schemeClr val="tx1"/>
                </a:solidFill>
              </a:rPr>
              <a:t>A repeat buyer is worth a lower price.</a:t>
            </a:r>
            <a:endParaRPr lang="en-US" sz="1400" dirty="0"/>
          </a:p>
        </p:txBody>
      </p:sp>
      <p:sp>
        <p:nvSpPr>
          <p:cNvPr id="14" name="card Be exact about the spec"/>
          <p:cNvSpPr/>
          <p:nvPr/>
        </p:nvSpPr>
        <p:spPr>
          <a:xfrm>
            <a:off x="457200" y="2606040"/>
            <a:ext cx="4023360" cy="1280160"/>
          </a:xfrm>
          <a:prstGeom prst="roundRect">
            <a:avLst>
              <a:gd name="adj" fmla="val 7143"/>
            </a:avLst>
          </a:prstGeom>
          <a:solidFill>
            <a:schemeClr val="bg2"/>
          </a:solidFill>
          <a:ln w="12700">
            <a:solidFill>
              <a:schemeClr val="bg2"/>
            </a:solidFill>
            <a:prstDash val="solid"/>
          </a:ln>
        </p:spPr>
      </p:sp>
      <p:sp>
        <p:nvSpPr>
          <p:cNvPr id="15" name="icon-circle Be exact about the spec"/>
          <p:cNvSpPr/>
          <p:nvPr/>
        </p:nvSpPr>
        <p:spPr>
          <a:xfrm>
            <a:off x="621792" y="2770632"/>
            <a:ext cx="457200" cy="457200"/>
          </a:xfrm>
          <a:prstGeom prst="ellipse">
            <a:avLst/>
          </a:prstGeom>
          <a:solidFill>
            <a:schemeClr val="accent2"/>
          </a:solidFill>
          <a:ln w="12700">
            <a:solidFill>
              <a:schemeClr val="accent2"/>
            </a:solidFill>
            <a:prstDash val="solid"/>
          </a:ln>
        </p:spPr>
      </p:sp>
      <p:pic>
        <p:nvPicPr>
          <p:cNvPr id="16" name="icon FaClipboardList" descr="preencoded.png">    </p:cNvPr>
          <p:cNvPicPr>
            <a:picLocks noChangeAspect="1"/>
          </p:cNvPicPr>
          <p:nvPr/>
        </p:nvPicPr>
        <p:blipFill>
          <a:blip r:embed="rId3"/>
          <a:stretch>
            <a:fillRect/>
          </a:stretch>
        </p:blipFill>
        <p:spPr>
          <a:xfrm>
            <a:off x="740664" y="2889504"/>
            <a:ext cx="219456" cy="219456"/>
          </a:xfrm>
          <a:prstGeom prst="rect">
            <a:avLst/>
          </a:prstGeom>
        </p:spPr>
      </p:pic>
      <p:sp>
        <p:nvSpPr>
          <p:cNvPr id="17" name="Text 11"/>
          <p:cNvSpPr txBox="1"/>
          <p:nvPr/>
        </p:nvSpPr>
        <p:spPr>
          <a:xfrm>
            <a:off x="1207008" y="275234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Be exact about the spec</a:t>
            </a:r>
            <a:endParaRPr lang="en-US" sz="1600" dirty="0"/>
          </a:p>
        </p:txBody>
      </p:sp>
      <p:sp>
        <p:nvSpPr>
          <p:cNvPr id="18" name="Text 12"/>
          <p:cNvSpPr txBox="1"/>
          <p:nvPr/>
        </p:nvSpPr>
        <p:spPr>
          <a:xfrm>
            <a:off x="1207008" y="3081528"/>
            <a:ext cx="3108960" cy="676656"/>
          </a:xfrm>
          <a:prstGeom prst="rect">
            <a:avLst/>
          </a:prstGeom>
          <a:noFill/>
          <a:ln/>
        </p:spPr>
        <p:txBody>
          <a:bodyPr wrap="square" lIns="0" tIns="0" rIns="0" bIns="0" rtlCol="0" anchor="t"/>
          <a:lstStyle/>
          <a:p>
            <a:pPr indent="0" marL="0">
              <a:buNone/>
            </a:pPr>
            <a:r>
              <a:rPr lang="en-US" sz="1400" dirty="0">
                <a:solidFill>
                  <a:schemeClr val="tx1"/>
                </a:solidFill>
              </a:rPr>
              <a:t>Model, material, colour, packaging.</a:t>
            </a:r>
            <a:endParaRPr lang="en-US" sz="1400" dirty="0"/>
          </a:p>
        </p:txBody>
      </p:sp>
      <p:sp>
        <p:nvSpPr>
          <p:cNvPr id="19" name="card Order a sample first"/>
          <p:cNvSpPr/>
          <p:nvPr/>
        </p:nvSpPr>
        <p:spPr>
          <a:xfrm>
            <a:off x="4663440" y="2606040"/>
            <a:ext cx="4023360" cy="1280160"/>
          </a:xfrm>
          <a:prstGeom prst="roundRect">
            <a:avLst>
              <a:gd name="adj" fmla="val 7143"/>
            </a:avLst>
          </a:prstGeom>
          <a:solidFill>
            <a:schemeClr val="bg2"/>
          </a:solidFill>
          <a:ln w="12700">
            <a:solidFill>
              <a:schemeClr val="bg2"/>
            </a:solidFill>
            <a:prstDash val="solid"/>
          </a:ln>
        </p:spPr>
      </p:sp>
      <p:sp>
        <p:nvSpPr>
          <p:cNvPr id="20" name="icon-circle Order a sample first"/>
          <p:cNvSpPr/>
          <p:nvPr/>
        </p:nvSpPr>
        <p:spPr>
          <a:xfrm>
            <a:off x="4828032" y="2770632"/>
            <a:ext cx="457200" cy="457200"/>
          </a:xfrm>
          <a:prstGeom prst="ellipse">
            <a:avLst/>
          </a:prstGeom>
          <a:solidFill>
            <a:schemeClr val="accent6"/>
          </a:solidFill>
          <a:ln w="12700">
            <a:solidFill>
              <a:schemeClr val="accent6"/>
            </a:solidFill>
            <a:prstDash val="solid"/>
          </a:ln>
        </p:spPr>
      </p:sp>
      <p:pic>
        <p:nvPicPr>
          <p:cNvPr id="21" name="icon FaBoxOpen" descr="preencoded.png">    </p:cNvPr>
          <p:cNvPicPr>
            <a:picLocks noChangeAspect="1"/>
          </p:cNvPicPr>
          <p:nvPr/>
        </p:nvPicPr>
        <p:blipFill>
          <a:blip r:embed="rId4"/>
          <a:stretch>
            <a:fillRect/>
          </a:stretch>
        </p:blipFill>
        <p:spPr>
          <a:xfrm>
            <a:off x="4946904" y="2889504"/>
            <a:ext cx="219456" cy="219456"/>
          </a:xfrm>
          <a:prstGeom prst="rect">
            <a:avLst/>
          </a:prstGeom>
        </p:spPr>
      </p:pic>
      <p:sp>
        <p:nvSpPr>
          <p:cNvPr id="22" name="Text 15"/>
          <p:cNvSpPr txBox="1"/>
          <p:nvPr/>
        </p:nvSpPr>
        <p:spPr>
          <a:xfrm>
            <a:off x="5413248" y="275234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Order a sample first</a:t>
            </a:r>
            <a:endParaRPr lang="en-US" sz="1600" dirty="0"/>
          </a:p>
        </p:txBody>
      </p:sp>
      <p:sp>
        <p:nvSpPr>
          <p:cNvPr id="23" name="Text 16"/>
          <p:cNvSpPr txBox="1"/>
          <p:nvPr/>
        </p:nvSpPr>
        <p:spPr>
          <a:xfrm>
            <a:off x="5413248" y="3081528"/>
            <a:ext cx="3108960" cy="676656"/>
          </a:xfrm>
          <a:prstGeom prst="rect">
            <a:avLst/>
          </a:prstGeom>
          <a:noFill/>
          <a:ln/>
        </p:spPr>
        <p:txBody>
          <a:bodyPr wrap="square" lIns="0" tIns="0" rIns="0" bIns="0" rtlCol="0" anchor="t"/>
          <a:lstStyle/>
          <a:p>
            <a:pPr indent="0" marL="0">
              <a:buNone/>
            </a:pPr>
            <a:r>
              <a:rPr lang="en-US" sz="1400" dirty="0">
                <a:solidFill>
                  <a:schemeClr val="tx1"/>
                </a:solidFill>
              </a:rPr>
              <a:t>Test it like a customer. Keep it as evidence.</a:t>
            </a:r>
            <a:endParaRPr lang="en-US" sz="1400" dirty="0"/>
          </a:p>
        </p:txBody>
      </p:sp>
      <p:sp>
        <p:nvSpPr>
          <p:cNvPr id="24" name="payment bar"/>
          <p:cNvSpPr/>
          <p:nvPr/>
        </p:nvSpPr>
        <p:spPr>
          <a:xfrm>
            <a:off x="457200" y="4114800"/>
            <a:ext cx="8229600" cy="502920"/>
          </a:xfrm>
          <a:prstGeom prst="roundRect">
            <a:avLst>
              <a:gd name="adj" fmla="val 14545"/>
            </a:avLst>
          </a:prstGeom>
          <a:solidFill>
            <a:srgbClr val="0B1F3A"/>
          </a:solidFill>
          <a:ln w="12700">
            <a:solidFill>
              <a:srgbClr val="0B1F3A"/>
            </a:solidFill>
            <a:prstDash val="solid"/>
          </a:ln>
        </p:spPr>
      </p:sp>
      <p:sp>
        <p:nvSpPr>
          <p:cNvPr id="25" name="Text 18"/>
          <p:cNvSpPr txBox="1"/>
          <p:nvPr/>
        </p:nvSpPr>
        <p:spPr>
          <a:xfrm>
            <a:off x="640080" y="4224528"/>
            <a:ext cx="7863840" cy="274320"/>
          </a:xfrm>
          <a:prstGeom prst="rect">
            <a:avLst/>
          </a:prstGeom>
          <a:noFill/>
          <a:ln/>
        </p:spPr>
        <p:txBody>
          <a:bodyPr wrap="square" lIns="0" tIns="0" rIns="0" bIns="0" rtlCol="0" anchor="t"/>
          <a:lstStyle/>
          <a:p>
            <a:pPr indent="0" marL="0">
              <a:buNone/>
            </a:pPr>
            <a:r>
              <a:rPr lang="en-US" sz="1400" b="1" dirty="0">
                <a:solidFill>
                  <a:schemeClr val="accent1"/>
                </a:solidFill>
              </a:rPr>
              <a:t>Typical payment: </a:t>
            </a:r>
            <a:pPr indent="0" marL="0">
              <a:buNone/>
            </a:pPr>
            <a:r>
              <a:rPr lang="en-US" sz="1400" dirty="0">
                <a:solidFill>
                  <a:schemeClr val="bg1"/>
                </a:solidFill>
              </a:rPr>
              <a:t>30% deposit, 70% before shipment or against the bill of lading.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Step 6: air or sea?</a:t>
            </a:r>
            <a:endParaRPr lang="en-US" sz="2800" dirty="0"/>
          </a:p>
        </p:txBody>
      </p:sp>
      <p:pic>
        <p:nvPicPr>
          <p:cNvPr id="4" name="Container ship at a port" descr="Container ship at a port">    </p:cNvPr>
          <p:cNvPicPr>
            <a:picLocks noChangeAspect="1"/>
          </p:cNvPicPr>
          <p:nvPr/>
        </p:nvPicPr>
        <p:blipFill>
          <a:blip r:embed="rId1"/>
          <a:stretch>
            <a:fillRect/>
          </a:stretch>
        </p:blipFill>
        <p:spPr>
          <a:xfrm>
            <a:off x="457200" y="1188720"/>
            <a:ext cx="3931920" cy="1828800"/>
          </a:xfrm>
          <a:prstGeom prst="rect">
            <a:avLst/>
          </a:prstGeom>
        </p:spPr>
      </p:pic>
      <p:sp>
        <p:nvSpPr>
          <p:cNvPr id="5" name="Text 1"/>
          <p:cNvSpPr txBox="1"/>
          <p:nvPr/>
        </p:nvSpPr>
        <p:spPr>
          <a:xfrm>
            <a:off x="457200" y="3063240"/>
            <a:ext cx="3931920" cy="201168"/>
          </a:xfrm>
          <a:prstGeom prst="rect">
            <a:avLst/>
          </a:prstGeom>
          <a:noFill/>
          <a:ln/>
        </p:spPr>
        <p:txBody>
          <a:bodyPr wrap="square" lIns="0" tIns="0" rIns="0" bIns="0" rtlCol="0" anchor="t"/>
          <a:lstStyle/>
          <a:p>
            <a:pPr indent="0" marL="0">
              <a:buNone/>
            </a:pPr>
            <a:r>
              <a:rPr lang="en-US" sz="1000" i="1" dirty="0">
                <a:solidFill>
                  <a:schemeClr val="accent4"/>
                </a:solidFill>
              </a:rPr>
              <a:t>Sea freight. Photo: Downtowngal, CC BY-SA 4.0</a:t>
            </a:r>
            <a:endParaRPr lang="en-US" sz="1000" dirty="0"/>
          </a:p>
        </p:txBody>
      </p:sp>
      <p:pic>
        <p:nvPicPr>
          <p:cNvPr id="6" name="Cargo aircraft being loaded" descr="Cargo aircraft being loaded">    </p:cNvPr>
          <p:cNvPicPr>
            <a:picLocks noChangeAspect="1"/>
          </p:cNvPicPr>
          <p:nvPr/>
        </p:nvPicPr>
        <p:blipFill>
          <a:blip r:embed="rId2"/>
          <a:stretch>
            <a:fillRect/>
          </a:stretch>
        </p:blipFill>
        <p:spPr>
          <a:xfrm>
            <a:off x="4754880" y="1188720"/>
            <a:ext cx="3931920" cy="1828800"/>
          </a:xfrm>
          <a:prstGeom prst="rect">
            <a:avLst/>
          </a:prstGeom>
        </p:spPr>
      </p:pic>
      <p:sp>
        <p:nvSpPr>
          <p:cNvPr id="7" name="Text 2"/>
          <p:cNvSpPr txBox="1"/>
          <p:nvPr/>
        </p:nvSpPr>
        <p:spPr>
          <a:xfrm>
            <a:off x="4754880" y="3063240"/>
            <a:ext cx="3931920" cy="201168"/>
          </a:xfrm>
          <a:prstGeom prst="rect">
            <a:avLst/>
          </a:prstGeom>
          <a:noFill/>
          <a:ln/>
        </p:spPr>
        <p:txBody>
          <a:bodyPr wrap="square" lIns="0" tIns="0" rIns="0" bIns="0" rtlCol="0" anchor="t"/>
          <a:lstStyle/>
          <a:p>
            <a:pPr indent="0" marL="0">
              <a:buNone/>
            </a:pPr>
            <a:r>
              <a:rPr lang="en-US" sz="1000" i="1" dirty="0">
                <a:solidFill>
                  <a:schemeClr val="accent4"/>
                </a:solidFill>
              </a:rPr>
              <a:t>Air cargo. Photo: Aleksandr Markin, CC BY-SA 2.0</a:t>
            </a:r>
            <a:endParaRPr lang="en-US" sz="1000" dirty="0"/>
          </a:p>
        </p:txBody>
      </p:sp>
      <p:sp>
        <p:nvSpPr>
          <p:cNvPr id="8" name="cell"/>
          <p:cNvSpPr/>
          <p:nvPr/>
        </p:nvSpPr>
        <p:spPr>
          <a:xfrm>
            <a:off x="457200" y="3383280"/>
            <a:ext cx="1463040" cy="310896"/>
          </a:xfrm>
          <a:prstGeom prst="roundRect">
            <a:avLst>
              <a:gd name="adj" fmla="val 11765"/>
            </a:avLst>
          </a:prstGeom>
          <a:solidFill>
            <a:srgbClr val="FFFFFF"/>
          </a:solidFill>
          <a:ln w="12700">
            <a:solidFill>
              <a:srgbClr val="FFFFFF"/>
            </a:solidFill>
            <a:prstDash val="solid"/>
          </a:ln>
        </p:spPr>
      </p:sp>
      <p:sp>
        <p:nvSpPr>
          <p:cNvPr id="9" name="Text 4"/>
          <p:cNvSpPr txBox="1"/>
          <p:nvPr/>
        </p:nvSpPr>
        <p:spPr>
          <a:xfrm>
            <a:off x="548640" y="3419856"/>
            <a:ext cx="1280160" cy="237744"/>
          </a:xfrm>
          <a:prstGeom prst="rect">
            <a:avLst/>
          </a:prstGeom>
          <a:noFill/>
          <a:ln/>
        </p:spPr>
        <p:txBody>
          <a:bodyPr wrap="square" lIns="0" tIns="0" rIns="0" bIns="0" rtlCol="0" anchor="ctr"/>
          <a:lstStyle/>
          <a:p>
            <a:pPr indent="0" marL="0">
              <a:buNone/>
            </a:pPr>
            <a:endParaRPr lang="en-US" sz="1300" dirty="0"/>
          </a:p>
        </p:txBody>
      </p:sp>
      <p:sp>
        <p:nvSpPr>
          <p:cNvPr id="10" name="cell"/>
          <p:cNvSpPr/>
          <p:nvPr/>
        </p:nvSpPr>
        <p:spPr>
          <a:xfrm>
            <a:off x="2011680" y="3383280"/>
            <a:ext cx="3246120" cy="310896"/>
          </a:xfrm>
          <a:prstGeom prst="roundRect">
            <a:avLst>
              <a:gd name="adj" fmla="val 11765"/>
            </a:avLst>
          </a:prstGeom>
          <a:solidFill>
            <a:schemeClr val="accent4"/>
          </a:solidFill>
          <a:ln w="12700">
            <a:solidFill>
              <a:schemeClr val="accent4"/>
            </a:solidFill>
            <a:prstDash val="solid"/>
          </a:ln>
        </p:spPr>
      </p:sp>
      <p:sp>
        <p:nvSpPr>
          <p:cNvPr id="11" name="Text 6"/>
          <p:cNvSpPr txBox="1"/>
          <p:nvPr/>
        </p:nvSpPr>
        <p:spPr>
          <a:xfrm>
            <a:off x="2103120" y="3419856"/>
            <a:ext cx="3063240" cy="237744"/>
          </a:xfrm>
          <a:prstGeom prst="rect">
            <a:avLst/>
          </a:prstGeom>
          <a:noFill/>
          <a:ln/>
        </p:spPr>
        <p:txBody>
          <a:bodyPr wrap="square" lIns="0" tIns="0" rIns="0" bIns="0" rtlCol="0" anchor="ctr"/>
          <a:lstStyle/>
          <a:p>
            <a:pPr indent="0" marL="0">
              <a:buNone/>
            </a:pPr>
            <a:r>
              <a:rPr lang="en-US" sz="1300" b="1" dirty="0">
                <a:solidFill>
                  <a:srgbClr val="FFFFFF"/>
                </a:solidFill>
              </a:rPr>
              <a:t>Air freight</a:t>
            </a:r>
            <a:endParaRPr lang="en-US" sz="1300" dirty="0"/>
          </a:p>
        </p:txBody>
      </p:sp>
      <p:sp>
        <p:nvSpPr>
          <p:cNvPr id="12" name="cell"/>
          <p:cNvSpPr/>
          <p:nvPr/>
        </p:nvSpPr>
        <p:spPr>
          <a:xfrm>
            <a:off x="5349240" y="3383280"/>
            <a:ext cx="3246120" cy="310896"/>
          </a:xfrm>
          <a:prstGeom prst="roundRect">
            <a:avLst>
              <a:gd name="adj" fmla="val 11765"/>
            </a:avLst>
          </a:prstGeom>
          <a:solidFill>
            <a:schemeClr val="accent2"/>
          </a:solidFill>
          <a:ln w="12700">
            <a:solidFill>
              <a:schemeClr val="accent2"/>
            </a:solidFill>
            <a:prstDash val="solid"/>
          </a:ln>
        </p:spPr>
      </p:sp>
      <p:sp>
        <p:nvSpPr>
          <p:cNvPr id="13" name="Text 8"/>
          <p:cNvSpPr txBox="1"/>
          <p:nvPr/>
        </p:nvSpPr>
        <p:spPr>
          <a:xfrm>
            <a:off x="5440680" y="3419856"/>
            <a:ext cx="3063240" cy="237744"/>
          </a:xfrm>
          <a:prstGeom prst="rect">
            <a:avLst/>
          </a:prstGeom>
          <a:noFill/>
          <a:ln/>
        </p:spPr>
        <p:txBody>
          <a:bodyPr wrap="square" lIns="0" tIns="0" rIns="0" bIns="0" rtlCol="0" anchor="ctr"/>
          <a:lstStyle/>
          <a:p>
            <a:pPr indent="0" marL="0">
              <a:buNone/>
            </a:pPr>
            <a:r>
              <a:rPr lang="en-US" sz="1300" b="1" dirty="0">
                <a:solidFill>
                  <a:srgbClr val="FFFFFF"/>
                </a:solidFill>
              </a:rPr>
              <a:t>Sea freight</a:t>
            </a:r>
            <a:endParaRPr lang="en-US" sz="1300" dirty="0"/>
          </a:p>
        </p:txBody>
      </p:sp>
      <p:sp>
        <p:nvSpPr>
          <p:cNvPr id="14" name="cell"/>
          <p:cNvSpPr/>
          <p:nvPr/>
        </p:nvSpPr>
        <p:spPr>
          <a:xfrm>
            <a:off x="457200" y="3730752"/>
            <a:ext cx="1463040" cy="310896"/>
          </a:xfrm>
          <a:prstGeom prst="roundRect">
            <a:avLst>
              <a:gd name="adj" fmla="val 11765"/>
            </a:avLst>
          </a:prstGeom>
          <a:solidFill>
            <a:schemeClr val="bg2"/>
          </a:solidFill>
          <a:ln w="12700">
            <a:solidFill>
              <a:schemeClr val="bg2"/>
            </a:solidFill>
            <a:prstDash val="solid"/>
          </a:ln>
        </p:spPr>
      </p:sp>
      <p:sp>
        <p:nvSpPr>
          <p:cNvPr id="15" name="Text 10"/>
          <p:cNvSpPr txBox="1"/>
          <p:nvPr/>
        </p:nvSpPr>
        <p:spPr>
          <a:xfrm>
            <a:off x="548640" y="3767328"/>
            <a:ext cx="1280160" cy="237744"/>
          </a:xfrm>
          <a:prstGeom prst="rect">
            <a:avLst/>
          </a:prstGeom>
          <a:noFill/>
          <a:ln/>
        </p:spPr>
        <p:txBody>
          <a:bodyPr wrap="square" lIns="0" tIns="0" rIns="0" bIns="0" rtlCol="0" anchor="ctr"/>
          <a:lstStyle/>
          <a:p>
            <a:pPr indent="0" marL="0">
              <a:buNone/>
            </a:pPr>
            <a:r>
              <a:rPr lang="en-US" sz="1300" b="1" dirty="0">
                <a:solidFill>
                  <a:schemeClr val="tx1"/>
                </a:solidFill>
              </a:rPr>
              <a:t>Speed</a:t>
            </a:r>
            <a:endParaRPr lang="en-US" sz="1300" dirty="0"/>
          </a:p>
        </p:txBody>
      </p:sp>
      <p:sp>
        <p:nvSpPr>
          <p:cNvPr id="16" name="cell"/>
          <p:cNvSpPr/>
          <p:nvPr/>
        </p:nvSpPr>
        <p:spPr>
          <a:xfrm>
            <a:off x="2011680" y="3730752"/>
            <a:ext cx="3246120" cy="310896"/>
          </a:xfrm>
          <a:prstGeom prst="roundRect">
            <a:avLst>
              <a:gd name="adj" fmla="val 11765"/>
            </a:avLst>
          </a:prstGeom>
          <a:solidFill>
            <a:srgbClr val="FFFFFF"/>
          </a:solidFill>
          <a:ln w="12700">
            <a:solidFill>
              <a:srgbClr val="FFFFFF"/>
            </a:solidFill>
            <a:prstDash val="solid"/>
          </a:ln>
        </p:spPr>
      </p:sp>
      <p:sp>
        <p:nvSpPr>
          <p:cNvPr id="17" name="Text 12"/>
          <p:cNvSpPr txBox="1"/>
          <p:nvPr/>
        </p:nvSpPr>
        <p:spPr>
          <a:xfrm>
            <a:off x="2103120" y="3767328"/>
            <a:ext cx="3063240" cy="237744"/>
          </a:xfrm>
          <a:prstGeom prst="rect">
            <a:avLst/>
          </a:prstGeom>
          <a:noFill/>
          <a:ln/>
        </p:spPr>
        <p:txBody>
          <a:bodyPr wrap="square" lIns="0" tIns="0" rIns="0" bIns="0" rtlCol="0" anchor="ctr"/>
          <a:lstStyle/>
          <a:p>
            <a:pPr indent="0" marL="0">
              <a:buNone/>
            </a:pPr>
            <a:r>
              <a:rPr lang="en-US" sz="1300" dirty="0">
                <a:solidFill>
                  <a:schemeClr val="tx1"/>
                </a:solidFill>
              </a:rPr>
              <a:t>About 1 to 2 weeks</a:t>
            </a:r>
            <a:endParaRPr lang="en-US" sz="1300" dirty="0"/>
          </a:p>
        </p:txBody>
      </p:sp>
      <p:sp>
        <p:nvSpPr>
          <p:cNvPr id="18" name="cell"/>
          <p:cNvSpPr/>
          <p:nvPr/>
        </p:nvSpPr>
        <p:spPr>
          <a:xfrm>
            <a:off x="5349240" y="3730752"/>
            <a:ext cx="3246120" cy="310896"/>
          </a:xfrm>
          <a:prstGeom prst="roundRect">
            <a:avLst>
              <a:gd name="adj" fmla="val 11765"/>
            </a:avLst>
          </a:prstGeom>
          <a:solidFill>
            <a:srgbClr val="FFFFFF"/>
          </a:solidFill>
          <a:ln w="12700">
            <a:solidFill>
              <a:srgbClr val="FFFFFF"/>
            </a:solidFill>
            <a:prstDash val="solid"/>
          </a:ln>
        </p:spPr>
      </p:sp>
      <p:sp>
        <p:nvSpPr>
          <p:cNvPr id="19" name="Text 14"/>
          <p:cNvSpPr txBox="1"/>
          <p:nvPr/>
        </p:nvSpPr>
        <p:spPr>
          <a:xfrm>
            <a:off x="5440680" y="3767328"/>
            <a:ext cx="3063240" cy="237744"/>
          </a:xfrm>
          <a:prstGeom prst="rect">
            <a:avLst/>
          </a:prstGeom>
          <a:noFill/>
          <a:ln/>
        </p:spPr>
        <p:txBody>
          <a:bodyPr wrap="square" lIns="0" tIns="0" rIns="0" bIns="0" rtlCol="0" anchor="ctr"/>
          <a:lstStyle/>
          <a:p>
            <a:pPr indent="0" marL="0">
              <a:buNone/>
            </a:pPr>
            <a:r>
              <a:rPr lang="en-US" sz="1300" dirty="0">
                <a:solidFill>
                  <a:schemeClr val="tx1"/>
                </a:solidFill>
              </a:rPr>
              <a:t>Several weeks</a:t>
            </a:r>
            <a:endParaRPr lang="en-US" sz="1300" dirty="0"/>
          </a:p>
        </p:txBody>
      </p:sp>
      <p:sp>
        <p:nvSpPr>
          <p:cNvPr id="20" name="cell"/>
          <p:cNvSpPr/>
          <p:nvPr/>
        </p:nvSpPr>
        <p:spPr>
          <a:xfrm>
            <a:off x="457200" y="4078224"/>
            <a:ext cx="1463040" cy="310896"/>
          </a:xfrm>
          <a:prstGeom prst="roundRect">
            <a:avLst>
              <a:gd name="adj" fmla="val 11765"/>
            </a:avLst>
          </a:prstGeom>
          <a:solidFill>
            <a:schemeClr val="bg2"/>
          </a:solidFill>
          <a:ln w="12700">
            <a:solidFill>
              <a:schemeClr val="bg2"/>
            </a:solidFill>
            <a:prstDash val="solid"/>
          </a:ln>
        </p:spPr>
      </p:sp>
      <p:sp>
        <p:nvSpPr>
          <p:cNvPr id="21" name="Text 16"/>
          <p:cNvSpPr txBox="1"/>
          <p:nvPr/>
        </p:nvSpPr>
        <p:spPr>
          <a:xfrm>
            <a:off x="548640" y="4114800"/>
            <a:ext cx="1280160" cy="237744"/>
          </a:xfrm>
          <a:prstGeom prst="rect">
            <a:avLst/>
          </a:prstGeom>
          <a:noFill/>
          <a:ln/>
        </p:spPr>
        <p:txBody>
          <a:bodyPr wrap="square" lIns="0" tIns="0" rIns="0" bIns="0" rtlCol="0" anchor="ctr"/>
          <a:lstStyle/>
          <a:p>
            <a:pPr indent="0" marL="0">
              <a:buNone/>
            </a:pPr>
            <a:r>
              <a:rPr lang="en-US" sz="1300" b="1" dirty="0">
                <a:solidFill>
                  <a:schemeClr val="tx1"/>
                </a:solidFill>
              </a:rPr>
              <a:t>Cost</a:t>
            </a:r>
            <a:endParaRPr lang="en-US" sz="1300" dirty="0"/>
          </a:p>
        </p:txBody>
      </p:sp>
      <p:sp>
        <p:nvSpPr>
          <p:cNvPr id="22" name="cell"/>
          <p:cNvSpPr/>
          <p:nvPr/>
        </p:nvSpPr>
        <p:spPr>
          <a:xfrm>
            <a:off x="2011680" y="4078224"/>
            <a:ext cx="3246120" cy="310896"/>
          </a:xfrm>
          <a:prstGeom prst="roundRect">
            <a:avLst>
              <a:gd name="adj" fmla="val 11765"/>
            </a:avLst>
          </a:prstGeom>
          <a:solidFill>
            <a:srgbClr val="FFFFFF"/>
          </a:solidFill>
          <a:ln w="12700">
            <a:solidFill>
              <a:srgbClr val="FFFFFF"/>
            </a:solidFill>
            <a:prstDash val="solid"/>
          </a:ln>
        </p:spPr>
      </p:sp>
      <p:sp>
        <p:nvSpPr>
          <p:cNvPr id="23" name="Text 18"/>
          <p:cNvSpPr txBox="1"/>
          <p:nvPr/>
        </p:nvSpPr>
        <p:spPr>
          <a:xfrm>
            <a:off x="2103120" y="4114800"/>
            <a:ext cx="3063240" cy="237744"/>
          </a:xfrm>
          <a:prstGeom prst="rect">
            <a:avLst/>
          </a:prstGeom>
          <a:noFill/>
          <a:ln/>
        </p:spPr>
        <p:txBody>
          <a:bodyPr wrap="square" lIns="0" tIns="0" rIns="0" bIns="0" rtlCol="0" anchor="ctr"/>
          <a:lstStyle/>
          <a:p>
            <a:pPr indent="0" marL="0">
              <a:buNone/>
            </a:pPr>
            <a:r>
              <a:rPr lang="en-US" sz="1300" dirty="0">
                <a:solidFill>
                  <a:schemeClr val="tx1"/>
                </a:solidFill>
              </a:rPr>
              <a:t>Higher per kg</a:t>
            </a:r>
            <a:endParaRPr lang="en-US" sz="1300" dirty="0"/>
          </a:p>
        </p:txBody>
      </p:sp>
      <p:sp>
        <p:nvSpPr>
          <p:cNvPr id="24" name="cell"/>
          <p:cNvSpPr/>
          <p:nvPr/>
        </p:nvSpPr>
        <p:spPr>
          <a:xfrm>
            <a:off x="5349240" y="4078224"/>
            <a:ext cx="3246120" cy="310896"/>
          </a:xfrm>
          <a:prstGeom prst="roundRect">
            <a:avLst>
              <a:gd name="adj" fmla="val 11765"/>
            </a:avLst>
          </a:prstGeom>
          <a:solidFill>
            <a:srgbClr val="FFFFFF"/>
          </a:solidFill>
          <a:ln w="12700">
            <a:solidFill>
              <a:srgbClr val="FFFFFF"/>
            </a:solidFill>
            <a:prstDash val="solid"/>
          </a:ln>
        </p:spPr>
      </p:sp>
      <p:sp>
        <p:nvSpPr>
          <p:cNvPr id="25" name="Text 20"/>
          <p:cNvSpPr txBox="1"/>
          <p:nvPr/>
        </p:nvSpPr>
        <p:spPr>
          <a:xfrm>
            <a:off x="5440680" y="4114800"/>
            <a:ext cx="3063240" cy="237744"/>
          </a:xfrm>
          <a:prstGeom prst="rect">
            <a:avLst/>
          </a:prstGeom>
          <a:noFill/>
          <a:ln/>
        </p:spPr>
        <p:txBody>
          <a:bodyPr wrap="square" lIns="0" tIns="0" rIns="0" bIns="0" rtlCol="0" anchor="ctr"/>
          <a:lstStyle/>
          <a:p>
            <a:pPr indent="0" marL="0">
              <a:buNone/>
            </a:pPr>
            <a:r>
              <a:rPr lang="en-US" sz="1300" dirty="0">
                <a:solidFill>
                  <a:schemeClr val="tx1"/>
                </a:solidFill>
              </a:rPr>
              <a:t>Much lower per unit</a:t>
            </a:r>
            <a:endParaRPr lang="en-US" sz="1300" dirty="0"/>
          </a:p>
        </p:txBody>
      </p:sp>
      <p:sp>
        <p:nvSpPr>
          <p:cNvPr id="26" name="cell"/>
          <p:cNvSpPr/>
          <p:nvPr/>
        </p:nvSpPr>
        <p:spPr>
          <a:xfrm>
            <a:off x="457200" y="4425696"/>
            <a:ext cx="1463040" cy="310896"/>
          </a:xfrm>
          <a:prstGeom prst="roundRect">
            <a:avLst>
              <a:gd name="adj" fmla="val 11765"/>
            </a:avLst>
          </a:prstGeom>
          <a:solidFill>
            <a:schemeClr val="bg2"/>
          </a:solidFill>
          <a:ln w="12700">
            <a:solidFill>
              <a:schemeClr val="bg2"/>
            </a:solidFill>
            <a:prstDash val="solid"/>
          </a:ln>
        </p:spPr>
      </p:sp>
      <p:sp>
        <p:nvSpPr>
          <p:cNvPr id="27" name="Text 22"/>
          <p:cNvSpPr txBox="1"/>
          <p:nvPr/>
        </p:nvSpPr>
        <p:spPr>
          <a:xfrm>
            <a:off x="548640" y="4462272"/>
            <a:ext cx="1280160" cy="237744"/>
          </a:xfrm>
          <a:prstGeom prst="rect">
            <a:avLst/>
          </a:prstGeom>
          <a:noFill/>
          <a:ln/>
        </p:spPr>
        <p:txBody>
          <a:bodyPr wrap="square" lIns="0" tIns="0" rIns="0" bIns="0" rtlCol="0" anchor="ctr"/>
          <a:lstStyle/>
          <a:p>
            <a:pPr indent="0" marL="0">
              <a:buNone/>
            </a:pPr>
            <a:r>
              <a:rPr lang="en-US" sz="1300" b="1" dirty="0">
                <a:solidFill>
                  <a:schemeClr val="tx1"/>
                </a:solidFill>
              </a:rPr>
              <a:t>Best for</a:t>
            </a:r>
            <a:endParaRPr lang="en-US" sz="1300" dirty="0"/>
          </a:p>
        </p:txBody>
      </p:sp>
      <p:sp>
        <p:nvSpPr>
          <p:cNvPr id="28" name="cell"/>
          <p:cNvSpPr/>
          <p:nvPr/>
        </p:nvSpPr>
        <p:spPr>
          <a:xfrm>
            <a:off x="2011680" y="4425696"/>
            <a:ext cx="3246120" cy="310896"/>
          </a:xfrm>
          <a:prstGeom prst="roundRect">
            <a:avLst>
              <a:gd name="adj" fmla="val 11765"/>
            </a:avLst>
          </a:prstGeom>
          <a:solidFill>
            <a:srgbClr val="FFFFFF"/>
          </a:solidFill>
          <a:ln w="12700">
            <a:solidFill>
              <a:srgbClr val="FFFFFF"/>
            </a:solidFill>
            <a:prstDash val="solid"/>
          </a:ln>
        </p:spPr>
      </p:sp>
      <p:sp>
        <p:nvSpPr>
          <p:cNvPr id="29" name="Text 24"/>
          <p:cNvSpPr txBox="1"/>
          <p:nvPr/>
        </p:nvSpPr>
        <p:spPr>
          <a:xfrm>
            <a:off x="2103120" y="4462272"/>
            <a:ext cx="3063240" cy="237744"/>
          </a:xfrm>
          <a:prstGeom prst="rect">
            <a:avLst/>
          </a:prstGeom>
          <a:noFill/>
          <a:ln/>
        </p:spPr>
        <p:txBody>
          <a:bodyPr wrap="square" lIns="0" tIns="0" rIns="0" bIns="0" rtlCol="0" anchor="ctr"/>
          <a:lstStyle/>
          <a:p>
            <a:pPr indent="0" marL="0">
              <a:buNone/>
            </a:pPr>
            <a:r>
              <a:rPr lang="en-US" sz="1300" dirty="0">
                <a:solidFill>
                  <a:schemeClr val="tx1"/>
                </a:solidFill>
              </a:rPr>
              <a:t>Small, light, urgent</a:t>
            </a:r>
            <a:endParaRPr lang="en-US" sz="1300" dirty="0"/>
          </a:p>
        </p:txBody>
      </p:sp>
      <p:sp>
        <p:nvSpPr>
          <p:cNvPr id="30" name="cell"/>
          <p:cNvSpPr/>
          <p:nvPr/>
        </p:nvSpPr>
        <p:spPr>
          <a:xfrm>
            <a:off x="5349240" y="4425696"/>
            <a:ext cx="3246120" cy="310896"/>
          </a:xfrm>
          <a:prstGeom prst="roundRect">
            <a:avLst>
              <a:gd name="adj" fmla="val 11765"/>
            </a:avLst>
          </a:prstGeom>
          <a:solidFill>
            <a:srgbClr val="FFFFFF"/>
          </a:solidFill>
          <a:ln w="12700">
            <a:solidFill>
              <a:srgbClr val="FFFFFF"/>
            </a:solidFill>
            <a:prstDash val="solid"/>
          </a:ln>
        </p:spPr>
      </p:sp>
      <p:sp>
        <p:nvSpPr>
          <p:cNvPr id="31" name="Text 26"/>
          <p:cNvSpPr txBox="1"/>
          <p:nvPr/>
        </p:nvSpPr>
        <p:spPr>
          <a:xfrm>
            <a:off x="5440680" y="4462272"/>
            <a:ext cx="3063240" cy="237744"/>
          </a:xfrm>
          <a:prstGeom prst="rect">
            <a:avLst/>
          </a:prstGeom>
          <a:noFill/>
          <a:ln/>
        </p:spPr>
        <p:txBody>
          <a:bodyPr wrap="square" lIns="0" tIns="0" rIns="0" bIns="0" rtlCol="0" anchor="ctr"/>
          <a:lstStyle/>
          <a:p>
            <a:pPr indent="0" marL="0">
              <a:buNone/>
            </a:pPr>
            <a:r>
              <a:rPr lang="en-US" sz="1300" dirty="0">
                <a:solidFill>
                  <a:schemeClr val="tx1"/>
                </a:solidFill>
              </a:rPr>
              <a:t>Heavy, bulky, large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bg1"/>
                </a:solidFill>
              </a:rPr>
              <a:t>Worked example: chargeable weight</a:t>
            </a:r>
            <a:endParaRPr lang="en-US" sz="2800" dirty="0"/>
          </a:p>
        </p:txBody>
      </p:sp>
      <p:sp>
        <p:nvSpPr>
          <p:cNvPr id="4" name="carton panel"/>
          <p:cNvSpPr/>
          <p:nvPr/>
        </p:nvSpPr>
        <p:spPr>
          <a:xfrm>
            <a:off x="457200" y="1280160"/>
            <a:ext cx="3840480" cy="3108960"/>
          </a:xfrm>
          <a:prstGeom prst="roundRect">
            <a:avLst>
              <a:gd name="adj" fmla="val 2941"/>
            </a:avLst>
          </a:prstGeom>
          <a:solidFill>
            <a:srgbClr val="13315C"/>
          </a:solidFill>
          <a:ln w="12700">
            <a:solidFill>
              <a:srgbClr val="13315C"/>
            </a:solidFill>
            <a:prstDash val="solid"/>
          </a:ln>
        </p:spPr>
      </p:sp>
      <p:sp>
        <p:nvSpPr>
          <p:cNvPr id="5" name="Text 2"/>
          <p:cNvSpPr txBox="1"/>
          <p:nvPr/>
        </p:nvSpPr>
        <p:spPr>
          <a:xfrm>
            <a:off x="685800" y="1417320"/>
            <a:ext cx="338328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ONE CARTON</a:t>
            </a:r>
            <a:endParaRPr lang="en-US" sz="1200" dirty="0"/>
          </a:p>
        </p:txBody>
      </p:sp>
      <p:sp>
        <p:nvSpPr>
          <p:cNvPr id="6" name="Text 3"/>
          <p:cNvSpPr txBox="1"/>
          <p:nvPr/>
        </p:nvSpPr>
        <p:spPr>
          <a:xfrm>
            <a:off x="685800" y="1783080"/>
            <a:ext cx="338328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60 × 40 × 50 cm</a:t>
            </a:r>
            <a:endParaRPr lang="en-US" sz="2800" dirty="0"/>
          </a:p>
        </p:txBody>
      </p:sp>
      <p:sp>
        <p:nvSpPr>
          <p:cNvPr id="7" name="Text 4"/>
          <p:cNvSpPr txBox="1"/>
          <p:nvPr/>
        </p:nvSpPr>
        <p:spPr>
          <a:xfrm>
            <a:off x="685800" y="2377440"/>
            <a:ext cx="3383280" cy="320040"/>
          </a:xfrm>
          <a:prstGeom prst="rect">
            <a:avLst/>
          </a:prstGeom>
          <a:noFill/>
          <a:ln/>
        </p:spPr>
        <p:txBody>
          <a:bodyPr wrap="square" lIns="0" tIns="0" rIns="0" bIns="0" rtlCol="0" anchor="t"/>
          <a:lstStyle/>
          <a:p>
            <a:pPr indent="0" marL="0">
              <a:buNone/>
            </a:pPr>
            <a:r>
              <a:rPr lang="en-US" sz="1800" dirty="0">
                <a:solidFill>
                  <a:schemeClr val="bg1"/>
                </a:solidFill>
              </a:rPr>
              <a:t>Actual weight: 15 kg</a:t>
            </a:r>
            <a:endParaRPr lang="en-US" sz="1800" dirty="0"/>
          </a:p>
        </p:txBody>
      </p:sp>
      <p:sp>
        <p:nvSpPr>
          <p:cNvPr id="8" name="Text 5"/>
          <p:cNvSpPr txBox="1"/>
          <p:nvPr/>
        </p:nvSpPr>
        <p:spPr>
          <a:xfrm>
            <a:off x="685800" y="2926080"/>
            <a:ext cx="3383280" cy="640080"/>
          </a:xfrm>
          <a:prstGeom prst="rect">
            <a:avLst/>
          </a:prstGeom>
          <a:noFill/>
          <a:ln/>
        </p:spPr>
        <p:txBody>
          <a:bodyPr wrap="square" lIns="0" tIns="0" rIns="0" bIns="0" rtlCol="0" anchor="t"/>
          <a:lstStyle/>
          <a:p>
            <a:pPr indent="0" marL="0">
              <a:buNone/>
            </a:pPr>
            <a:r>
              <a:rPr lang="en-US" sz="1600" dirty="0">
                <a:solidFill>
                  <a:schemeClr val="accent4"/>
                </a:solidFill>
              </a:rPr>
              <a:t>Volumetric weight = L × W × H ÷ 6,000</a:t>
            </a:r>
            <a:endParaRPr lang="en-US" sz="1600" dirty="0"/>
          </a:p>
        </p:txBody>
      </p:sp>
      <p:sp>
        <p:nvSpPr>
          <p:cNvPr id="9" name="Text 6"/>
          <p:cNvSpPr txBox="1"/>
          <p:nvPr/>
        </p:nvSpPr>
        <p:spPr>
          <a:xfrm>
            <a:off x="685800" y="3749040"/>
            <a:ext cx="3383280" cy="457200"/>
          </a:xfrm>
          <a:prstGeom prst="rect">
            <a:avLst/>
          </a:prstGeom>
          <a:noFill/>
          <a:ln/>
        </p:spPr>
        <p:txBody>
          <a:bodyPr wrap="square" lIns="0" tIns="0" rIns="0" bIns="0" rtlCol="0" anchor="t"/>
          <a:lstStyle/>
          <a:p>
            <a:pPr indent="0" marL="0">
              <a:buNone/>
            </a:pPr>
            <a:r>
              <a:rPr lang="en-US" sz="1400" i="1" dirty="0">
                <a:solidFill>
                  <a:schemeClr val="accent4"/>
                </a:solidFill>
              </a:rPr>
              <a:t>Always confirm the divisor your carrier uses.</a:t>
            </a:r>
            <a:endParaRPr lang="en-US" sz="1400" dirty="0"/>
          </a:p>
        </p:txBody>
      </p:sp>
      <p:sp>
        <p:nvSpPr>
          <p:cNvPr id="10" name="calc step 0"/>
          <p:cNvSpPr/>
          <p:nvPr/>
        </p:nvSpPr>
        <p:spPr>
          <a:xfrm>
            <a:off x="4572000" y="1280160"/>
            <a:ext cx="4114800" cy="914400"/>
          </a:xfrm>
          <a:prstGeom prst="roundRect">
            <a:avLst>
              <a:gd name="adj" fmla="val 10000"/>
            </a:avLst>
          </a:prstGeom>
          <a:solidFill>
            <a:srgbClr val="FFFFFF"/>
          </a:solidFill>
          <a:ln w="12700">
            <a:solidFill>
              <a:srgbClr val="FFFFFF"/>
            </a:solidFill>
            <a:prstDash val="solid"/>
          </a:ln>
        </p:spPr>
      </p:sp>
      <p:sp>
        <p:nvSpPr>
          <p:cNvPr id="11" name="Text 8"/>
          <p:cNvSpPr txBox="1"/>
          <p:nvPr/>
        </p:nvSpPr>
        <p:spPr>
          <a:xfrm>
            <a:off x="4754880" y="1417320"/>
            <a:ext cx="3749040" cy="365760"/>
          </a:xfrm>
          <a:prstGeom prst="rect">
            <a:avLst/>
          </a:prstGeom>
          <a:noFill/>
          <a:ln/>
        </p:spPr>
        <p:txBody>
          <a:bodyPr wrap="square" lIns="0" tIns="0" rIns="0" bIns="0" rtlCol="0" anchor="t"/>
          <a:lstStyle/>
          <a:p>
            <a:pPr indent="0" marL="0">
              <a:buNone/>
            </a:pPr>
            <a:r>
              <a:rPr lang="en-US" sz="2000" b="1" dirty="0">
                <a:solidFill>
                  <a:srgbClr val="0B1F3A"/>
                </a:solidFill>
                <a:latin typeface="Cambria" pitchFamily="34" charset="0"/>
                <a:ea typeface="Cambria" pitchFamily="34" charset="-122"/>
                <a:cs typeface="Cambria" pitchFamily="34" charset="-120"/>
              </a:rPr>
              <a:t>60 × 40 × 50 = 120,000</a:t>
            </a:r>
            <a:endParaRPr lang="en-US" sz="2000" dirty="0"/>
          </a:p>
        </p:txBody>
      </p:sp>
      <p:sp>
        <p:nvSpPr>
          <p:cNvPr id="12" name="Text 9"/>
          <p:cNvSpPr txBox="1"/>
          <p:nvPr/>
        </p:nvSpPr>
        <p:spPr>
          <a:xfrm>
            <a:off x="4754880" y="1810512"/>
            <a:ext cx="3749040" cy="274320"/>
          </a:xfrm>
          <a:prstGeom prst="rect">
            <a:avLst/>
          </a:prstGeom>
          <a:noFill/>
          <a:ln/>
        </p:spPr>
        <p:txBody>
          <a:bodyPr wrap="square" lIns="0" tIns="0" rIns="0" bIns="0" rtlCol="0" anchor="t"/>
          <a:lstStyle/>
          <a:p>
            <a:pPr indent="0" marL="0">
              <a:buNone/>
            </a:pPr>
            <a:r>
              <a:rPr lang="en-US" sz="1400" dirty="0">
                <a:solidFill>
                  <a:srgbClr val="0B1F3A"/>
                </a:solidFill>
              </a:rPr>
              <a:t>multiply the sides</a:t>
            </a:r>
            <a:endParaRPr lang="en-US" sz="1400" dirty="0"/>
          </a:p>
        </p:txBody>
      </p:sp>
      <p:sp>
        <p:nvSpPr>
          <p:cNvPr id="13" name="calc step 1"/>
          <p:cNvSpPr/>
          <p:nvPr/>
        </p:nvSpPr>
        <p:spPr>
          <a:xfrm>
            <a:off x="4572000" y="2331720"/>
            <a:ext cx="4114800" cy="914400"/>
          </a:xfrm>
          <a:prstGeom prst="roundRect">
            <a:avLst>
              <a:gd name="adj" fmla="val 10000"/>
            </a:avLst>
          </a:prstGeom>
          <a:solidFill>
            <a:srgbClr val="FFFFFF"/>
          </a:solidFill>
          <a:ln w="12700">
            <a:solidFill>
              <a:srgbClr val="FFFFFF"/>
            </a:solidFill>
            <a:prstDash val="solid"/>
          </a:ln>
        </p:spPr>
      </p:sp>
      <p:sp>
        <p:nvSpPr>
          <p:cNvPr id="14" name="Text 11"/>
          <p:cNvSpPr txBox="1"/>
          <p:nvPr/>
        </p:nvSpPr>
        <p:spPr>
          <a:xfrm>
            <a:off x="4754880" y="2468880"/>
            <a:ext cx="3749040" cy="365760"/>
          </a:xfrm>
          <a:prstGeom prst="rect">
            <a:avLst/>
          </a:prstGeom>
          <a:noFill/>
          <a:ln/>
        </p:spPr>
        <p:txBody>
          <a:bodyPr wrap="square" lIns="0" tIns="0" rIns="0" bIns="0" rtlCol="0" anchor="t"/>
          <a:lstStyle/>
          <a:p>
            <a:pPr indent="0" marL="0">
              <a:buNone/>
            </a:pPr>
            <a:r>
              <a:rPr lang="en-US" sz="2000" b="1" dirty="0">
                <a:solidFill>
                  <a:srgbClr val="0B1F3A"/>
                </a:solidFill>
                <a:latin typeface="Cambria" pitchFamily="34" charset="0"/>
                <a:ea typeface="Cambria" pitchFamily="34" charset="-122"/>
                <a:cs typeface="Cambria" pitchFamily="34" charset="-120"/>
              </a:rPr>
              <a:t>120,000 ÷ 6,000 = 20 kg</a:t>
            </a:r>
            <a:endParaRPr lang="en-US" sz="2000" dirty="0"/>
          </a:p>
        </p:txBody>
      </p:sp>
      <p:sp>
        <p:nvSpPr>
          <p:cNvPr id="15" name="Text 12"/>
          <p:cNvSpPr txBox="1"/>
          <p:nvPr/>
        </p:nvSpPr>
        <p:spPr>
          <a:xfrm>
            <a:off x="4754880" y="2862072"/>
            <a:ext cx="3749040" cy="274320"/>
          </a:xfrm>
          <a:prstGeom prst="rect">
            <a:avLst/>
          </a:prstGeom>
          <a:noFill/>
          <a:ln/>
        </p:spPr>
        <p:txBody>
          <a:bodyPr wrap="square" lIns="0" tIns="0" rIns="0" bIns="0" rtlCol="0" anchor="t"/>
          <a:lstStyle/>
          <a:p>
            <a:pPr indent="0" marL="0">
              <a:buNone/>
            </a:pPr>
            <a:r>
              <a:rPr lang="en-US" sz="1400" dirty="0">
                <a:solidFill>
                  <a:srgbClr val="0B1F3A"/>
                </a:solidFill>
              </a:rPr>
              <a:t>volumetric weight</a:t>
            </a:r>
            <a:endParaRPr lang="en-US" sz="1400" dirty="0"/>
          </a:p>
        </p:txBody>
      </p:sp>
      <p:sp>
        <p:nvSpPr>
          <p:cNvPr id="16" name="calc step 2"/>
          <p:cNvSpPr/>
          <p:nvPr/>
        </p:nvSpPr>
        <p:spPr>
          <a:xfrm>
            <a:off x="4572000" y="3383280"/>
            <a:ext cx="4114800" cy="914400"/>
          </a:xfrm>
          <a:prstGeom prst="roundRect">
            <a:avLst>
              <a:gd name="adj" fmla="val 10000"/>
            </a:avLst>
          </a:prstGeom>
          <a:solidFill>
            <a:schemeClr val="accent1"/>
          </a:solidFill>
          <a:ln w="12700">
            <a:solidFill>
              <a:schemeClr val="accent1"/>
            </a:solidFill>
            <a:prstDash val="solid"/>
          </a:ln>
        </p:spPr>
      </p:sp>
      <p:sp>
        <p:nvSpPr>
          <p:cNvPr id="17" name="Text 14"/>
          <p:cNvSpPr txBox="1"/>
          <p:nvPr/>
        </p:nvSpPr>
        <p:spPr>
          <a:xfrm>
            <a:off x="4754880" y="3520440"/>
            <a:ext cx="3749040" cy="365760"/>
          </a:xfrm>
          <a:prstGeom prst="rect">
            <a:avLst/>
          </a:prstGeom>
          <a:noFill/>
          <a:ln/>
        </p:spPr>
        <p:txBody>
          <a:bodyPr wrap="square" lIns="0" tIns="0" rIns="0" bIns="0" rtlCol="0" anchor="t"/>
          <a:lstStyle/>
          <a:p>
            <a:pPr indent="0" marL="0">
              <a:buNone/>
            </a:pPr>
            <a:r>
              <a:rPr lang="en-US" sz="2000" b="1" dirty="0">
                <a:solidFill>
                  <a:srgbClr val="0B1F3A"/>
                </a:solidFill>
                <a:latin typeface="Cambria" pitchFamily="34" charset="0"/>
                <a:ea typeface="Cambria" pitchFamily="34" charset="-122"/>
                <a:cs typeface="Cambria" pitchFamily="34" charset="-120"/>
              </a:rPr>
              <a:t>20 kg is more than 15 kg</a:t>
            </a:r>
            <a:endParaRPr lang="en-US" sz="2000" dirty="0"/>
          </a:p>
        </p:txBody>
      </p:sp>
      <p:sp>
        <p:nvSpPr>
          <p:cNvPr id="18" name="Text 15"/>
          <p:cNvSpPr txBox="1"/>
          <p:nvPr/>
        </p:nvSpPr>
        <p:spPr>
          <a:xfrm>
            <a:off x="4754880" y="3913632"/>
            <a:ext cx="3749040" cy="274320"/>
          </a:xfrm>
          <a:prstGeom prst="rect">
            <a:avLst/>
          </a:prstGeom>
          <a:noFill/>
          <a:ln/>
        </p:spPr>
        <p:txBody>
          <a:bodyPr wrap="square" lIns="0" tIns="0" rIns="0" bIns="0" rtlCol="0" anchor="t"/>
          <a:lstStyle/>
          <a:p>
            <a:pPr indent="0" marL="0">
              <a:buNone/>
            </a:pPr>
            <a:r>
              <a:rPr lang="en-US" sz="1400" dirty="0">
                <a:solidFill>
                  <a:srgbClr val="0B1F3A"/>
                </a:solidFill>
              </a:rPr>
              <a:t>so you are charged for 20 kg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Step 7: the documents that travel with goods</a:t>
            </a:r>
            <a:endParaRPr lang="en-US" sz="2800" dirty="0"/>
          </a:p>
        </p:txBody>
      </p:sp>
      <p:sp>
        <p:nvSpPr>
          <p:cNvPr id="4" name="party Supplier"/>
          <p:cNvSpPr/>
          <p:nvPr/>
        </p:nvSpPr>
        <p:spPr>
          <a:xfrm>
            <a:off x="457200" y="1188720"/>
            <a:ext cx="1554480" cy="1325880"/>
          </a:xfrm>
          <a:prstGeom prst="roundRect">
            <a:avLst>
              <a:gd name="adj" fmla="val 6897"/>
            </a:avLst>
          </a:prstGeom>
          <a:solidFill>
            <a:schemeClr val="accent6"/>
          </a:solidFill>
          <a:ln w="12700">
            <a:solidFill>
              <a:schemeClr val="accent6"/>
            </a:solidFill>
            <a:prstDash val="solid"/>
          </a:ln>
        </p:spPr>
      </p:sp>
      <p:sp>
        <p:nvSpPr>
          <p:cNvPr id="5" name="Text 2"/>
          <p:cNvSpPr txBox="1"/>
          <p:nvPr/>
        </p:nvSpPr>
        <p:spPr>
          <a:xfrm>
            <a:off x="566928" y="1280160"/>
            <a:ext cx="365760" cy="27432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3"/>
          <p:cNvSpPr txBox="1"/>
          <p:nvPr/>
        </p:nvSpPr>
        <p:spPr>
          <a:xfrm>
            <a:off x="566928" y="1600200"/>
            <a:ext cx="1371600" cy="45720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Supplier</a:t>
            </a:r>
            <a:endParaRPr lang="en-US" sz="1400" dirty="0"/>
          </a:p>
        </p:txBody>
      </p:sp>
      <p:sp>
        <p:nvSpPr>
          <p:cNvPr id="7" name="Text 4"/>
          <p:cNvSpPr txBox="1"/>
          <p:nvPr/>
        </p:nvSpPr>
        <p:spPr>
          <a:xfrm>
            <a:off x="566928" y="2029968"/>
            <a:ext cx="1371600" cy="411480"/>
          </a:xfrm>
          <a:prstGeom prst="rect">
            <a:avLst/>
          </a:prstGeom>
          <a:noFill/>
          <a:ln/>
        </p:spPr>
        <p:txBody>
          <a:bodyPr wrap="square" lIns="0" tIns="0" rIns="0" bIns="0" rtlCol="0" anchor="t"/>
          <a:lstStyle/>
          <a:p>
            <a:pPr indent="0" marL="0">
              <a:buNone/>
            </a:pPr>
            <a:r>
              <a:rPr lang="en-US" sz="1200" dirty="0">
                <a:solidFill>
                  <a:srgbClr val="FFFFFF"/>
                </a:solidFill>
              </a:rPr>
              <a:t>Packs and sells</a:t>
            </a:r>
            <a:endParaRPr lang="en-US" sz="1200" dirty="0"/>
          </a:p>
        </p:txBody>
      </p:sp>
      <p:sp>
        <p:nvSpPr>
          <p:cNvPr id="8" name="connector"/>
          <p:cNvSpPr/>
          <p:nvPr/>
        </p:nvSpPr>
        <p:spPr>
          <a:xfrm>
            <a:off x="1234440" y="2514600"/>
            <a:ext cx="0" cy="182880"/>
          </a:xfrm>
          <a:prstGeom prst="line">
            <a:avLst/>
          </a:prstGeom>
          <a:noFill/>
          <a:ln w="25400">
            <a:solidFill>
              <a:schemeClr val="accent6"/>
            </a:solidFill>
            <a:prstDash val="solid"/>
          </a:ln>
        </p:spPr>
      </p:sp>
      <p:sp>
        <p:nvSpPr>
          <p:cNvPr id="9" name="docs Supplier"/>
          <p:cNvSpPr/>
          <p:nvPr/>
        </p:nvSpPr>
        <p:spPr>
          <a:xfrm>
            <a:off x="457200" y="2697480"/>
            <a:ext cx="1554480" cy="1234440"/>
          </a:xfrm>
          <a:prstGeom prst="roundRect">
            <a:avLst>
              <a:gd name="adj" fmla="val 7407"/>
            </a:avLst>
          </a:prstGeom>
          <a:solidFill>
            <a:schemeClr val="bg2"/>
          </a:solidFill>
          <a:ln w="12700">
            <a:solidFill>
              <a:schemeClr val="bg2"/>
            </a:solidFill>
            <a:prstDash val="solid"/>
          </a:ln>
        </p:spPr>
      </p:sp>
      <p:sp>
        <p:nvSpPr>
          <p:cNvPr id="10" name="Text 7"/>
          <p:cNvSpPr txBox="1"/>
          <p:nvPr/>
        </p:nvSpPr>
        <p:spPr>
          <a:xfrm>
            <a:off x="566928" y="2788920"/>
            <a:ext cx="1371600" cy="182880"/>
          </a:xfrm>
          <a:prstGeom prst="rect">
            <a:avLst/>
          </a:prstGeom>
          <a:noFill/>
          <a:ln/>
        </p:spPr>
        <p:txBody>
          <a:bodyPr wrap="square" lIns="0" tIns="0" rIns="0" bIns="0" rtlCol="0" anchor="t"/>
          <a:lstStyle/>
          <a:p>
            <a:pPr indent="0" marL="0">
              <a:buNone/>
            </a:pPr>
            <a:r>
              <a:rPr lang="en-US" sz="1000" b="1" spc="200" kern="0" dirty="0">
                <a:solidFill>
                  <a:schemeClr val="accent6"/>
                </a:solidFill>
              </a:rPr>
              <a:t>DOCUMENTS</a:t>
            </a:r>
            <a:endParaRPr lang="en-US" sz="1000" dirty="0"/>
          </a:p>
        </p:txBody>
      </p:sp>
      <p:sp>
        <p:nvSpPr>
          <p:cNvPr id="11" name="Text 8"/>
          <p:cNvSpPr txBox="1"/>
          <p:nvPr/>
        </p:nvSpPr>
        <p:spPr>
          <a:xfrm>
            <a:off x="566928" y="3017520"/>
            <a:ext cx="1371600" cy="868680"/>
          </a:xfrm>
          <a:prstGeom prst="rect">
            <a:avLst/>
          </a:prstGeom>
          <a:noFill/>
          <a:ln/>
        </p:spPr>
        <p:txBody>
          <a:bodyPr wrap="square" lIns="0" tIns="0" rIns="0" bIns="0" rtlCol="0" anchor="t"/>
          <a:lstStyle/>
          <a:p>
            <a:pPr indent="0" marL="0">
              <a:buNone/>
            </a:pPr>
            <a:r>
              <a:rPr lang="en-US" sz="1300" dirty="0">
                <a:solidFill>
                  <a:schemeClr val="tx1"/>
                </a:solidFill>
              </a:rPr>
              <a:t>Commercial invoice, packing list</a:t>
            </a:r>
            <a:endParaRPr lang="en-US" sz="1300" dirty="0"/>
          </a:p>
        </p:txBody>
      </p:sp>
      <p:sp>
        <p:nvSpPr>
          <p:cNvPr id="12" name="party Freight forwarder"/>
          <p:cNvSpPr/>
          <p:nvPr/>
        </p:nvSpPr>
        <p:spPr>
          <a:xfrm>
            <a:off x="2125980" y="1188720"/>
            <a:ext cx="1554480" cy="1325880"/>
          </a:xfrm>
          <a:prstGeom prst="roundRect">
            <a:avLst>
              <a:gd name="adj" fmla="val 6897"/>
            </a:avLst>
          </a:prstGeom>
          <a:solidFill>
            <a:schemeClr val="accent2"/>
          </a:solidFill>
          <a:ln w="12700">
            <a:solidFill>
              <a:schemeClr val="accent2"/>
            </a:solidFill>
            <a:prstDash val="solid"/>
          </a:ln>
        </p:spPr>
      </p:sp>
      <p:sp>
        <p:nvSpPr>
          <p:cNvPr id="13" name="Text 10"/>
          <p:cNvSpPr txBox="1"/>
          <p:nvPr/>
        </p:nvSpPr>
        <p:spPr>
          <a:xfrm>
            <a:off x="2235708" y="1280160"/>
            <a:ext cx="365760" cy="27432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1"/>
          <p:cNvSpPr txBox="1"/>
          <p:nvPr/>
        </p:nvSpPr>
        <p:spPr>
          <a:xfrm>
            <a:off x="2235708" y="1600200"/>
            <a:ext cx="1371600" cy="45720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Freight forwarder</a:t>
            </a:r>
            <a:endParaRPr lang="en-US" sz="1400" dirty="0"/>
          </a:p>
        </p:txBody>
      </p:sp>
      <p:sp>
        <p:nvSpPr>
          <p:cNvPr id="15" name="Text 12"/>
          <p:cNvSpPr txBox="1"/>
          <p:nvPr/>
        </p:nvSpPr>
        <p:spPr>
          <a:xfrm>
            <a:off x="2235708" y="2029968"/>
            <a:ext cx="1371600" cy="411480"/>
          </a:xfrm>
          <a:prstGeom prst="rect">
            <a:avLst/>
          </a:prstGeom>
          <a:noFill/>
          <a:ln/>
        </p:spPr>
        <p:txBody>
          <a:bodyPr wrap="square" lIns="0" tIns="0" rIns="0" bIns="0" rtlCol="0" anchor="t"/>
          <a:lstStyle/>
          <a:p>
            <a:pPr indent="0" marL="0">
              <a:buNone/>
            </a:pPr>
            <a:r>
              <a:rPr lang="en-US" sz="1200" dirty="0">
                <a:solidFill>
                  <a:srgbClr val="FFFFFF"/>
                </a:solidFill>
              </a:rPr>
              <a:t>Books the transport</a:t>
            </a:r>
            <a:endParaRPr lang="en-US" sz="1200" dirty="0"/>
          </a:p>
        </p:txBody>
      </p:sp>
      <p:sp>
        <p:nvSpPr>
          <p:cNvPr id="16" name="connector"/>
          <p:cNvSpPr/>
          <p:nvPr/>
        </p:nvSpPr>
        <p:spPr>
          <a:xfrm>
            <a:off x="2903220" y="2514600"/>
            <a:ext cx="0" cy="182880"/>
          </a:xfrm>
          <a:prstGeom prst="line">
            <a:avLst/>
          </a:prstGeom>
          <a:noFill/>
          <a:ln w="25400">
            <a:solidFill>
              <a:schemeClr val="accent2"/>
            </a:solidFill>
            <a:prstDash val="solid"/>
          </a:ln>
        </p:spPr>
      </p:sp>
      <p:sp>
        <p:nvSpPr>
          <p:cNvPr id="17" name="docs Freight forwarder"/>
          <p:cNvSpPr/>
          <p:nvPr/>
        </p:nvSpPr>
        <p:spPr>
          <a:xfrm>
            <a:off x="2125980" y="2697480"/>
            <a:ext cx="1554480" cy="1234440"/>
          </a:xfrm>
          <a:prstGeom prst="roundRect">
            <a:avLst>
              <a:gd name="adj" fmla="val 7407"/>
            </a:avLst>
          </a:prstGeom>
          <a:solidFill>
            <a:schemeClr val="bg2"/>
          </a:solidFill>
          <a:ln w="12700">
            <a:solidFill>
              <a:schemeClr val="bg2"/>
            </a:solidFill>
            <a:prstDash val="solid"/>
          </a:ln>
        </p:spPr>
      </p:sp>
      <p:sp>
        <p:nvSpPr>
          <p:cNvPr id="18" name="Text 15"/>
          <p:cNvSpPr txBox="1"/>
          <p:nvPr/>
        </p:nvSpPr>
        <p:spPr>
          <a:xfrm>
            <a:off x="2235708" y="2788920"/>
            <a:ext cx="1371600" cy="182880"/>
          </a:xfrm>
          <a:prstGeom prst="rect">
            <a:avLst/>
          </a:prstGeom>
          <a:noFill/>
          <a:ln/>
        </p:spPr>
        <p:txBody>
          <a:bodyPr wrap="square" lIns="0" tIns="0" rIns="0" bIns="0" rtlCol="0" anchor="t"/>
          <a:lstStyle/>
          <a:p>
            <a:pPr indent="0" marL="0">
              <a:buNone/>
            </a:pPr>
            <a:r>
              <a:rPr lang="en-US" sz="1000" b="1" spc="200" kern="0" dirty="0">
                <a:solidFill>
                  <a:schemeClr val="accent2"/>
                </a:solidFill>
              </a:rPr>
              <a:t>DOCUMENTS</a:t>
            </a:r>
            <a:endParaRPr lang="en-US" sz="1000" dirty="0"/>
          </a:p>
        </p:txBody>
      </p:sp>
      <p:sp>
        <p:nvSpPr>
          <p:cNvPr id="19" name="Text 16"/>
          <p:cNvSpPr txBox="1"/>
          <p:nvPr/>
        </p:nvSpPr>
        <p:spPr>
          <a:xfrm>
            <a:off x="2235708" y="3017520"/>
            <a:ext cx="1371600" cy="868680"/>
          </a:xfrm>
          <a:prstGeom prst="rect">
            <a:avLst/>
          </a:prstGeom>
          <a:noFill/>
          <a:ln/>
        </p:spPr>
        <p:txBody>
          <a:bodyPr wrap="square" lIns="0" tIns="0" rIns="0" bIns="0" rtlCol="0" anchor="t"/>
          <a:lstStyle/>
          <a:p>
            <a:pPr indent="0" marL="0">
              <a:buNone/>
            </a:pPr>
            <a:r>
              <a:rPr lang="en-US" sz="1300" dirty="0">
                <a:solidFill>
                  <a:schemeClr val="tx1"/>
                </a:solidFill>
              </a:rPr>
              <a:t>Booking, bill of lading or air waybill</a:t>
            </a:r>
            <a:endParaRPr lang="en-US" sz="1300" dirty="0"/>
          </a:p>
        </p:txBody>
      </p:sp>
      <p:sp>
        <p:nvSpPr>
          <p:cNvPr id="20" name="party Ship or airline"/>
          <p:cNvSpPr/>
          <p:nvPr/>
        </p:nvSpPr>
        <p:spPr>
          <a:xfrm>
            <a:off x="3794760" y="1188720"/>
            <a:ext cx="1554480" cy="1325880"/>
          </a:xfrm>
          <a:prstGeom prst="roundRect">
            <a:avLst>
              <a:gd name="adj" fmla="val 6897"/>
            </a:avLst>
          </a:prstGeom>
          <a:solidFill>
            <a:schemeClr val="accent6"/>
          </a:solidFill>
          <a:ln w="12700">
            <a:solidFill>
              <a:schemeClr val="accent6"/>
            </a:solidFill>
            <a:prstDash val="solid"/>
          </a:ln>
        </p:spPr>
      </p:sp>
      <p:sp>
        <p:nvSpPr>
          <p:cNvPr id="21" name="Text 18"/>
          <p:cNvSpPr txBox="1"/>
          <p:nvPr/>
        </p:nvSpPr>
        <p:spPr>
          <a:xfrm>
            <a:off x="3904488" y="1280160"/>
            <a:ext cx="365760" cy="27432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19"/>
          <p:cNvSpPr txBox="1"/>
          <p:nvPr/>
        </p:nvSpPr>
        <p:spPr>
          <a:xfrm>
            <a:off x="3904488" y="1600200"/>
            <a:ext cx="1371600" cy="45720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Ship or airline</a:t>
            </a:r>
            <a:endParaRPr lang="en-US" sz="1400" dirty="0"/>
          </a:p>
        </p:txBody>
      </p:sp>
      <p:sp>
        <p:nvSpPr>
          <p:cNvPr id="23" name="Text 20"/>
          <p:cNvSpPr txBox="1"/>
          <p:nvPr/>
        </p:nvSpPr>
        <p:spPr>
          <a:xfrm>
            <a:off x="3904488" y="2029968"/>
            <a:ext cx="1371600" cy="411480"/>
          </a:xfrm>
          <a:prstGeom prst="rect">
            <a:avLst/>
          </a:prstGeom>
          <a:noFill/>
          <a:ln/>
        </p:spPr>
        <p:txBody>
          <a:bodyPr wrap="square" lIns="0" tIns="0" rIns="0" bIns="0" rtlCol="0" anchor="t"/>
          <a:lstStyle/>
          <a:p>
            <a:pPr indent="0" marL="0">
              <a:buNone/>
            </a:pPr>
            <a:r>
              <a:rPr lang="en-US" sz="1200" dirty="0">
                <a:solidFill>
                  <a:srgbClr val="FFFFFF"/>
                </a:solidFill>
              </a:rPr>
              <a:t>Carries the goods</a:t>
            </a:r>
            <a:endParaRPr lang="en-US" sz="1200" dirty="0"/>
          </a:p>
        </p:txBody>
      </p:sp>
      <p:sp>
        <p:nvSpPr>
          <p:cNvPr id="24" name="connector"/>
          <p:cNvSpPr/>
          <p:nvPr/>
        </p:nvSpPr>
        <p:spPr>
          <a:xfrm>
            <a:off x="4572000" y="2514600"/>
            <a:ext cx="0" cy="182880"/>
          </a:xfrm>
          <a:prstGeom prst="line">
            <a:avLst/>
          </a:prstGeom>
          <a:noFill/>
          <a:ln w="25400">
            <a:solidFill>
              <a:schemeClr val="accent6"/>
            </a:solidFill>
            <a:prstDash val="solid"/>
          </a:ln>
        </p:spPr>
      </p:sp>
      <p:sp>
        <p:nvSpPr>
          <p:cNvPr id="25" name="docs Ship or airline"/>
          <p:cNvSpPr/>
          <p:nvPr/>
        </p:nvSpPr>
        <p:spPr>
          <a:xfrm>
            <a:off x="3794760" y="2697480"/>
            <a:ext cx="1554480" cy="1234440"/>
          </a:xfrm>
          <a:prstGeom prst="roundRect">
            <a:avLst>
              <a:gd name="adj" fmla="val 7407"/>
            </a:avLst>
          </a:prstGeom>
          <a:solidFill>
            <a:schemeClr val="bg2"/>
          </a:solidFill>
          <a:ln w="12700">
            <a:solidFill>
              <a:schemeClr val="bg2"/>
            </a:solidFill>
            <a:prstDash val="solid"/>
          </a:ln>
        </p:spPr>
      </p:sp>
      <p:sp>
        <p:nvSpPr>
          <p:cNvPr id="26" name="Text 23"/>
          <p:cNvSpPr txBox="1"/>
          <p:nvPr/>
        </p:nvSpPr>
        <p:spPr>
          <a:xfrm>
            <a:off x="3904488" y="2788920"/>
            <a:ext cx="1371600" cy="182880"/>
          </a:xfrm>
          <a:prstGeom prst="rect">
            <a:avLst/>
          </a:prstGeom>
          <a:noFill/>
          <a:ln/>
        </p:spPr>
        <p:txBody>
          <a:bodyPr wrap="square" lIns="0" tIns="0" rIns="0" bIns="0" rtlCol="0" anchor="t"/>
          <a:lstStyle/>
          <a:p>
            <a:pPr indent="0" marL="0">
              <a:buNone/>
            </a:pPr>
            <a:r>
              <a:rPr lang="en-US" sz="1000" b="1" spc="200" kern="0" dirty="0">
                <a:solidFill>
                  <a:schemeClr val="accent6"/>
                </a:solidFill>
              </a:rPr>
              <a:t>DOCUMENTS</a:t>
            </a:r>
            <a:endParaRPr lang="en-US" sz="1000" dirty="0"/>
          </a:p>
        </p:txBody>
      </p:sp>
      <p:sp>
        <p:nvSpPr>
          <p:cNvPr id="27" name="Text 24"/>
          <p:cNvSpPr txBox="1"/>
          <p:nvPr/>
        </p:nvSpPr>
        <p:spPr>
          <a:xfrm>
            <a:off x="3904488" y="3017520"/>
            <a:ext cx="1371600" cy="868680"/>
          </a:xfrm>
          <a:prstGeom prst="rect">
            <a:avLst/>
          </a:prstGeom>
          <a:noFill/>
          <a:ln/>
        </p:spPr>
        <p:txBody>
          <a:bodyPr wrap="square" lIns="0" tIns="0" rIns="0" bIns="0" rtlCol="0" anchor="t"/>
          <a:lstStyle/>
          <a:p>
            <a:pPr indent="0" marL="0">
              <a:buNone/>
            </a:pPr>
            <a:r>
              <a:rPr lang="en-US" sz="1300" dirty="0">
                <a:solidFill>
                  <a:schemeClr val="tx1"/>
                </a:solidFill>
              </a:rPr>
              <a:t>Bill of lading or air waybill</a:t>
            </a:r>
            <a:endParaRPr lang="en-US" sz="1300" dirty="0"/>
          </a:p>
        </p:txBody>
      </p:sp>
      <p:sp>
        <p:nvSpPr>
          <p:cNvPr id="28" name="party Customs and agent"/>
          <p:cNvSpPr/>
          <p:nvPr/>
        </p:nvSpPr>
        <p:spPr>
          <a:xfrm>
            <a:off x="5463540" y="1188720"/>
            <a:ext cx="1554480" cy="1325880"/>
          </a:xfrm>
          <a:prstGeom prst="roundRect">
            <a:avLst>
              <a:gd name="adj" fmla="val 6897"/>
            </a:avLst>
          </a:prstGeom>
          <a:solidFill>
            <a:schemeClr val="accent2"/>
          </a:solidFill>
          <a:ln w="12700">
            <a:solidFill>
              <a:schemeClr val="accent2"/>
            </a:solidFill>
            <a:prstDash val="solid"/>
          </a:ln>
        </p:spPr>
      </p:sp>
      <p:sp>
        <p:nvSpPr>
          <p:cNvPr id="29" name="Text 26"/>
          <p:cNvSpPr txBox="1"/>
          <p:nvPr/>
        </p:nvSpPr>
        <p:spPr>
          <a:xfrm>
            <a:off x="5573268" y="1280160"/>
            <a:ext cx="365760" cy="27432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0" name="Text 27"/>
          <p:cNvSpPr txBox="1"/>
          <p:nvPr/>
        </p:nvSpPr>
        <p:spPr>
          <a:xfrm>
            <a:off x="5573268" y="1600200"/>
            <a:ext cx="1371600" cy="45720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Customs and agent</a:t>
            </a:r>
            <a:endParaRPr lang="en-US" sz="1400" dirty="0"/>
          </a:p>
        </p:txBody>
      </p:sp>
      <p:sp>
        <p:nvSpPr>
          <p:cNvPr id="31" name="Text 28"/>
          <p:cNvSpPr txBox="1"/>
          <p:nvPr/>
        </p:nvSpPr>
        <p:spPr>
          <a:xfrm>
            <a:off x="5573268" y="2029968"/>
            <a:ext cx="1371600" cy="411480"/>
          </a:xfrm>
          <a:prstGeom prst="rect">
            <a:avLst/>
          </a:prstGeom>
          <a:noFill/>
          <a:ln/>
        </p:spPr>
        <p:txBody>
          <a:bodyPr wrap="square" lIns="0" tIns="0" rIns="0" bIns="0" rtlCol="0" anchor="t"/>
          <a:lstStyle/>
          <a:p>
            <a:pPr indent="0" marL="0">
              <a:buNone/>
            </a:pPr>
            <a:r>
              <a:rPr lang="en-US" sz="1200" dirty="0">
                <a:solidFill>
                  <a:srgbClr val="FFFFFF"/>
                </a:solidFill>
              </a:rPr>
              <a:t>Checks, values, taxes</a:t>
            </a:r>
            <a:endParaRPr lang="en-US" sz="1200" dirty="0"/>
          </a:p>
        </p:txBody>
      </p:sp>
      <p:sp>
        <p:nvSpPr>
          <p:cNvPr id="32" name="connector"/>
          <p:cNvSpPr/>
          <p:nvPr/>
        </p:nvSpPr>
        <p:spPr>
          <a:xfrm>
            <a:off x="6240780" y="2514600"/>
            <a:ext cx="0" cy="182880"/>
          </a:xfrm>
          <a:prstGeom prst="line">
            <a:avLst/>
          </a:prstGeom>
          <a:noFill/>
          <a:ln w="25400">
            <a:solidFill>
              <a:schemeClr val="accent2"/>
            </a:solidFill>
            <a:prstDash val="solid"/>
          </a:ln>
        </p:spPr>
      </p:sp>
      <p:sp>
        <p:nvSpPr>
          <p:cNvPr id="33" name="docs Customs and agent"/>
          <p:cNvSpPr/>
          <p:nvPr/>
        </p:nvSpPr>
        <p:spPr>
          <a:xfrm>
            <a:off x="5463540" y="2697480"/>
            <a:ext cx="1554480" cy="1234440"/>
          </a:xfrm>
          <a:prstGeom prst="roundRect">
            <a:avLst>
              <a:gd name="adj" fmla="val 7407"/>
            </a:avLst>
          </a:prstGeom>
          <a:solidFill>
            <a:schemeClr val="bg2"/>
          </a:solidFill>
          <a:ln w="12700">
            <a:solidFill>
              <a:schemeClr val="bg2"/>
            </a:solidFill>
            <a:prstDash val="solid"/>
          </a:ln>
        </p:spPr>
      </p:sp>
      <p:sp>
        <p:nvSpPr>
          <p:cNvPr id="34" name="Text 31"/>
          <p:cNvSpPr txBox="1"/>
          <p:nvPr/>
        </p:nvSpPr>
        <p:spPr>
          <a:xfrm>
            <a:off x="5573268" y="2788920"/>
            <a:ext cx="1371600" cy="182880"/>
          </a:xfrm>
          <a:prstGeom prst="rect">
            <a:avLst/>
          </a:prstGeom>
          <a:noFill/>
          <a:ln/>
        </p:spPr>
        <p:txBody>
          <a:bodyPr wrap="square" lIns="0" tIns="0" rIns="0" bIns="0" rtlCol="0" anchor="t"/>
          <a:lstStyle/>
          <a:p>
            <a:pPr indent="0" marL="0">
              <a:buNone/>
            </a:pPr>
            <a:r>
              <a:rPr lang="en-US" sz="1000" b="1" spc="200" kern="0" dirty="0">
                <a:solidFill>
                  <a:schemeClr val="accent2"/>
                </a:solidFill>
              </a:rPr>
              <a:t>DOCUMENTS</a:t>
            </a:r>
            <a:endParaRPr lang="en-US" sz="1000" dirty="0"/>
          </a:p>
        </p:txBody>
      </p:sp>
      <p:sp>
        <p:nvSpPr>
          <p:cNvPr id="35" name="Text 32"/>
          <p:cNvSpPr txBox="1"/>
          <p:nvPr/>
        </p:nvSpPr>
        <p:spPr>
          <a:xfrm>
            <a:off x="5573268" y="3017520"/>
            <a:ext cx="1371600" cy="868680"/>
          </a:xfrm>
          <a:prstGeom prst="rect">
            <a:avLst/>
          </a:prstGeom>
          <a:noFill/>
          <a:ln/>
        </p:spPr>
        <p:txBody>
          <a:bodyPr wrap="square" lIns="0" tIns="0" rIns="0" bIns="0" rtlCol="0" anchor="t"/>
          <a:lstStyle/>
          <a:p>
            <a:pPr indent="0" marL="0">
              <a:buNone/>
            </a:pPr>
            <a:r>
              <a:rPr lang="en-US" sz="1300" dirty="0">
                <a:solidFill>
                  <a:schemeClr val="tx1"/>
                </a:solidFill>
              </a:rPr>
              <a:t>Form M, PAAR, duty receipt</a:t>
            </a:r>
            <a:endParaRPr lang="en-US" sz="1300" dirty="0"/>
          </a:p>
        </p:txBody>
      </p:sp>
      <p:sp>
        <p:nvSpPr>
          <p:cNvPr id="36" name="party You, the importer"/>
          <p:cNvSpPr/>
          <p:nvPr/>
        </p:nvSpPr>
        <p:spPr>
          <a:xfrm>
            <a:off x="7132320" y="1188720"/>
            <a:ext cx="1554480" cy="1325880"/>
          </a:xfrm>
          <a:prstGeom prst="roundRect">
            <a:avLst>
              <a:gd name="adj" fmla="val 6897"/>
            </a:avLst>
          </a:prstGeom>
          <a:solidFill>
            <a:schemeClr val="accent6"/>
          </a:solidFill>
          <a:ln w="12700">
            <a:solidFill>
              <a:schemeClr val="accent6"/>
            </a:solidFill>
            <a:prstDash val="solid"/>
          </a:ln>
        </p:spPr>
      </p:sp>
      <p:sp>
        <p:nvSpPr>
          <p:cNvPr id="37" name="Text 34"/>
          <p:cNvSpPr txBox="1"/>
          <p:nvPr/>
        </p:nvSpPr>
        <p:spPr>
          <a:xfrm>
            <a:off x="7242048" y="1280160"/>
            <a:ext cx="365760" cy="27432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8" name="Text 35"/>
          <p:cNvSpPr txBox="1"/>
          <p:nvPr/>
        </p:nvSpPr>
        <p:spPr>
          <a:xfrm>
            <a:off x="7242048" y="1600200"/>
            <a:ext cx="1371600" cy="45720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You, the importer</a:t>
            </a:r>
            <a:endParaRPr lang="en-US" sz="1400" dirty="0"/>
          </a:p>
        </p:txBody>
      </p:sp>
      <p:sp>
        <p:nvSpPr>
          <p:cNvPr id="39" name="Text 36"/>
          <p:cNvSpPr txBox="1"/>
          <p:nvPr/>
        </p:nvSpPr>
        <p:spPr>
          <a:xfrm>
            <a:off x="7242048" y="2029968"/>
            <a:ext cx="1371600" cy="411480"/>
          </a:xfrm>
          <a:prstGeom prst="rect">
            <a:avLst/>
          </a:prstGeom>
          <a:noFill/>
          <a:ln/>
        </p:spPr>
        <p:txBody>
          <a:bodyPr wrap="square" lIns="0" tIns="0" rIns="0" bIns="0" rtlCol="0" anchor="t"/>
          <a:lstStyle/>
          <a:p>
            <a:pPr indent="0" marL="0">
              <a:buNone/>
            </a:pPr>
            <a:r>
              <a:rPr lang="en-US" sz="1200" dirty="0">
                <a:solidFill>
                  <a:srgbClr val="FFFFFF"/>
                </a:solidFill>
              </a:rPr>
              <a:t>Receives and sells</a:t>
            </a:r>
            <a:endParaRPr lang="en-US" sz="1200" dirty="0"/>
          </a:p>
        </p:txBody>
      </p:sp>
      <p:sp>
        <p:nvSpPr>
          <p:cNvPr id="40" name="connector"/>
          <p:cNvSpPr/>
          <p:nvPr/>
        </p:nvSpPr>
        <p:spPr>
          <a:xfrm>
            <a:off x="7909560" y="2514600"/>
            <a:ext cx="0" cy="182880"/>
          </a:xfrm>
          <a:prstGeom prst="line">
            <a:avLst/>
          </a:prstGeom>
          <a:noFill/>
          <a:ln w="25400">
            <a:solidFill>
              <a:schemeClr val="accent6"/>
            </a:solidFill>
            <a:prstDash val="solid"/>
          </a:ln>
        </p:spPr>
      </p:sp>
      <p:sp>
        <p:nvSpPr>
          <p:cNvPr id="41" name="docs You, the importer"/>
          <p:cNvSpPr/>
          <p:nvPr/>
        </p:nvSpPr>
        <p:spPr>
          <a:xfrm>
            <a:off x="7132320" y="2697480"/>
            <a:ext cx="1554480" cy="1234440"/>
          </a:xfrm>
          <a:prstGeom prst="roundRect">
            <a:avLst>
              <a:gd name="adj" fmla="val 7407"/>
            </a:avLst>
          </a:prstGeom>
          <a:solidFill>
            <a:schemeClr val="bg2"/>
          </a:solidFill>
          <a:ln w="12700">
            <a:solidFill>
              <a:schemeClr val="bg2"/>
            </a:solidFill>
            <a:prstDash val="solid"/>
          </a:ln>
        </p:spPr>
      </p:sp>
      <p:sp>
        <p:nvSpPr>
          <p:cNvPr id="42" name="Text 39"/>
          <p:cNvSpPr txBox="1"/>
          <p:nvPr/>
        </p:nvSpPr>
        <p:spPr>
          <a:xfrm>
            <a:off x="7242048" y="2788920"/>
            <a:ext cx="1371600" cy="182880"/>
          </a:xfrm>
          <a:prstGeom prst="rect">
            <a:avLst/>
          </a:prstGeom>
          <a:noFill/>
          <a:ln/>
        </p:spPr>
        <p:txBody>
          <a:bodyPr wrap="square" lIns="0" tIns="0" rIns="0" bIns="0" rtlCol="0" anchor="t"/>
          <a:lstStyle/>
          <a:p>
            <a:pPr indent="0" marL="0">
              <a:buNone/>
            </a:pPr>
            <a:r>
              <a:rPr lang="en-US" sz="1000" b="1" spc="200" kern="0" dirty="0">
                <a:solidFill>
                  <a:schemeClr val="accent6"/>
                </a:solidFill>
              </a:rPr>
              <a:t>DOCUMENTS</a:t>
            </a:r>
            <a:endParaRPr lang="en-US" sz="1000" dirty="0"/>
          </a:p>
        </p:txBody>
      </p:sp>
      <p:sp>
        <p:nvSpPr>
          <p:cNvPr id="43" name="Text 40"/>
          <p:cNvSpPr txBox="1"/>
          <p:nvPr/>
        </p:nvSpPr>
        <p:spPr>
          <a:xfrm>
            <a:off x="7242048" y="3017520"/>
            <a:ext cx="1371600" cy="868680"/>
          </a:xfrm>
          <a:prstGeom prst="rect">
            <a:avLst/>
          </a:prstGeom>
          <a:noFill/>
          <a:ln/>
        </p:spPr>
        <p:txBody>
          <a:bodyPr wrap="square" lIns="0" tIns="0" rIns="0" bIns="0" rtlCol="0" anchor="t"/>
          <a:lstStyle/>
          <a:p>
            <a:pPr indent="0" marL="0">
              <a:buNone/>
            </a:pPr>
            <a:r>
              <a:rPr lang="en-US" sz="1300" dirty="0">
                <a:solidFill>
                  <a:schemeClr val="tx1"/>
                </a:solidFill>
              </a:rPr>
              <a:t>Release order, delivery note</a:t>
            </a:r>
            <a:endParaRPr lang="en-US" sz="1300" dirty="0"/>
          </a:p>
        </p:txBody>
      </p:sp>
      <p:sp>
        <p:nvSpPr>
          <p:cNvPr id="44" name="warning bar"/>
          <p:cNvSpPr/>
          <p:nvPr/>
        </p:nvSpPr>
        <p:spPr>
          <a:xfrm>
            <a:off x="457200" y="4069080"/>
            <a:ext cx="8229600" cy="548640"/>
          </a:xfrm>
          <a:prstGeom prst="roundRect">
            <a:avLst>
              <a:gd name="adj" fmla="val 13333"/>
            </a:avLst>
          </a:prstGeom>
          <a:solidFill>
            <a:srgbClr val="FBEAE6"/>
          </a:solidFill>
          <a:ln w="12700">
            <a:solidFill>
              <a:srgbClr val="FBEAE6"/>
            </a:solidFill>
            <a:prstDash val="solid"/>
          </a:ln>
        </p:spPr>
      </p:sp>
      <p:pic>
        <p:nvPicPr>
          <p:cNvPr id="45" name="warn" descr="warning">    </p:cNvPr>
          <p:cNvPicPr>
            <a:picLocks noChangeAspect="1"/>
          </p:cNvPicPr>
          <p:nvPr/>
        </p:nvPicPr>
        <p:blipFill>
          <a:blip r:embed="rId1"/>
          <a:stretch>
            <a:fillRect/>
          </a:stretch>
        </p:blipFill>
        <p:spPr>
          <a:xfrm>
            <a:off x="640080" y="4169664"/>
            <a:ext cx="347472" cy="347472"/>
          </a:xfrm>
          <a:prstGeom prst="rect">
            <a:avLst/>
          </a:prstGeom>
        </p:spPr>
      </p:pic>
      <p:sp>
        <p:nvSpPr>
          <p:cNvPr id="46" name="Text 42"/>
          <p:cNvSpPr txBox="1"/>
          <p:nvPr/>
        </p:nvSpPr>
        <p:spPr>
          <a:xfrm>
            <a:off x="1188720" y="4133088"/>
            <a:ext cx="7315200" cy="420624"/>
          </a:xfrm>
          <a:prstGeom prst="rect">
            <a:avLst/>
          </a:prstGeom>
          <a:noFill/>
          <a:ln/>
        </p:spPr>
        <p:txBody>
          <a:bodyPr wrap="square" lIns="0" tIns="0" rIns="0" bIns="0" rtlCol="0" anchor="ctr"/>
          <a:lstStyle/>
          <a:p>
            <a:pPr indent="0" marL="0">
              <a:buNone/>
            </a:pPr>
            <a:r>
              <a:rPr lang="en-US" sz="1400" b="1" dirty="0">
                <a:solidFill>
                  <a:schemeClr val="tx1"/>
                </a:solidFill>
              </a:rPr>
              <a:t>All documents must match. Never understate the value or change a description to cut duty: it is an offence.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HS codes, duty and customs value</a:t>
            </a:r>
            <a:endParaRPr lang="en-US" sz="2800" dirty="0"/>
          </a:p>
        </p:txBody>
      </p:sp>
      <p:pic>
        <p:nvPicPr>
          <p:cNvPr id="4" name="A customs officer inspecting drums with a scanner" descr="A customs officer inspecting drums with a scanner">    </p:cNvPr>
          <p:cNvPicPr>
            <a:picLocks noChangeAspect="1"/>
          </p:cNvPicPr>
          <p:nvPr/>
        </p:nvPicPr>
        <p:blipFill>
          <a:blip r:embed="rId1"/>
          <a:stretch>
            <a:fillRect/>
          </a:stretch>
        </p:blipFill>
        <p:spPr>
          <a:xfrm>
            <a:off x="5120640" y="1188720"/>
            <a:ext cx="3566160" cy="3108960"/>
          </a:xfrm>
          <a:prstGeom prst="rect">
            <a:avLst/>
          </a:prstGeom>
        </p:spPr>
      </p:pic>
      <p:sp>
        <p:nvSpPr>
          <p:cNvPr id="5" name="Text 1"/>
          <p:cNvSpPr txBox="1"/>
          <p:nvPr/>
        </p:nvSpPr>
        <p:spPr>
          <a:xfrm>
            <a:off x="5120640" y="4343400"/>
            <a:ext cx="3566160" cy="201168"/>
          </a:xfrm>
          <a:prstGeom prst="rect">
            <a:avLst/>
          </a:prstGeom>
          <a:noFill/>
          <a:ln/>
        </p:spPr>
        <p:txBody>
          <a:bodyPr wrap="square" lIns="0" tIns="0" rIns="0" bIns="0" rtlCol="0" anchor="t"/>
          <a:lstStyle/>
          <a:p>
            <a:pPr indent="0" marL="0">
              <a:buNone/>
            </a:pPr>
            <a:r>
              <a:rPr lang="en-US" sz="1000" i="1" dirty="0">
                <a:solidFill>
                  <a:schemeClr val="accent4"/>
                </a:solidFill>
              </a:rPr>
              <a:t>Customs check. Photo: CBP, public domain</a:t>
            </a:r>
            <a:endParaRPr lang="en-US" sz="1000" dirty="0"/>
          </a:p>
        </p:txBody>
      </p:sp>
      <p:sp>
        <p:nvSpPr>
          <p:cNvPr id="6" name="hs row 0"/>
          <p:cNvSpPr/>
          <p:nvPr/>
        </p:nvSpPr>
        <p:spPr>
          <a:xfrm>
            <a:off x="457200" y="1188720"/>
            <a:ext cx="4480560" cy="694944"/>
          </a:xfrm>
          <a:prstGeom prst="roundRect">
            <a:avLst>
              <a:gd name="adj" fmla="val 10526"/>
            </a:avLst>
          </a:prstGeom>
          <a:solidFill>
            <a:schemeClr val="bg2"/>
          </a:solidFill>
          <a:ln w="12700">
            <a:solidFill>
              <a:schemeClr val="bg2"/>
            </a:solidFill>
            <a:prstDash val="solid"/>
          </a:ln>
        </p:spPr>
      </p:sp>
      <p:sp>
        <p:nvSpPr>
          <p:cNvPr id="7" name="num"/>
          <p:cNvSpPr/>
          <p:nvPr/>
        </p:nvSpPr>
        <p:spPr>
          <a:xfrm>
            <a:off x="594360" y="1316736"/>
            <a:ext cx="438912" cy="438912"/>
          </a:xfrm>
          <a:prstGeom prst="ellipse">
            <a:avLst/>
          </a:prstGeom>
          <a:solidFill>
            <a:schemeClr val="accent6"/>
          </a:solidFill>
          <a:ln w="12700">
            <a:solidFill>
              <a:schemeClr val="accent6"/>
            </a:solidFill>
            <a:prstDash val="solid"/>
          </a:ln>
        </p:spPr>
      </p:sp>
      <p:sp>
        <p:nvSpPr>
          <p:cNvPr id="8" name="Text 4"/>
          <p:cNvSpPr txBox="1"/>
          <p:nvPr/>
        </p:nvSpPr>
        <p:spPr>
          <a:xfrm>
            <a:off x="594360" y="131673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9" name="Text 5"/>
          <p:cNvSpPr txBox="1"/>
          <p:nvPr/>
        </p:nvSpPr>
        <p:spPr>
          <a:xfrm>
            <a:off x="1188720" y="1280160"/>
            <a:ext cx="3657600" cy="548640"/>
          </a:xfrm>
          <a:prstGeom prst="rect">
            <a:avLst/>
          </a:prstGeom>
          <a:noFill/>
          <a:ln/>
        </p:spPr>
        <p:txBody>
          <a:bodyPr wrap="square" lIns="0" tIns="0" rIns="0" bIns="0" rtlCol="0" anchor="t"/>
          <a:lstStyle/>
          <a:p>
            <a:pPr indent="0" marL="0">
              <a:buNone/>
            </a:pPr>
            <a:r>
              <a:rPr lang="en-US" sz="1400" b="1" dirty="0">
                <a:solidFill>
                  <a:schemeClr val="tx1"/>
                </a:solidFill>
              </a:rPr>
              <a:t>HS code</a:t>
            </a:r>
            <a:endParaRPr lang="en-US" sz="1400" dirty="0"/>
          </a:p>
          <a:p>
            <a:pPr indent="0" marL="0">
              <a:buNone/>
            </a:pPr>
            <a:r>
              <a:rPr lang="en-US" sz="1400" dirty="0">
                <a:solidFill>
                  <a:schemeClr val="tx1"/>
                </a:solidFill>
              </a:rPr>
              <a:t>decides your duty rate and permits</a:t>
            </a:r>
            <a:endParaRPr lang="en-US" sz="1400" dirty="0"/>
          </a:p>
        </p:txBody>
      </p:sp>
      <p:sp>
        <p:nvSpPr>
          <p:cNvPr id="10" name="hs row 1"/>
          <p:cNvSpPr/>
          <p:nvPr/>
        </p:nvSpPr>
        <p:spPr>
          <a:xfrm>
            <a:off x="457200" y="1975104"/>
            <a:ext cx="4480560" cy="694944"/>
          </a:xfrm>
          <a:prstGeom prst="roundRect">
            <a:avLst>
              <a:gd name="adj" fmla="val 10526"/>
            </a:avLst>
          </a:prstGeom>
          <a:solidFill>
            <a:srgbClr val="FFFFFF"/>
          </a:solidFill>
          <a:ln w="12700">
            <a:solidFill>
              <a:srgbClr val="FFFFFF"/>
            </a:solidFill>
            <a:prstDash val="solid"/>
          </a:ln>
        </p:spPr>
      </p:sp>
      <p:sp>
        <p:nvSpPr>
          <p:cNvPr id="11" name="num"/>
          <p:cNvSpPr/>
          <p:nvPr/>
        </p:nvSpPr>
        <p:spPr>
          <a:xfrm>
            <a:off x="594360" y="2103120"/>
            <a:ext cx="438912" cy="438912"/>
          </a:xfrm>
          <a:prstGeom prst="ellipse">
            <a:avLst/>
          </a:prstGeom>
          <a:solidFill>
            <a:schemeClr val="accent6"/>
          </a:solidFill>
          <a:ln w="12700">
            <a:solidFill>
              <a:schemeClr val="accent6"/>
            </a:solidFill>
            <a:prstDash val="solid"/>
          </a:ln>
        </p:spPr>
      </p:sp>
      <p:sp>
        <p:nvSpPr>
          <p:cNvPr id="12" name="Text 8"/>
          <p:cNvSpPr txBox="1"/>
          <p:nvPr/>
        </p:nvSpPr>
        <p:spPr>
          <a:xfrm>
            <a:off x="594360" y="210312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9"/>
          <p:cNvSpPr txBox="1"/>
          <p:nvPr/>
        </p:nvSpPr>
        <p:spPr>
          <a:xfrm>
            <a:off x="1188720" y="2066544"/>
            <a:ext cx="3657600" cy="548640"/>
          </a:xfrm>
          <a:prstGeom prst="rect">
            <a:avLst/>
          </a:prstGeom>
          <a:noFill/>
          <a:ln/>
        </p:spPr>
        <p:txBody>
          <a:bodyPr wrap="square" lIns="0" tIns="0" rIns="0" bIns="0" rtlCol="0" anchor="t"/>
          <a:lstStyle/>
          <a:p>
            <a:pPr indent="0" marL="0">
              <a:buNone/>
            </a:pPr>
            <a:r>
              <a:rPr lang="en-US" sz="1400" b="1" dirty="0">
                <a:solidFill>
                  <a:schemeClr val="tx1"/>
                </a:solidFill>
              </a:rPr>
              <a:t>CIF value</a:t>
            </a:r>
            <a:endParaRPr lang="en-US" sz="1400" dirty="0"/>
          </a:p>
          <a:p>
            <a:pPr indent="0" marL="0">
              <a:buNone/>
            </a:pPr>
            <a:r>
              <a:rPr lang="en-US" sz="1400" dirty="0">
                <a:solidFill>
                  <a:schemeClr val="tx1"/>
                </a:solidFill>
              </a:rPr>
              <a:t>product + freight + insurance</a:t>
            </a:r>
            <a:endParaRPr lang="en-US" sz="1400" dirty="0"/>
          </a:p>
        </p:txBody>
      </p:sp>
      <p:sp>
        <p:nvSpPr>
          <p:cNvPr id="14" name="hs row 2"/>
          <p:cNvSpPr/>
          <p:nvPr/>
        </p:nvSpPr>
        <p:spPr>
          <a:xfrm>
            <a:off x="457200" y="2761488"/>
            <a:ext cx="4480560" cy="694944"/>
          </a:xfrm>
          <a:prstGeom prst="roundRect">
            <a:avLst>
              <a:gd name="adj" fmla="val 10526"/>
            </a:avLst>
          </a:prstGeom>
          <a:solidFill>
            <a:schemeClr val="bg2"/>
          </a:solidFill>
          <a:ln w="12700">
            <a:solidFill>
              <a:schemeClr val="bg2"/>
            </a:solidFill>
            <a:prstDash val="solid"/>
          </a:ln>
        </p:spPr>
      </p:sp>
      <p:sp>
        <p:nvSpPr>
          <p:cNvPr id="15" name="num"/>
          <p:cNvSpPr/>
          <p:nvPr/>
        </p:nvSpPr>
        <p:spPr>
          <a:xfrm>
            <a:off x="594360" y="2889504"/>
            <a:ext cx="438912" cy="438912"/>
          </a:xfrm>
          <a:prstGeom prst="ellipse">
            <a:avLst/>
          </a:prstGeom>
          <a:solidFill>
            <a:schemeClr val="accent6"/>
          </a:solidFill>
          <a:ln w="12700">
            <a:solidFill>
              <a:schemeClr val="accent6"/>
            </a:solidFill>
            <a:prstDash val="solid"/>
          </a:ln>
        </p:spPr>
      </p:sp>
      <p:sp>
        <p:nvSpPr>
          <p:cNvPr id="16" name="Text 12"/>
          <p:cNvSpPr txBox="1"/>
          <p:nvPr/>
        </p:nvSpPr>
        <p:spPr>
          <a:xfrm>
            <a:off x="594360" y="28895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3"/>
          <p:cNvSpPr txBox="1"/>
          <p:nvPr/>
        </p:nvSpPr>
        <p:spPr>
          <a:xfrm>
            <a:off x="1188720" y="2852928"/>
            <a:ext cx="3657600" cy="548640"/>
          </a:xfrm>
          <a:prstGeom prst="rect">
            <a:avLst/>
          </a:prstGeom>
          <a:noFill/>
          <a:ln/>
        </p:spPr>
        <p:txBody>
          <a:bodyPr wrap="square" lIns="0" tIns="0" rIns="0" bIns="0" rtlCol="0" anchor="t"/>
          <a:lstStyle/>
          <a:p>
            <a:pPr indent="0" marL="0">
              <a:buNone/>
            </a:pPr>
            <a:r>
              <a:rPr lang="en-US" sz="1400" b="1" dirty="0">
                <a:solidFill>
                  <a:schemeClr val="tx1"/>
                </a:solidFill>
              </a:rPr>
              <a:t>Duty</a:t>
            </a:r>
            <a:endParaRPr lang="en-US" sz="1400" dirty="0"/>
          </a:p>
          <a:p>
            <a:pPr indent="0" marL="0">
              <a:buNone/>
            </a:pPr>
            <a:r>
              <a:rPr lang="en-US" sz="1400" dirty="0">
                <a:solidFill>
                  <a:schemeClr val="tx1"/>
                </a:solidFill>
              </a:rPr>
              <a:t>% of the naira CIF value</a:t>
            </a:r>
            <a:endParaRPr lang="en-US" sz="1400" dirty="0"/>
          </a:p>
        </p:txBody>
      </p:sp>
      <p:sp>
        <p:nvSpPr>
          <p:cNvPr id="18" name="hs row 3"/>
          <p:cNvSpPr/>
          <p:nvPr/>
        </p:nvSpPr>
        <p:spPr>
          <a:xfrm>
            <a:off x="457200" y="3547872"/>
            <a:ext cx="4480560" cy="694944"/>
          </a:xfrm>
          <a:prstGeom prst="roundRect">
            <a:avLst>
              <a:gd name="adj" fmla="val 10526"/>
            </a:avLst>
          </a:prstGeom>
          <a:solidFill>
            <a:srgbClr val="FFFFFF"/>
          </a:solidFill>
          <a:ln w="12700">
            <a:solidFill>
              <a:srgbClr val="FFFFFF"/>
            </a:solidFill>
            <a:prstDash val="solid"/>
          </a:ln>
        </p:spPr>
      </p:sp>
      <p:sp>
        <p:nvSpPr>
          <p:cNvPr id="19" name="num"/>
          <p:cNvSpPr/>
          <p:nvPr/>
        </p:nvSpPr>
        <p:spPr>
          <a:xfrm>
            <a:off x="594360" y="3675888"/>
            <a:ext cx="438912" cy="438912"/>
          </a:xfrm>
          <a:prstGeom prst="ellipse">
            <a:avLst/>
          </a:prstGeom>
          <a:solidFill>
            <a:schemeClr val="accent6"/>
          </a:solidFill>
          <a:ln w="12700">
            <a:solidFill>
              <a:schemeClr val="accent6"/>
            </a:solidFill>
            <a:prstDash val="solid"/>
          </a:ln>
        </p:spPr>
      </p:sp>
      <p:sp>
        <p:nvSpPr>
          <p:cNvPr id="20" name="Text 16"/>
          <p:cNvSpPr txBox="1"/>
          <p:nvPr/>
        </p:nvSpPr>
        <p:spPr>
          <a:xfrm>
            <a:off x="594360" y="367588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7"/>
          <p:cNvSpPr txBox="1"/>
          <p:nvPr/>
        </p:nvSpPr>
        <p:spPr>
          <a:xfrm>
            <a:off x="1188720" y="3639312"/>
            <a:ext cx="3657600" cy="548640"/>
          </a:xfrm>
          <a:prstGeom prst="rect">
            <a:avLst/>
          </a:prstGeom>
          <a:noFill/>
          <a:ln/>
        </p:spPr>
        <p:txBody>
          <a:bodyPr wrap="square" lIns="0" tIns="0" rIns="0" bIns="0" rtlCol="0" anchor="t"/>
          <a:lstStyle/>
          <a:p>
            <a:pPr indent="0" marL="0">
              <a:buNone/>
            </a:pPr>
            <a:r>
              <a:rPr lang="en-US" sz="1400" b="1" dirty="0">
                <a:solidFill>
                  <a:schemeClr val="tx1"/>
                </a:solidFill>
              </a:rPr>
              <a:t>VAT</a:t>
            </a:r>
            <a:endParaRPr lang="en-US" sz="1400" dirty="0"/>
          </a:p>
          <a:p>
            <a:pPr indent="0" marL="0">
              <a:buNone/>
            </a:pPr>
            <a:r>
              <a:rPr lang="en-US" sz="1400" dirty="0">
                <a:solidFill>
                  <a:schemeClr val="tx1"/>
                </a:solidFill>
              </a:rPr>
              <a:t>% of naira CIF + duty</a:t>
            </a:r>
            <a:endParaRPr lang="en-US" sz="1400" dirty="0"/>
          </a:p>
        </p:txBody>
      </p:sp>
      <p:sp>
        <p:nvSpPr>
          <p:cNvPr id="22" name="Text 18"/>
          <p:cNvSpPr txBox="1"/>
          <p:nvPr/>
        </p:nvSpPr>
        <p:spPr>
          <a:xfrm>
            <a:off x="457200" y="4434840"/>
            <a:ext cx="4572000" cy="274320"/>
          </a:xfrm>
          <a:prstGeom prst="rect">
            <a:avLst/>
          </a:prstGeom>
          <a:noFill/>
          <a:ln/>
        </p:spPr>
        <p:txBody>
          <a:bodyPr wrap="square" lIns="0" tIns="0" rIns="0" bIns="0" rtlCol="0" anchor="t"/>
          <a:lstStyle/>
          <a:p>
            <a:pPr indent="0" marL="0">
              <a:buNone/>
            </a:pPr>
            <a:r>
              <a:rPr lang="en-US" sz="1300" i="1" dirty="0">
                <a:solidFill>
                  <a:schemeClr val="accent3"/>
                </a:solidFill>
              </a:rPr>
              <a:t>Rates change. Confirm the current rate for your code.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Importing into Nigeria: who does what</a:t>
            </a:r>
            <a:endParaRPr lang="en-US" sz="2800" dirty="0"/>
          </a:p>
        </p:txBody>
      </p:sp>
      <p:pic>
        <p:nvPicPr>
          <p:cNvPr id="4" name="A cargo ship at the Apapa port, Lagos" descr="A cargo ship at the Apapa port, Lagos">    </p:cNvPr>
          <p:cNvPicPr>
            <a:picLocks noChangeAspect="1"/>
          </p:cNvPicPr>
          <p:nvPr/>
        </p:nvPicPr>
        <p:blipFill>
          <a:blip r:embed="rId1"/>
          <a:stretch>
            <a:fillRect/>
          </a:stretch>
        </p:blipFill>
        <p:spPr>
          <a:xfrm>
            <a:off x="4846320" y="1188720"/>
            <a:ext cx="3840480" cy="1920240"/>
          </a:xfrm>
          <a:prstGeom prst="rect">
            <a:avLst/>
          </a:prstGeom>
        </p:spPr>
      </p:pic>
      <p:sp>
        <p:nvSpPr>
          <p:cNvPr id="5" name="Text 1"/>
          <p:cNvSpPr txBox="1"/>
          <p:nvPr/>
        </p:nvSpPr>
        <p:spPr>
          <a:xfrm>
            <a:off x="4846320" y="3154680"/>
            <a:ext cx="3840480" cy="201168"/>
          </a:xfrm>
          <a:prstGeom prst="rect">
            <a:avLst/>
          </a:prstGeom>
          <a:noFill/>
          <a:ln/>
        </p:spPr>
        <p:txBody>
          <a:bodyPr wrap="square" lIns="0" tIns="0" rIns="0" bIns="0" rtlCol="0" anchor="t"/>
          <a:lstStyle/>
          <a:p>
            <a:pPr indent="0" marL="0">
              <a:buNone/>
            </a:pPr>
            <a:r>
              <a:rPr lang="en-US" sz="1000" i="1" dirty="0">
                <a:solidFill>
                  <a:schemeClr val="accent4"/>
                </a:solidFill>
              </a:rPr>
              <a:t>Apapa port, Lagos. Photo: Quadrex24, CC BY-SA 4.0</a:t>
            </a:r>
            <a:endParaRPr lang="en-US" sz="1000" dirty="0"/>
          </a:p>
        </p:txBody>
      </p:sp>
      <p:sp>
        <p:nvSpPr>
          <p:cNvPr id="6" name="reg 0"/>
          <p:cNvSpPr/>
          <p:nvPr/>
        </p:nvSpPr>
        <p:spPr>
          <a:xfrm>
            <a:off x="457200" y="1188720"/>
            <a:ext cx="4206240" cy="457200"/>
          </a:xfrm>
          <a:prstGeom prst="roundRect">
            <a:avLst>
              <a:gd name="adj" fmla="val 12000"/>
            </a:avLst>
          </a:prstGeom>
          <a:solidFill>
            <a:schemeClr val="bg2"/>
          </a:solidFill>
          <a:ln w="12700">
            <a:solidFill>
              <a:schemeClr val="bg2"/>
            </a:solidFill>
            <a:prstDash val="solid"/>
          </a:ln>
        </p:spPr>
      </p:sp>
      <p:sp>
        <p:nvSpPr>
          <p:cNvPr id="7" name="Text 3"/>
          <p:cNvSpPr txBox="1"/>
          <p:nvPr/>
        </p:nvSpPr>
        <p:spPr>
          <a:xfrm>
            <a:off x="594360" y="1280160"/>
            <a:ext cx="1554480" cy="274320"/>
          </a:xfrm>
          <a:prstGeom prst="rect">
            <a:avLst/>
          </a:prstGeom>
          <a:noFill/>
          <a:ln/>
        </p:spPr>
        <p:txBody>
          <a:bodyPr wrap="square" lIns="0" tIns="0" rIns="0" bIns="0" rtlCol="0" anchor="ctr"/>
          <a:lstStyle/>
          <a:p>
            <a:pPr indent="0" marL="0">
              <a:buNone/>
            </a:pPr>
            <a:r>
              <a:rPr lang="en-US" sz="1400" b="1" dirty="0">
                <a:solidFill>
                  <a:schemeClr val="tx1"/>
                </a:solidFill>
              </a:rPr>
              <a:t>Customs</a:t>
            </a:r>
            <a:endParaRPr lang="en-US" sz="1400" dirty="0"/>
          </a:p>
        </p:txBody>
      </p:sp>
      <p:sp>
        <p:nvSpPr>
          <p:cNvPr id="8" name="Text 4"/>
          <p:cNvSpPr txBox="1"/>
          <p:nvPr/>
        </p:nvSpPr>
        <p:spPr>
          <a:xfrm>
            <a:off x="2103120" y="1280160"/>
            <a:ext cx="2514600" cy="274320"/>
          </a:xfrm>
          <a:prstGeom prst="rect">
            <a:avLst/>
          </a:prstGeom>
          <a:noFill/>
          <a:ln/>
        </p:spPr>
        <p:txBody>
          <a:bodyPr wrap="square" lIns="0" tIns="0" rIns="0" bIns="0" rtlCol="0" anchor="ctr"/>
          <a:lstStyle/>
          <a:p>
            <a:pPr indent="0" marL="0">
              <a:buNone/>
            </a:pPr>
            <a:r>
              <a:rPr lang="en-US" sz="1200" dirty="0">
                <a:solidFill>
                  <a:schemeClr val="accent2"/>
                </a:solidFill>
              </a:rPr>
              <a:t>Duty, tax, examination, release</a:t>
            </a:r>
            <a:endParaRPr lang="en-US" sz="1200" dirty="0"/>
          </a:p>
        </p:txBody>
      </p:sp>
      <p:sp>
        <p:nvSpPr>
          <p:cNvPr id="9" name="reg 1"/>
          <p:cNvSpPr/>
          <p:nvPr/>
        </p:nvSpPr>
        <p:spPr>
          <a:xfrm>
            <a:off x="457200" y="1719072"/>
            <a:ext cx="4206240" cy="457200"/>
          </a:xfrm>
          <a:prstGeom prst="roundRect">
            <a:avLst>
              <a:gd name="adj" fmla="val 12000"/>
            </a:avLst>
          </a:prstGeom>
          <a:solidFill>
            <a:srgbClr val="FFFFFF"/>
          </a:solidFill>
          <a:ln w="12700">
            <a:solidFill>
              <a:srgbClr val="FFFFFF"/>
            </a:solidFill>
            <a:prstDash val="solid"/>
          </a:ln>
        </p:spPr>
      </p:sp>
      <p:sp>
        <p:nvSpPr>
          <p:cNvPr id="10" name="Text 6"/>
          <p:cNvSpPr txBox="1"/>
          <p:nvPr/>
        </p:nvSpPr>
        <p:spPr>
          <a:xfrm>
            <a:off x="594360" y="1810512"/>
            <a:ext cx="1554480" cy="274320"/>
          </a:xfrm>
          <a:prstGeom prst="rect">
            <a:avLst/>
          </a:prstGeom>
          <a:noFill/>
          <a:ln/>
        </p:spPr>
        <p:txBody>
          <a:bodyPr wrap="square" lIns="0" tIns="0" rIns="0" bIns="0" rtlCol="0" anchor="ctr"/>
          <a:lstStyle/>
          <a:p>
            <a:pPr indent="0" marL="0">
              <a:buNone/>
            </a:pPr>
            <a:r>
              <a:rPr lang="en-US" sz="1400" b="1" dirty="0">
                <a:solidFill>
                  <a:schemeClr val="tx1"/>
                </a:solidFill>
              </a:rPr>
              <a:t>SON and NAFDAC</a:t>
            </a:r>
            <a:endParaRPr lang="en-US" sz="1400" dirty="0"/>
          </a:p>
        </p:txBody>
      </p:sp>
      <p:sp>
        <p:nvSpPr>
          <p:cNvPr id="11" name="Text 7"/>
          <p:cNvSpPr txBox="1"/>
          <p:nvPr/>
        </p:nvSpPr>
        <p:spPr>
          <a:xfrm>
            <a:off x="2103120" y="1810512"/>
            <a:ext cx="2514600" cy="274320"/>
          </a:xfrm>
          <a:prstGeom prst="rect">
            <a:avLst/>
          </a:prstGeom>
          <a:noFill/>
          <a:ln/>
        </p:spPr>
        <p:txBody>
          <a:bodyPr wrap="square" lIns="0" tIns="0" rIns="0" bIns="0" rtlCol="0" anchor="ctr"/>
          <a:lstStyle/>
          <a:p>
            <a:pPr indent="0" marL="0">
              <a:buNone/>
            </a:pPr>
            <a:r>
              <a:rPr lang="en-US" sz="1200" dirty="0">
                <a:solidFill>
                  <a:schemeClr val="accent2"/>
                </a:solidFill>
              </a:rPr>
              <a:t>Standards, food, drugs</a:t>
            </a:r>
            <a:endParaRPr lang="en-US" sz="1200" dirty="0"/>
          </a:p>
        </p:txBody>
      </p:sp>
      <p:sp>
        <p:nvSpPr>
          <p:cNvPr id="12" name="reg 2"/>
          <p:cNvSpPr/>
          <p:nvPr/>
        </p:nvSpPr>
        <p:spPr>
          <a:xfrm>
            <a:off x="457200" y="2249424"/>
            <a:ext cx="4206240" cy="457200"/>
          </a:xfrm>
          <a:prstGeom prst="roundRect">
            <a:avLst>
              <a:gd name="adj" fmla="val 12000"/>
            </a:avLst>
          </a:prstGeom>
          <a:solidFill>
            <a:schemeClr val="bg2"/>
          </a:solidFill>
          <a:ln w="12700">
            <a:solidFill>
              <a:schemeClr val="bg2"/>
            </a:solidFill>
            <a:prstDash val="solid"/>
          </a:ln>
        </p:spPr>
      </p:sp>
      <p:sp>
        <p:nvSpPr>
          <p:cNvPr id="13" name="Text 9"/>
          <p:cNvSpPr txBox="1"/>
          <p:nvPr/>
        </p:nvSpPr>
        <p:spPr>
          <a:xfrm>
            <a:off x="594360" y="2340864"/>
            <a:ext cx="1554480" cy="274320"/>
          </a:xfrm>
          <a:prstGeom prst="rect">
            <a:avLst/>
          </a:prstGeom>
          <a:noFill/>
          <a:ln/>
        </p:spPr>
        <p:txBody>
          <a:bodyPr wrap="square" lIns="0" tIns="0" rIns="0" bIns="0" rtlCol="0" anchor="ctr"/>
          <a:lstStyle/>
          <a:p>
            <a:pPr indent="0" marL="0">
              <a:buNone/>
            </a:pPr>
            <a:r>
              <a:rPr lang="en-US" sz="1400" b="1" dirty="0">
                <a:solidFill>
                  <a:schemeClr val="tx1"/>
                </a:solidFill>
              </a:rPr>
              <a:t>Your bank</a:t>
            </a:r>
            <a:endParaRPr lang="en-US" sz="1400" dirty="0"/>
          </a:p>
        </p:txBody>
      </p:sp>
      <p:sp>
        <p:nvSpPr>
          <p:cNvPr id="14" name="Text 10"/>
          <p:cNvSpPr txBox="1"/>
          <p:nvPr/>
        </p:nvSpPr>
        <p:spPr>
          <a:xfrm>
            <a:off x="2103120" y="2340864"/>
            <a:ext cx="2514600" cy="274320"/>
          </a:xfrm>
          <a:prstGeom prst="rect">
            <a:avLst/>
          </a:prstGeom>
          <a:noFill/>
          <a:ln/>
        </p:spPr>
        <p:txBody>
          <a:bodyPr wrap="square" lIns="0" tIns="0" rIns="0" bIns="0" rtlCol="0" anchor="ctr"/>
          <a:lstStyle/>
          <a:p>
            <a:pPr indent="0" marL="0">
              <a:buNone/>
            </a:pPr>
            <a:r>
              <a:rPr lang="en-US" sz="1200" dirty="0">
                <a:solidFill>
                  <a:schemeClr val="accent2"/>
                </a:solidFill>
              </a:rPr>
              <a:t>Form M and foreign exchange</a:t>
            </a:r>
            <a:endParaRPr lang="en-US" sz="1200" dirty="0"/>
          </a:p>
        </p:txBody>
      </p:sp>
      <p:sp>
        <p:nvSpPr>
          <p:cNvPr id="15" name="reg 3"/>
          <p:cNvSpPr/>
          <p:nvPr/>
        </p:nvSpPr>
        <p:spPr>
          <a:xfrm>
            <a:off x="457200" y="2779776"/>
            <a:ext cx="4206240" cy="457200"/>
          </a:xfrm>
          <a:prstGeom prst="roundRect">
            <a:avLst>
              <a:gd name="adj" fmla="val 12000"/>
            </a:avLst>
          </a:prstGeom>
          <a:solidFill>
            <a:srgbClr val="FFFFFF"/>
          </a:solidFill>
          <a:ln w="12700">
            <a:solidFill>
              <a:srgbClr val="FFFFFF"/>
            </a:solidFill>
            <a:prstDash val="solid"/>
          </a:ln>
        </p:spPr>
      </p:sp>
      <p:sp>
        <p:nvSpPr>
          <p:cNvPr id="16" name="Text 12"/>
          <p:cNvSpPr txBox="1"/>
          <p:nvPr/>
        </p:nvSpPr>
        <p:spPr>
          <a:xfrm>
            <a:off x="594360" y="2871216"/>
            <a:ext cx="1554480" cy="274320"/>
          </a:xfrm>
          <a:prstGeom prst="rect">
            <a:avLst/>
          </a:prstGeom>
          <a:noFill/>
          <a:ln/>
        </p:spPr>
        <p:txBody>
          <a:bodyPr wrap="square" lIns="0" tIns="0" rIns="0" bIns="0" rtlCol="0" anchor="ctr"/>
          <a:lstStyle/>
          <a:p>
            <a:pPr indent="0" marL="0">
              <a:buNone/>
            </a:pPr>
            <a:r>
              <a:rPr lang="en-US" sz="1400" b="1" dirty="0">
                <a:solidFill>
                  <a:schemeClr val="tx1"/>
                </a:solidFill>
              </a:rPr>
              <a:t>Clearing agent</a:t>
            </a:r>
            <a:endParaRPr lang="en-US" sz="1400" dirty="0"/>
          </a:p>
        </p:txBody>
      </p:sp>
      <p:sp>
        <p:nvSpPr>
          <p:cNvPr id="17" name="Text 13"/>
          <p:cNvSpPr txBox="1"/>
          <p:nvPr/>
        </p:nvSpPr>
        <p:spPr>
          <a:xfrm>
            <a:off x="2103120" y="2871216"/>
            <a:ext cx="2514600" cy="274320"/>
          </a:xfrm>
          <a:prstGeom prst="rect">
            <a:avLst/>
          </a:prstGeom>
          <a:noFill/>
          <a:ln/>
        </p:spPr>
        <p:txBody>
          <a:bodyPr wrap="square" lIns="0" tIns="0" rIns="0" bIns="0" rtlCol="0" anchor="ctr"/>
          <a:lstStyle/>
          <a:p>
            <a:pPr indent="0" marL="0">
              <a:buNone/>
            </a:pPr>
            <a:r>
              <a:rPr lang="en-US" sz="1200" dirty="0">
                <a:solidFill>
                  <a:schemeClr val="accent2"/>
                </a:solidFill>
              </a:rPr>
              <a:t>Handles Customs for you</a:t>
            </a:r>
            <a:endParaRPr lang="en-US" sz="1200" dirty="0"/>
          </a:p>
        </p:txBody>
      </p:sp>
      <p:sp>
        <p:nvSpPr>
          <p:cNvPr id="18" name="sequence panel"/>
          <p:cNvSpPr/>
          <p:nvPr/>
        </p:nvSpPr>
        <p:spPr>
          <a:xfrm>
            <a:off x="457200" y="3383280"/>
            <a:ext cx="8229600" cy="1188720"/>
          </a:xfrm>
          <a:prstGeom prst="roundRect">
            <a:avLst>
              <a:gd name="adj" fmla="val 7692"/>
            </a:avLst>
          </a:prstGeom>
          <a:solidFill>
            <a:srgbClr val="0B1F3A"/>
          </a:solidFill>
          <a:ln w="12700">
            <a:solidFill>
              <a:srgbClr val="0B1F3A"/>
            </a:solidFill>
            <a:prstDash val="solid"/>
          </a:ln>
        </p:spPr>
      </p:sp>
      <p:sp>
        <p:nvSpPr>
          <p:cNvPr id="19" name="Text 15"/>
          <p:cNvSpPr txBox="1"/>
          <p:nvPr/>
        </p:nvSpPr>
        <p:spPr>
          <a:xfrm>
            <a:off x="685800" y="3493008"/>
            <a:ext cx="36576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THE ORDER OF EVENTS</a:t>
            </a:r>
            <a:endParaRPr lang="en-US" sz="1200" dirty="0"/>
          </a:p>
        </p:txBody>
      </p:sp>
      <p:sp>
        <p:nvSpPr>
          <p:cNvPr id="20" name="seq 0"/>
          <p:cNvSpPr/>
          <p:nvPr/>
        </p:nvSpPr>
        <p:spPr>
          <a:xfrm>
            <a:off x="685800" y="3840480"/>
            <a:ext cx="1417320" cy="548640"/>
          </a:xfrm>
          <a:prstGeom prst="roundRect">
            <a:avLst>
              <a:gd name="adj" fmla="val 13333"/>
            </a:avLst>
          </a:prstGeom>
          <a:solidFill>
            <a:schemeClr val="accent6"/>
          </a:solidFill>
          <a:ln w="12700">
            <a:solidFill>
              <a:schemeClr val="accent6"/>
            </a:solidFill>
            <a:prstDash val="solid"/>
          </a:ln>
        </p:spPr>
      </p:sp>
      <p:sp>
        <p:nvSpPr>
          <p:cNvPr id="21" name="Text 17"/>
          <p:cNvSpPr txBox="1"/>
          <p:nvPr/>
        </p:nvSpPr>
        <p:spPr>
          <a:xfrm>
            <a:off x="731520" y="3886200"/>
            <a:ext cx="1325880" cy="457200"/>
          </a:xfrm>
          <a:prstGeom prst="rect">
            <a:avLst/>
          </a:prstGeom>
          <a:noFill/>
          <a:ln/>
        </p:spPr>
        <p:txBody>
          <a:bodyPr wrap="square" lIns="0" tIns="0" rIns="0" bIns="0" rtlCol="0" anchor="ctr"/>
          <a:lstStyle/>
          <a:p>
            <a:pPr algn="ctr" indent="0" marL="0">
              <a:buNone/>
            </a:pPr>
            <a:r>
              <a:rPr lang="en-US" sz="1200" b="1" dirty="0">
                <a:solidFill>
                  <a:srgbClr val="FFFFFF"/>
                </a:solidFill>
              </a:rPr>
              <a:t>Register business</a:t>
            </a:r>
            <a:endParaRPr lang="en-US" sz="1200" dirty="0"/>
          </a:p>
        </p:txBody>
      </p:sp>
      <p:sp>
        <p:nvSpPr>
          <p:cNvPr id="22" name="seq 1"/>
          <p:cNvSpPr/>
          <p:nvPr/>
        </p:nvSpPr>
        <p:spPr>
          <a:xfrm>
            <a:off x="2240280" y="3840480"/>
            <a:ext cx="1417320" cy="548640"/>
          </a:xfrm>
          <a:prstGeom prst="roundRect">
            <a:avLst>
              <a:gd name="adj" fmla="val 13333"/>
            </a:avLst>
          </a:prstGeom>
          <a:solidFill>
            <a:schemeClr val="accent2"/>
          </a:solidFill>
          <a:ln w="12700">
            <a:solidFill>
              <a:schemeClr val="accent2"/>
            </a:solidFill>
            <a:prstDash val="solid"/>
          </a:ln>
        </p:spPr>
      </p:sp>
      <p:sp>
        <p:nvSpPr>
          <p:cNvPr id="23" name="Text 19"/>
          <p:cNvSpPr txBox="1"/>
          <p:nvPr/>
        </p:nvSpPr>
        <p:spPr>
          <a:xfrm>
            <a:off x="2286000" y="3886200"/>
            <a:ext cx="1325880" cy="457200"/>
          </a:xfrm>
          <a:prstGeom prst="rect">
            <a:avLst/>
          </a:prstGeom>
          <a:noFill/>
          <a:ln/>
        </p:spPr>
        <p:txBody>
          <a:bodyPr wrap="square" lIns="0" tIns="0" rIns="0" bIns="0" rtlCol="0" anchor="ctr"/>
          <a:lstStyle/>
          <a:p>
            <a:pPr algn="ctr" indent="0" marL="0">
              <a:buNone/>
            </a:pPr>
            <a:r>
              <a:rPr lang="en-US" sz="1200" b="1" dirty="0">
                <a:solidFill>
                  <a:srgbClr val="FFFFFF"/>
                </a:solidFill>
              </a:rPr>
              <a:t>Form M via bank</a:t>
            </a:r>
            <a:endParaRPr lang="en-US" sz="1200" dirty="0"/>
          </a:p>
        </p:txBody>
      </p:sp>
      <p:sp>
        <p:nvSpPr>
          <p:cNvPr id="24" name="seq 2"/>
          <p:cNvSpPr/>
          <p:nvPr/>
        </p:nvSpPr>
        <p:spPr>
          <a:xfrm>
            <a:off x="3794760" y="3840480"/>
            <a:ext cx="1417320" cy="548640"/>
          </a:xfrm>
          <a:prstGeom prst="roundRect">
            <a:avLst>
              <a:gd name="adj" fmla="val 13333"/>
            </a:avLst>
          </a:prstGeom>
          <a:solidFill>
            <a:schemeClr val="accent6"/>
          </a:solidFill>
          <a:ln w="12700">
            <a:solidFill>
              <a:schemeClr val="accent6"/>
            </a:solidFill>
            <a:prstDash val="solid"/>
          </a:ln>
        </p:spPr>
      </p:sp>
      <p:sp>
        <p:nvSpPr>
          <p:cNvPr id="25" name="Text 21"/>
          <p:cNvSpPr txBox="1"/>
          <p:nvPr/>
        </p:nvSpPr>
        <p:spPr>
          <a:xfrm>
            <a:off x="3840480" y="3886200"/>
            <a:ext cx="1325880" cy="457200"/>
          </a:xfrm>
          <a:prstGeom prst="rect">
            <a:avLst/>
          </a:prstGeom>
          <a:noFill/>
          <a:ln/>
        </p:spPr>
        <p:txBody>
          <a:bodyPr wrap="square" lIns="0" tIns="0" rIns="0" bIns="0" rtlCol="0" anchor="ctr"/>
          <a:lstStyle/>
          <a:p>
            <a:pPr algn="ctr" indent="0" marL="0">
              <a:buNone/>
            </a:pPr>
            <a:r>
              <a:rPr lang="en-US" sz="1200" b="1" dirty="0">
                <a:solidFill>
                  <a:srgbClr val="FFFFFF"/>
                </a:solidFill>
              </a:rPr>
              <a:t>Ship goods</a:t>
            </a:r>
            <a:endParaRPr lang="en-US" sz="1200" dirty="0"/>
          </a:p>
        </p:txBody>
      </p:sp>
      <p:sp>
        <p:nvSpPr>
          <p:cNvPr id="26" name="seq 3"/>
          <p:cNvSpPr/>
          <p:nvPr/>
        </p:nvSpPr>
        <p:spPr>
          <a:xfrm>
            <a:off x="5349240" y="3840480"/>
            <a:ext cx="1417320" cy="548640"/>
          </a:xfrm>
          <a:prstGeom prst="roundRect">
            <a:avLst>
              <a:gd name="adj" fmla="val 13333"/>
            </a:avLst>
          </a:prstGeom>
          <a:solidFill>
            <a:schemeClr val="accent2"/>
          </a:solidFill>
          <a:ln w="12700">
            <a:solidFill>
              <a:schemeClr val="accent2"/>
            </a:solidFill>
            <a:prstDash val="solid"/>
          </a:ln>
        </p:spPr>
      </p:sp>
      <p:sp>
        <p:nvSpPr>
          <p:cNvPr id="27" name="Text 23"/>
          <p:cNvSpPr txBox="1"/>
          <p:nvPr/>
        </p:nvSpPr>
        <p:spPr>
          <a:xfrm>
            <a:off x="5394960" y="3886200"/>
            <a:ext cx="1325880" cy="457200"/>
          </a:xfrm>
          <a:prstGeom prst="rect">
            <a:avLst/>
          </a:prstGeom>
          <a:noFill/>
          <a:ln/>
        </p:spPr>
        <p:txBody>
          <a:bodyPr wrap="square" lIns="0" tIns="0" rIns="0" bIns="0" rtlCol="0" anchor="ctr"/>
          <a:lstStyle/>
          <a:p>
            <a:pPr algn="ctr" indent="0" marL="0">
              <a:buNone/>
            </a:pPr>
            <a:r>
              <a:rPr lang="en-US" sz="1200" b="1" dirty="0">
                <a:solidFill>
                  <a:srgbClr val="FFFFFF"/>
                </a:solidFill>
              </a:rPr>
              <a:t>PAAR from Customs</a:t>
            </a:r>
            <a:endParaRPr lang="en-US" sz="1200" dirty="0"/>
          </a:p>
        </p:txBody>
      </p:sp>
      <p:sp>
        <p:nvSpPr>
          <p:cNvPr id="28" name="seq 4"/>
          <p:cNvSpPr/>
          <p:nvPr/>
        </p:nvSpPr>
        <p:spPr>
          <a:xfrm>
            <a:off x="6903720" y="3840480"/>
            <a:ext cx="1417320" cy="548640"/>
          </a:xfrm>
          <a:prstGeom prst="roundRect">
            <a:avLst>
              <a:gd name="adj" fmla="val 13333"/>
            </a:avLst>
          </a:prstGeom>
          <a:solidFill>
            <a:schemeClr val="accent6"/>
          </a:solidFill>
          <a:ln w="12700">
            <a:solidFill>
              <a:schemeClr val="accent6"/>
            </a:solidFill>
            <a:prstDash val="solid"/>
          </a:ln>
        </p:spPr>
      </p:sp>
      <p:sp>
        <p:nvSpPr>
          <p:cNvPr id="29" name="Text 25"/>
          <p:cNvSpPr txBox="1"/>
          <p:nvPr/>
        </p:nvSpPr>
        <p:spPr>
          <a:xfrm>
            <a:off x="6949440" y="3886200"/>
            <a:ext cx="1325880" cy="457200"/>
          </a:xfrm>
          <a:prstGeom prst="rect">
            <a:avLst/>
          </a:prstGeom>
          <a:noFill/>
          <a:ln/>
        </p:spPr>
        <p:txBody>
          <a:bodyPr wrap="square" lIns="0" tIns="0" rIns="0" bIns="0" rtlCol="0" anchor="ctr"/>
          <a:lstStyle/>
          <a:p>
            <a:pPr algn="ctr" indent="0" marL="0">
              <a:buNone/>
            </a:pPr>
            <a:r>
              <a:rPr lang="en-US" sz="1200" b="1" dirty="0">
                <a:solidFill>
                  <a:srgbClr val="FFFFFF"/>
                </a:solidFill>
              </a:rPr>
              <a:t>Clear at the port</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Step 8: build the landed cost</a:t>
            </a:r>
            <a:endParaRPr lang="en-US" sz="2800" dirty="0"/>
          </a:p>
        </p:txBody>
      </p:sp>
      <p:sp>
        <p:nvSpPr>
          <p:cNvPr id="4" name="lc row 0"/>
          <p:cNvSpPr/>
          <p:nvPr/>
        </p:nvSpPr>
        <p:spPr>
          <a:xfrm>
            <a:off x="457200" y="1143000"/>
            <a:ext cx="5120640" cy="265176"/>
          </a:xfrm>
          <a:prstGeom prst="roundRect">
            <a:avLst>
              <a:gd name="adj" fmla="val 13793"/>
            </a:avLst>
          </a:prstGeom>
          <a:solidFill>
            <a:schemeClr val="bg2"/>
          </a:solidFill>
          <a:ln w="12700">
            <a:solidFill>
              <a:schemeClr val="bg2"/>
            </a:solidFill>
            <a:prstDash val="solid"/>
          </a:ln>
        </p:spPr>
      </p:sp>
      <p:sp>
        <p:nvSpPr>
          <p:cNvPr id="5" name="Text 2"/>
          <p:cNvSpPr txBox="1"/>
          <p:nvPr/>
        </p:nvSpPr>
        <p:spPr>
          <a:xfrm>
            <a:off x="594360" y="1170432"/>
            <a:ext cx="3200400" cy="219456"/>
          </a:xfrm>
          <a:prstGeom prst="rect">
            <a:avLst/>
          </a:prstGeom>
          <a:noFill/>
          <a:ln/>
        </p:spPr>
        <p:txBody>
          <a:bodyPr wrap="square" lIns="0" tIns="0" rIns="0" bIns="0" rtlCol="0" anchor="ctr"/>
          <a:lstStyle/>
          <a:p>
            <a:pPr indent="0" marL="0">
              <a:buNone/>
            </a:pPr>
            <a:r>
              <a:rPr lang="en-US" sz="1200" dirty="0">
                <a:solidFill>
                  <a:srgbClr val="0B1F3A"/>
                </a:solidFill>
              </a:rPr>
              <a:t>Product 300 × $3.00</a:t>
            </a:r>
            <a:endParaRPr lang="en-US" sz="1200" dirty="0"/>
          </a:p>
        </p:txBody>
      </p:sp>
      <p:sp>
        <p:nvSpPr>
          <p:cNvPr id="6" name="Text 3"/>
          <p:cNvSpPr txBox="1"/>
          <p:nvPr/>
        </p:nvSpPr>
        <p:spPr>
          <a:xfrm>
            <a:off x="3840480" y="1170432"/>
            <a:ext cx="1645920" cy="219456"/>
          </a:xfrm>
          <a:prstGeom prst="rect">
            <a:avLst/>
          </a:prstGeom>
          <a:noFill/>
          <a:ln/>
        </p:spPr>
        <p:txBody>
          <a:bodyPr wrap="square" lIns="0" tIns="0" rIns="0" bIns="0" rtlCol="0" anchor="ctr"/>
          <a:lstStyle/>
          <a:p>
            <a:pPr algn="r" indent="0" marL="0">
              <a:buNone/>
            </a:pPr>
            <a:r>
              <a:rPr lang="en-US" sz="1200" b="1" dirty="0">
                <a:solidFill>
                  <a:srgbClr val="0B1F3A"/>
                </a:solidFill>
              </a:rPr>
              <a:t>$900</a:t>
            </a:r>
            <a:endParaRPr lang="en-US" sz="1200" dirty="0"/>
          </a:p>
        </p:txBody>
      </p:sp>
      <p:sp>
        <p:nvSpPr>
          <p:cNvPr id="7" name="lc row 1"/>
          <p:cNvSpPr/>
          <p:nvPr/>
        </p:nvSpPr>
        <p:spPr>
          <a:xfrm>
            <a:off x="457200" y="1435608"/>
            <a:ext cx="5120640" cy="265176"/>
          </a:xfrm>
          <a:prstGeom prst="roundRect">
            <a:avLst>
              <a:gd name="adj" fmla="val 13793"/>
            </a:avLst>
          </a:prstGeom>
          <a:solidFill>
            <a:srgbClr val="FFFFFF"/>
          </a:solidFill>
          <a:ln w="12700">
            <a:solidFill>
              <a:srgbClr val="FFFFFF"/>
            </a:solidFill>
            <a:prstDash val="solid"/>
          </a:ln>
        </p:spPr>
      </p:sp>
      <p:sp>
        <p:nvSpPr>
          <p:cNvPr id="8" name="Text 5"/>
          <p:cNvSpPr txBox="1"/>
          <p:nvPr/>
        </p:nvSpPr>
        <p:spPr>
          <a:xfrm>
            <a:off x="594360" y="1463040"/>
            <a:ext cx="3200400" cy="219456"/>
          </a:xfrm>
          <a:prstGeom prst="rect">
            <a:avLst/>
          </a:prstGeom>
          <a:noFill/>
          <a:ln/>
        </p:spPr>
        <p:txBody>
          <a:bodyPr wrap="square" lIns="0" tIns="0" rIns="0" bIns="0" rtlCol="0" anchor="ctr"/>
          <a:lstStyle/>
          <a:p>
            <a:pPr indent="0" marL="0">
              <a:buNone/>
            </a:pPr>
            <a:r>
              <a:rPr lang="en-US" sz="1200" dirty="0">
                <a:solidFill>
                  <a:srgbClr val="0B1F3A"/>
                </a:solidFill>
              </a:rPr>
              <a:t>Air freight</a:t>
            </a:r>
            <a:endParaRPr lang="en-US" sz="1200" dirty="0"/>
          </a:p>
        </p:txBody>
      </p:sp>
      <p:sp>
        <p:nvSpPr>
          <p:cNvPr id="9" name="Text 6"/>
          <p:cNvSpPr txBox="1"/>
          <p:nvPr/>
        </p:nvSpPr>
        <p:spPr>
          <a:xfrm>
            <a:off x="3840480" y="1463040"/>
            <a:ext cx="1645920" cy="219456"/>
          </a:xfrm>
          <a:prstGeom prst="rect">
            <a:avLst/>
          </a:prstGeom>
          <a:noFill/>
          <a:ln/>
        </p:spPr>
        <p:txBody>
          <a:bodyPr wrap="square" lIns="0" tIns="0" rIns="0" bIns="0" rtlCol="0" anchor="ctr"/>
          <a:lstStyle/>
          <a:p>
            <a:pPr algn="r" indent="0" marL="0">
              <a:buNone/>
            </a:pPr>
            <a:r>
              <a:rPr lang="en-US" sz="1200" b="1" dirty="0">
                <a:solidFill>
                  <a:srgbClr val="0B1F3A"/>
                </a:solidFill>
              </a:rPr>
              <a:t>$150</a:t>
            </a:r>
            <a:endParaRPr lang="en-US" sz="1200" dirty="0"/>
          </a:p>
        </p:txBody>
      </p:sp>
      <p:sp>
        <p:nvSpPr>
          <p:cNvPr id="10" name="lc row 2"/>
          <p:cNvSpPr/>
          <p:nvPr/>
        </p:nvSpPr>
        <p:spPr>
          <a:xfrm>
            <a:off x="457200" y="1728216"/>
            <a:ext cx="5120640" cy="265176"/>
          </a:xfrm>
          <a:prstGeom prst="roundRect">
            <a:avLst>
              <a:gd name="adj" fmla="val 13793"/>
            </a:avLst>
          </a:prstGeom>
          <a:solidFill>
            <a:schemeClr val="bg2"/>
          </a:solidFill>
          <a:ln w="12700">
            <a:solidFill>
              <a:schemeClr val="bg2"/>
            </a:solidFill>
            <a:prstDash val="solid"/>
          </a:ln>
        </p:spPr>
      </p:sp>
      <p:sp>
        <p:nvSpPr>
          <p:cNvPr id="11" name="Text 8"/>
          <p:cNvSpPr txBox="1"/>
          <p:nvPr/>
        </p:nvSpPr>
        <p:spPr>
          <a:xfrm>
            <a:off x="594360" y="1755648"/>
            <a:ext cx="3200400" cy="219456"/>
          </a:xfrm>
          <a:prstGeom prst="rect">
            <a:avLst/>
          </a:prstGeom>
          <a:noFill/>
          <a:ln/>
        </p:spPr>
        <p:txBody>
          <a:bodyPr wrap="square" lIns="0" tIns="0" rIns="0" bIns="0" rtlCol="0" anchor="ctr"/>
          <a:lstStyle/>
          <a:p>
            <a:pPr indent="0" marL="0">
              <a:buNone/>
            </a:pPr>
            <a:r>
              <a:rPr lang="en-US" sz="1200" dirty="0">
                <a:solidFill>
                  <a:srgbClr val="0B1F3A"/>
                </a:solidFill>
              </a:rPr>
              <a:t>Insurance</a:t>
            </a:r>
            <a:endParaRPr lang="en-US" sz="1200" dirty="0"/>
          </a:p>
        </p:txBody>
      </p:sp>
      <p:sp>
        <p:nvSpPr>
          <p:cNvPr id="12" name="Text 9"/>
          <p:cNvSpPr txBox="1"/>
          <p:nvPr/>
        </p:nvSpPr>
        <p:spPr>
          <a:xfrm>
            <a:off x="3840480" y="1755648"/>
            <a:ext cx="1645920" cy="219456"/>
          </a:xfrm>
          <a:prstGeom prst="rect">
            <a:avLst/>
          </a:prstGeom>
          <a:noFill/>
          <a:ln/>
        </p:spPr>
        <p:txBody>
          <a:bodyPr wrap="square" lIns="0" tIns="0" rIns="0" bIns="0" rtlCol="0" anchor="ctr"/>
          <a:lstStyle/>
          <a:p>
            <a:pPr algn="r" indent="0" marL="0">
              <a:buNone/>
            </a:pPr>
            <a:r>
              <a:rPr lang="en-US" sz="1200" b="1" dirty="0">
                <a:solidFill>
                  <a:srgbClr val="0B1F3A"/>
                </a:solidFill>
              </a:rPr>
              <a:t>$10</a:t>
            </a:r>
            <a:endParaRPr lang="en-US" sz="1200" dirty="0"/>
          </a:p>
        </p:txBody>
      </p:sp>
      <p:sp>
        <p:nvSpPr>
          <p:cNvPr id="13" name="lc row 3"/>
          <p:cNvSpPr/>
          <p:nvPr/>
        </p:nvSpPr>
        <p:spPr>
          <a:xfrm>
            <a:off x="457200" y="2020824"/>
            <a:ext cx="5120640" cy="265176"/>
          </a:xfrm>
          <a:prstGeom prst="roundRect">
            <a:avLst>
              <a:gd name="adj" fmla="val 13793"/>
            </a:avLst>
          </a:prstGeom>
          <a:solidFill>
            <a:schemeClr val="accent1"/>
          </a:solidFill>
          <a:ln w="12700">
            <a:solidFill>
              <a:schemeClr val="accent1"/>
            </a:solidFill>
            <a:prstDash val="solid"/>
          </a:ln>
        </p:spPr>
      </p:sp>
      <p:sp>
        <p:nvSpPr>
          <p:cNvPr id="14" name="Text 11"/>
          <p:cNvSpPr txBox="1"/>
          <p:nvPr/>
        </p:nvSpPr>
        <p:spPr>
          <a:xfrm>
            <a:off x="594360" y="2048256"/>
            <a:ext cx="3200400" cy="219456"/>
          </a:xfrm>
          <a:prstGeom prst="rect">
            <a:avLst/>
          </a:prstGeom>
          <a:noFill/>
          <a:ln/>
        </p:spPr>
        <p:txBody>
          <a:bodyPr wrap="square" lIns="0" tIns="0" rIns="0" bIns="0" rtlCol="0" anchor="ctr"/>
          <a:lstStyle/>
          <a:p>
            <a:pPr indent="0" marL="0">
              <a:buNone/>
            </a:pPr>
            <a:r>
              <a:rPr lang="en-US" sz="1200" b="1" dirty="0">
                <a:solidFill>
                  <a:srgbClr val="0B1F3A"/>
                </a:solidFill>
              </a:rPr>
              <a:t>CIF value</a:t>
            </a:r>
            <a:endParaRPr lang="en-US" sz="1200" dirty="0"/>
          </a:p>
        </p:txBody>
      </p:sp>
      <p:sp>
        <p:nvSpPr>
          <p:cNvPr id="15" name="Text 12"/>
          <p:cNvSpPr txBox="1"/>
          <p:nvPr/>
        </p:nvSpPr>
        <p:spPr>
          <a:xfrm>
            <a:off x="3840480" y="2048256"/>
            <a:ext cx="1645920" cy="219456"/>
          </a:xfrm>
          <a:prstGeom prst="rect">
            <a:avLst/>
          </a:prstGeom>
          <a:noFill/>
          <a:ln/>
        </p:spPr>
        <p:txBody>
          <a:bodyPr wrap="square" lIns="0" tIns="0" rIns="0" bIns="0" rtlCol="0" anchor="ctr"/>
          <a:lstStyle/>
          <a:p>
            <a:pPr algn="r" indent="0" marL="0">
              <a:buNone/>
            </a:pPr>
            <a:r>
              <a:rPr lang="en-US" sz="1200" b="1" dirty="0">
                <a:solidFill>
                  <a:srgbClr val="0B1F3A"/>
                </a:solidFill>
              </a:rPr>
              <a:t>$1,060</a:t>
            </a:r>
            <a:endParaRPr lang="en-US" sz="1200" dirty="0"/>
          </a:p>
        </p:txBody>
      </p:sp>
      <p:sp>
        <p:nvSpPr>
          <p:cNvPr id="16" name="lc row 4"/>
          <p:cNvSpPr/>
          <p:nvPr/>
        </p:nvSpPr>
        <p:spPr>
          <a:xfrm>
            <a:off x="457200" y="2313432"/>
            <a:ext cx="5120640" cy="265176"/>
          </a:xfrm>
          <a:prstGeom prst="roundRect">
            <a:avLst>
              <a:gd name="adj" fmla="val 13793"/>
            </a:avLst>
          </a:prstGeom>
          <a:solidFill>
            <a:schemeClr val="accent1"/>
          </a:solidFill>
          <a:ln w="12700">
            <a:solidFill>
              <a:schemeClr val="accent1"/>
            </a:solidFill>
            <a:prstDash val="solid"/>
          </a:ln>
        </p:spPr>
      </p:sp>
      <p:sp>
        <p:nvSpPr>
          <p:cNvPr id="17" name="Text 14"/>
          <p:cNvSpPr txBox="1"/>
          <p:nvPr/>
        </p:nvSpPr>
        <p:spPr>
          <a:xfrm>
            <a:off x="594360" y="2340864"/>
            <a:ext cx="3200400" cy="219456"/>
          </a:xfrm>
          <a:prstGeom prst="rect">
            <a:avLst/>
          </a:prstGeom>
          <a:noFill/>
          <a:ln/>
        </p:spPr>
        <p:txBody>
          <a:bodyPr wrap="square" lIns="0" tIns="0" rIns="0" bIns="0" rtlCol="0" anchor="ctr"/>
          <a:lstStyle/>
          <a:p>
            <a:pPr indent="0" marL="0">
              <a:buNone/>
            </a:pPr>
            <a:r>
              <a:rPr lang="en-US" sz="1200" b="1" dirty="0">
                <a:solidFill>
                  <a:srgbClr val="0B1F3A"/>
                </a:solidFill>
              </a:rPr>
              <a:t>CIF in naira (₦1,500 = $1)</a:t>
            </a:r>
            <a:endParaRPr lang="en-US" sz="1200" dirty="0"/>
          </a:p>
        </p:txBody>
      </p:sp>
      <p:sp>
        <p:nvSpPr>
          <p:cNvPr id="18" name="Text 15"/>
          <p:cNvSpPr txBox="1"/>
          <p:nvPr/>
        </p:nvSpPr>
        <p:spPr>
          <a:xfrm>
            <a:off x="3840480" y="2340864"/>
            <a:ext cx="1645920" cy="219456"/>
          </a:xfrm>
          <a:prstGeom prst="rect">
            <a:avLst/>
          </a:prstGeom>
          <a:noFill/>
          <a:ln/>
        </p:spPr>
        <p:txBody>
          <a:bodyPr wrap="square" lIns="0" tIns="0" rIns="0" bIns="0" rtlCol="0" anchor="ctr"/>
          <a:lstStyle/>
          <a:p>
            <a:pPr algn="r" indent="0" marL="0">
              <a:buNone/>
            </a:pPr>
            <a:r>
              <a:rPr lang="en-US" sz="1200" b="1" dirty="0">
                <a:solidFill>
                  <a:srgbClr val="0B1F3A"/>
                </a:solidFill>
              </a:rPr>
              <a:t>₦1,590,000</a:t>
            </a:r>
            <a:endParaRPr lang="en-US" sz="1200" dirty="0"/>
          </a:p>
        </p:txBody>
      </p:sp>
      <p:sp>
        <p:nvSpPr>
          <p:cNvPr id="19" name="lc row 5"/>
          <p:cNvSpPr/>
          <p:nvPr/>
        </p:nvSpPr>
        <p:spPr>
          <a:xfrm>
            <a:off x="457200" y="2606040"/>
            <a:ext cx="5120640" cy="265176"/>
          </a:xfrm>
          <a:prstGeom prst="roundRect">
            <a:avLst>
              <a:gd name="adj" fmla="val 13793"/>
            </a:avLst>
          </a:prstGeom>
          <a:solidFill>
            <a:srgbClr val="FFFFFF"/>
          </a:solidFill>
          <a:ln w="12700">
            <a:solidFill>
              <a:srgbClr val="FFFFFF"/>
            </a:solidFill>
            <a:prstDash val="solid"/>
          </a:ln>
        </p:spPr>
      </p:sp>
      <p:sp>
        <p:nvSpPr>
          <p:cNvPr id="20" name="Text 17"/>
          <p:cNvSpPr txBox="1"/>
          <p:nvPr/>
        </p:nvSpPr>
        <p:spPr>
          <a:xfrm>
            <a:off x="594360" y="2633472"/>
            <a:ext cx="3200400" cy="219456"/>
          </a:xfrm>
          <a:prstGeom prst="rect">
            <a:avLst/>
          </a:prstGeom>
          <a:noFill/>
          <a:ln/>
        </p:spPr>
        <p:txBody>
          <a:bodyPr wrap="square" lIns="0" tIns="0" rIns="0" bIns="0" rtlCol="0" anchor="ctr"/>
          <a:lstStyle/>
          <a:p>
            <a:pPr indent="0" marL="0">
              <a:buNone/>
            </a:pPr>
            <a:r>
              <a:rPr lang="en-US" sz="1200" dirty="0">
                <a:solidFill>
                  <a:srgbClr val="0B1F3A"/>
                </a:solidFill>
              </a:rPr>
              <a:t>Duty at 20%</a:t>
            </a:r>
            <a:endParaRPr lang="en-US" sz="1200" dirty="0"/>
          </a:p>
        </p:txBody>
      </p:sp>
      <p:sp>
        <p:nvSpPr>
          <p:cNvPr id="21" name="Text 18"/>
          <p:cNvSpPr txBox="1"/>
          <p:nvPr/>
        </p:nvSpPr>
        <p:spPr>
          <a:xfrm>
            <a:off x="3840480" y="2633472"/>
            <a:ext cx="1645920" cy="219456"/>
          </a:xfrm>
          <a:prstGeom prst="rect">
            <a:avLst/>
          </a:prstGeom>
          <a:noFill/>
          <a:ln/>
        </p:spPr>
        <p:txBody>
          <a:bodyPr wrap="square" lIns="0" tIns="0" rIns="0" bIns="0" rtlCol="0" anchor="ctr"/>
          <a:lstStyle/>
          <a:p>
            <a:pPr algn="r" indent="0" marL="0">
              <a:buNone/>
            </a:pPr>
            <a:r>
              <a:rPr lang="en-US" sz="1200" b="1" dirty="0">
                <a:solidFill>
                  <a:srgbClr val="0B1F3A"/>
                </a:solidFill>
              </a:rPr>
              <a:t>₦318,000</a:t>
            </a:r>
            <a:endParaRPr lang="en-US" sz="1200" dirty="0"/>
          </a:p>
        </p:txBody>
      </p:sp>
      <p:sp>
        <p:nvSpPr>
          <p:cNvPr id="22" name="lc row 6"/>
          <p:cNvSpPr/>
          <p:nvPr/>
        </p:nvSpPr>
        <p:spPr>
          <a:xfrm>
            <a:off x="457200" y="2898648"/>
            <a:ext cx="5120640" cy="265176"/>
          </a:xfrm>
          <a:prstGeom prst="roundRect">
            <a:avLst>
              <a:gd name="adj" fmla="val 13793"/>
            </a:avLst>
          </a:prstGeom>
          <a:solidFill>
            <a:schemeClr val="bg2"/>
          </a:solidFill>
          <a:ln w="12700">
            <a:solidFill>
              <a:schemeClr val="bg2"/>
            </a:solidFill>
            <a:prstDash val="solid"/>
          </a:ln>
        </p:spPr>
      </p:sp>
      <p:sp>
        <p:nvSpPr>
          <p:cNvPr id="23" name="Text 20"/>
          <p:cNvSpPr txBox="1"/>
          <p:nvPr/>
        </p:nvSpPr>
        <p:spPr>
          <a:xfrm>
            <a:off x="594360" y="2926080"/>
            <a:ext cx="3200400" cy="219456"/>
          </a:xfrm>
          <a:prstGeom prst="rect">
            <a:avLst/>
          </a:prstGeom>
          <a:noFill/>
          <a:ln/>
        </p:spPr>
        <p:txBody>
          <a:bodyPr wrap="square" lIns="0" tIns="0" rIns="0" bIns="0" rtlCol="0" anchor="ctr"/>
          <a:lstStyle/>
          <a:p>
            <a:pPr indent="0" marL="0">
              <a:buNone/>
            </a:pPr>
            <a:r>
              <a:rPr lang="en-US" sz="1200" dirty="0">
                <a:solidFill>
                  <a:srgbClr val="0B1F3A"/>
                </a:solidFill>
              </a:rPr>
              <a:t>VAT 7.5% on ₦1,908,000</a:t>
            </a:r>
            <a:endParaRPr lang="en-US" sz="1200" dirty="0"/>
          </a:p>
        </p:txBody>
      </p:sp>
      <p:sp>
        <p:nvSpPr>
          <p:cNvPr id="24" name="Text 21"/>
          <p:cNvSpPr txBox="1"/>
          <p:nvPr/>
        </p:nvSpPr>
        <p:spPr>
          <a:xfrm>
            <a:off x="3840480" y="2926080"/>
            <a:ext cx="1645920" cy="219456"/>
          </a:xfrm>
          <a:prstGeom prst="rect">
            <a:avLst/>
          </a:prstGeom>
          <a:noFill/>
          <a:ln/>
        </p:spPr>
        <p:txBody>
          <a:bodyPr wrap="square" lIns="0" tIns="0" rIns="0" bIns="0" rtlCol="0" anchor="ctr"/>
          <a:lstStyle/>
          <a:p>
            <a:pPr algn="r" indent="0" marL="0">
              <a:buNone/>
            </a:pPr>
            <a:r>
              <a:rPr lang="en-US" sz="1200" b="1" dirty="0">
                <a:solidFill>
                  <a:srgbClr val="0B1F3A"/>
                </a:solidFill>
              </a:rPr>
              <a:t>₦143,100</a:t>
            </a:r>
            <a:endParaRPr lang="en-US" sz="1200" dirty="0"/>
          </a:p>
        </p:txBody>
      </p:sp>
      <p:sp>
        <p:nvSpPr>
          <p:cNvPr id="25" name="lc row 7"/>
          <p:cNvSpPr/>
          <p:nvPr/>
        </p:nvSpPr>
        <p:spPr>
          <a:xfrm>
            <a:off x="457200" y="3191256"/>
            <a:ext cx="5120640" cy="265176"/>
          </a:xfrm>
          <a:prstGeom prst="roundRect">
            <a:avLst>
              <a:gd name="adj" fmla="val 13793"/>
            </a:avLst>
          </a:prstGeom>
          <a:solidFill>
            <a:srgbClr val="FFFFFF"/>
          </a:solidFill>
          <a:ln w="12700">
            <a:solidFill>
              <a:srgbClr val="FFFFFF"/>
            </a:solidFill>
            <a:prstDash val="solid"/>
          </a:ln>
        </p:spPr>
      </p:sp>
      <p:sp>
        <p:nvSpPr>
          <p:cNvPr id="26" name="Text 23"/>
          <p:cNvSpPr txBox="1"/>
          <p:nvPr/>
        </p:nvSpPr>
        <p:spPr>
          <a:xfrm>
            <a:off x="594360" y="3218688"/>
            <a:ext cx="3200400" cy="219456"/>
          </a:xfrm>
          <a:prstGeom prst="rect">
            <a:avLst/>
          </a:prstGeom>
          <a:noFill/>
          <a:ln/>
        </p:spPr>
        <p:txBody>
          <a:bodyPr wrap="square" lIns="0" tIns="0" rIns="0" bIns="0" rtlCol="0" anchor="ctr"/>
          <a:lstStyle/>
          <a:p>
            <a:pPr indent="0" marL="0">
              <a:buNone/>
            </a:pPr>
            <a:r>
              <a:rPr lang="en-US" sz="1200" dirty="0">
                <a:solidFill>
                  <a:srgbClr val="0B1F3A"/>
                </a:solidFill>
              </a:rPr>
              <a:t>Clearing and port</a:t>
            </a:r>
            <a:endParaRPr lang="en-US" sz="1200" dirty="0"/>
          </a:p>
        </p:txBody>
      </p:sp>
      <p:sp>
        <p:nvSpPr>
          <p:cNvPr id="27" name="Text 24"/>
          <p:cNvSpPr txBox="1"/>
          <p:nvPr/>
        </p:nvSpPr>
        <p:spPr>
          <a:xfrm>
            <a:off x="3840480" y="3218688"/>
            <a:ext cx="1645920" cy="219456"/>
          </a:xfrm>
          <a:prstGeom prst="rect">
            <a:avLst/>
          </a:prstGeom>
          <a:noFill/>
          <a:ln/>
        </p:spPr>
        <p:txBody>
          <a:bodyPr wrap="square" lIns="0" tIns="0" rIns="0" bIns="0" rtlCol="0" anchor="ctr"/>
          <a:lstStyle/>
          <a:p>
            <a:pPr algn="r" indent="0" marL="0">
              <a:buNone/>
            </a:pPr>
            <a:r>
              <a:rPr lang="en-US" sz="1200" b="1" dirty="0">
                <a:solidFill>
                  <a:srgbClr val="0B1F3A"/>
                </a:solidFill>
              </a:rPr>
              <a:t>₦120,000</a:t>
            </a:r>
            <a:endParaRPr lang="en-US" sz="1200" dirty="0"/>
          </a:p>
        </p:txBody>
      </p:sp>
      <p:sp>
        <p:nvSpPr>
          <p:cNvPr id="28" name="lc row 8"/>
          <p:cNvSpPr/>
          <p:nvPr/>
        </p:nvSpPr>
        <p:spPr>
          <a:xfrm>
            <a:off x="457200" y="3483864"/>
            <a:ext cx="5120640" cy="265176"/>
          </a:xfrm>
          <a:prstGeom prst="roundRect">
            <a:avLst>
              <a:gd name="adj" fmla="val 13793"/>
            </a:avLst>
          </a:prstGeom>
          <a:solidFill>
            <a:schemeClr val="bg2"/>
          </a:solidFill>
          <a:ln w="12700">
            <a:solidFill>
              <a:schemeClr val="bg2"/>
            </a:solidFill>
            <a:prstDash val="solid"/>
          </a:ln>
        </p:spPr>
      </p:sp>
      <p:sp>
        <p:nvSpPr>
          <p:cNvPr id="29" name="Text 26"/>
          <p:cNvSpPr txBox="1"/>
          <p:nvPr/>
        </p:nvSpPr>
        <p:spPr>
          <a:xfrm>
            <a:off x="594360" y="3511296"/>
            <a:ext cx="3200400" cy="219456"/>
          </a:xfrm>
          <a:prstGeom prst="rect">
            <a:avLst/>
          </a:prstGeom>
          <a:noFill/>
          <a:ln/>
        </p:spPr>
        <p:txBody>
          <a:bodyPr wrap="square" lIns="0" tIns="0" rIns="0" bIns="0" rtlCol="0" anchor="ctr"/>
          <a:lstStyle/>
          <a:p>
            <a:pPr indent="0" marL="0">
              <a:buNone/>
            </a:pPr>
            <a:r>
              <a:rPr lang="en-US" sz="1200" dirty="0">
                <a:solidFill>
                  <a:srgbClr val="0B1F3A"/>
                </a:solidFill>
              </a:rPr>
              <a:t>Local transport</a:t>
            </a:r>
            <a:endParaRPr lang="en-US" sz="1200" dirty="0"/>
          </a:p>
        </p:txBody>
      </p:sp>
      <p:sp>
        <p:nvSpPr>
          <p:cNvPr id="30" name="Text 27"/>
          <p:cNvSpPr txBox="1"/>
          <p:nvPr/>
        </p:nvSpPr>
        <p:spPr>
          <a:xfrm>
            <a:off x="3840480" y="3511296"/>
            <a:ext cx="1645920" cy="219456"/>
          </a:xfrm>
          <a:prstGeom prst="rect">
            <a:avLst/>
          </a:prstGeom>
          <a:noFill/>
          <a:ln/>
        </p:spPr>
        <p:txBody>
          <a:bodyPr wrap="square" lIns="0" tIns="0" rIns="0" bIns="0" rtlCol="0" anchor="ctr"/>
          <a:lstStyle/>
          <a:p>
            <a:pPr algn="r" indent="0" marL="0">
              <a:buNone/>
            </a:pPr>
            <a:r>
              <a:rPr lang="en-US" sz="1200" b="1" dirty="0">
                <a:solidFill>
                  <a:srgbClr val="0B1F3A"/>
                </a:solidFill>
              </a:rPr>
              <a:t>₦30,000</a:t>
            </a:r>
            <a:endParaRPr lang="en-US" sz="1200" dirty="0"/>
          </a:p>
        </p:txBody>
      </p:sp>
      <p:sp>
        <p:nvSpPr>
          <p:cNvPr id="31" name="lc row 9"/>
          <p:cNvSpPr/>
          <p:nvPr/>
        </p:nvSpPr>
        <p:spPr>
          <a:xfrm>
            <a:off x="457200" y="3776472"/>
            <a:ext cx="5120640" cy="265176"/>
          </a:xfrm>
          <a:prstGeom prst="roundRect">
            <a:avLst>
              <a:gd name="adj" fmla="val 13793"/>
            </a:avLst>
          </a:prstGeom>
          <a:solidFill>
            <a:srgbClr val="FFFFFF"/>
          </a:solidFill>
          <a:ln w="12700">
            <a:solidFill>
              <a:srgbClr val="FFFFFF"/>
            </a:solidFill>
            <a:prstDash val="solid"/>
          </a:ln>
        </p:spPr>
      </p:sp>
      <p:sp>
        <p:nvSpPr>
          <p:cNvPr id="32" name="Text 29"/>
          <p:cNvSpPr txBox="1"/>
          <p:nvPr/>
        </p:nvSpPr>
        <p:spPr>
          <a:xfrm>
            <a:off x="594360" y="3803904"/>
            <a:ext cx="3200400" cy="219456"/>
          </a:xfrm>
          <a:prstGeom prst="rect">
            <a:avLst/>
          </a:prstGeom>
          <a:noFill/>
          <a:ln/>
        </p:spPr>
        <p:txBody>
          <a:bodyPr wrap="square" lIns="0" tIns="0" rIns="0" bIns="0" rtlCol="0" anchor="ctr"/>
          <a:lstStyle/>
          <a:p>
            <a:pPr indent="0" marL="0">
              <a:buNone/>
            </a:pPr>
            <a:r>
              <a:rPr lang="en-US" sz="1200" dirty="0">
                <a:solidFill>
                  <a:srgbClr val="0B1F3A"/>
                </a:solidFill>
              </a:rPr>
              <a:t>Bank and payment charges</a:t>
            </a:r>
            <a:endParaRPr lang="en-US" sz="1200" dirty="0"/>
          </a:p>
        </p:txBody>
      </p:sp>
      <p:sp>
        <p:nvSpPr>
          <p:cNvPr id="33" name="Text 30"/>
          <p:cNvSpPr txBox="1"/>
          <p:nvPr/>
        </p:nvSpPr>
        <p:spPr>
          <a:xfrm>
            <a:off x="3840480" y="3803904"/>
            <a:ext cx="1645920" cy="219456"/>
          </a:xfrm>
          <a:prstGeom prst="rect">
            <a:avLst/>
          </a:prstGeom>
          <a:noFill/>
          <a:ln/>
        </p:spPr>
        <p:txBody>
          <a:bodyPr wrap="square" lIns="0" tIns="0" rIns="0" bIns="0" rtlCol="0" anchor="ctr"/>
          <a:lstStyle/>
          <a:p>
            <a:pPr algn="r" indent="0" marL="0">
              <a:buNone/>
            </a:pPr>
            <a:r>
              <a:rPr lang="en-US" sz="1200" b="1" dirty="0">
                <a:solidFill>
                  <a:srgbClr val="0B1F3A"/>
                </a:solidFill>
              </a:rPr>
              <a:t>₦25,000</a:t>
            </a:r>
            <a:endParaRPr lang="en-US" sz="1200" dirty="0"/>
          </a:p>
        </p:txBody>
      </p:sp>
      <p:sp>
        <p:nvSpPr>
          <p:cNvPr id="34" name="total panel"/>
          <p:cNvSpPr/>
          <p:nvPr/>
        </p:nvSpPr>
        <p:spPr>
          <a:xfrm>
            <a:off x="5852160" y="1143000"/>
            <a:ext cx="2834640" cy="2926080"/>
          </a:xfrm>
          <a:prstGeom prst="roundRect">
            <a:avLst>
              <a:gd name="adj" fmla="val 3226"/>
            </a:avLst>
          </a:prstGeom>
          <a:solidFill>
            <a:srgbClr val="0B1F3A"/>
          </a:solidFill>
          <a:ln w="12700">
            <a:solidFill>
              <a:srgbClr val="0B1F3A"/>
            </a:solidFill>
            <a:prstDash val="solid"/>
          </a:ln>
        </p:spPr>
      </p:sp>
      <p:sp>
        <p:nvSpPr>
          <p:cNvPr id="35" name="Text 32"/>
          <p:cNvSpPr txBox="1"/>
          <p:nvPr/>
        </p:nvSpPr>
        <p:spPr>
          <a:xfrm>
            <a:off x="6035040" y="1280160"/>
            <a:ext cx="246888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TOTAL LANDED COST</a:t>
            </a:r>
            <a:endParaRPr lang="en-US" sz="1200" dirty="0"/>
          </a:p>
        </p:txBody>
      </p:sp>
      <p:sp>
        <p:nvSpPr>
          <p:cNvPr id="36" name="Text 33"/>
          <p:cNvSpPr txBox="1"/>
          <p:nvPr/>
        </p:nvSpPr>
        <p:spPr>
          <a:xfrm>
            <a:off x="6035040" y="1645920"/>
            <a:ext cx="2468880" cy="54864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₦2,226,100</a:t>
            </a:r>
            <a:endParaRPr lang="en-US" sz="3200" dirty="0"/>
          </a:p>
        </p:txBody>
      </p:sp>
      <p:sp>
        <p:nvSpPr>
          <p:cNvPr id="37" name="Text 34"/>
          <p:cNvSpPr txBox="1"/>
          <p:nvPr/>
        </p:nvSpPr>
        <p:spPr>
          <a:xfrm>
            <a:off x="6035040" y="2468880"/>
            <a:ext cx="246888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PER UNIT (÷ 300)</a:t>
            </a:r>
            <a:endParaRPr lang="en-US" sz="1200" dirty="0"/>
          </a:p>
        </p:txBody>
      </p:sp>
      <p:sp>
        <p:nvSpPr>
          <p:cNvPr id="38" name="Text 35"/>
          <p:cNvSpPr txBox="1"/>
          <p:nvPr/>
        </p:nvSpPr>
        <p:spPr>
          <a:xfrm>
            <a:off x="6035040" y="2788920"/>
            <a:ext cx="246888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₦7,420</a:t>
            </a:r>
            <a:endParaRPr lang="en-US" sz="4000" dirty="0"/>
          </a:p>
        </p:txBody>
      </p:sp>
      <p:sp>
        <p:nvSpPr>
          <p:cNvPr id="39" name="Text 36"/>
          <p:cNvSpPr txBox="1"/>
          <p:nvPr/>
        </p:nvSpPr>
        <p:spPr>
          <a:xfrm>
            <a:off x="6035040" y="3520440"/>
            <a:ext cx="2468880" cy="457200"/>
          </a:xfrm>
          <a:prstGeom prst="rect">
            <a:avLst/>
          </a:prstGeom>
          <a:noFill/>
          <a:ln/>
        </p:spPr>
        <p:txBody>
          <a:bodyPr wrap="square" lIns="0" tIns="0" rIns="0" bIns="0" rtlCol="0" anchor="t"/>
          <a:lstStyle/>
          <a:p>
            <a:pPr indent="0" marL="0">
              <a:buNone/>
            </a:pPr>
            <a:r>
              <a:rPr lang="en-US" sz="1300" dirty="0">
                <a:solidFill>
                  <a:schemeClr val="accent4"/>
                </a:solidFill>
              </a:rPr>
              <a:t>vs about ₦4,500 on the supplier page</a:t>
            </a:r>
            <a:endParaRPr lang="en-US" sz="1300" dirty="0"/>
          </a:p>
        </p:txBody>
      </p:sp>
      <p:sp>
        <p:nvSpPr>
          <p:cNvPr id="40" name="Text 37"/>
          <p:cNvSpPr txBox="1"/>
          <p:nvPr/>
        </p:nvSpPr>
        <p:spPr>
          <a:xfrm>
            <a:off x="457200" y="4206240"/>
            <a:ext cx="8229600" cy="274320"/>
          </a:xfrm>
          <a:prstGeom prst="rect">
            <a:avLst/>
          </a:prstGeom>
          <a:noFill/>
          <a:ln/>
        </p:spPr>
        <p:txBody>
          <a:bodyPr wrap="square" lIns="0" tIns="0" rIns="0" bIns="0" rtlCol="0" anchor="t"/>
          <a:lstStyle/>
          <a:p>
            <a:pPr indent="0" marL="0">
              <a:buNone/>
            </a:pPr>
            <a:r>
              <a:rPr lang="en-US" sz="1300" i="1" dirty="0">
                <a:solidFill>
                  <a:schemeClr val="accent3"/>
                </a:solidFill>
              </a:rPr>
              <a:t>Teaching rates. Use current rates for your own goods.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Where the money goes</a:t>
            </a:r>
            <a:endParaRPr lang="en-US" sz="2800" dirty="0"/>
          </a:p>
        </p:txBody>
      </p:sp>
      <p:graphicFrame>
        <p:nvGraphicFramePr>
          <p:cNvPr id="4" name="Chart 0" descr=""/>
          <p:cNvGraphicFramePr/>
          <p:nvPr/>
        </p:nvGraphicFramePr>
        <p:xfrm>
          <a:off x="457200" y="1143000"/>
          <a:ext cx="5577840" cy="3063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4297680"/>
            <a:ext cx="5577840" cy="274320"/>
          </a:xfrm>
          <a:prstGeom prst="rect">
            <a:avLst/>
          </a:prstGeom>
          <a:noFill/>
          <a:ln/>
        </p:spPr>
        <p:txBody>
          <a:bodyPr wrap="square" lIns="0" tIns="0" rIns="0" bIns="0" rtlCol="0" anchor="t"/>
          <a:lstStyle/>
          <a:p>
            <a:pPr indent="0" marL="0">
              <a:buNone/>
            </a:pPr>
            <a:r>
              <a:rPr lang="en-US" sz="1200" b="1" dirty="0">
                <a:solidFill>
                  <a:srgbClr val="B26F0A"/>
                </a:solidFill>
              </a:rPr>
              <a:t>Amber: goods and freight   </a:t>
            </a:r>
            <a:pPr indent="0" marL="0">
              <a:buNone/>
            </a:pPr>
            <a:r>
              <a:rPr lang="en-US" sz="1200" b="1" dirty="0">
                <a:solidFill>
                  <a:srgbClr val="C8553D"/>
                </a:solidFill>
              </a:rPr>
              <a:t>Brick: duty and tax   </a:t>
            </a:r>
            <a:pPr indent="0" marL="0">
              <a:buNone/>
            </a:pPr>
            <a:r>
              <a:rPr lang="en-US" sz="1200" b="1" dirty="0">
                <a:solidFill>
                  <a:srgbClr val="3F6E99"/>
                </a:solidFill>
              </a:rPr>
              <a:t>Blue: local costs</a:t>
            </a:r>
            <a:endParaRPr lang="en-US" sz="1200" dirty="0"/>
          </a:p>
        </p:txBody>
      </p:sp>
      <p:sp>
        <p:nvSpPr>
          <p:cNvPr id="6" name="reduce panel"/>
          <p:cNvSpPr/>
          <p:nvPr/>
        </p:nvSpPr>
        <p:spPr>
          <a:xfrm>
            <a:off x="6309360" y="1143000"/>
            <a:ext cx="2377440" cy="3429000"/>
          </a:xfrm>
          <a:prstGeom prst="roundRect">
            <a:avLst>
              <a:gd name="adj" fmla="val 3846"/>
            </a:avLst>
          </a:prstGeom>
          <a:solidFill>
            <a:schemeClr val="bg2"/>
          </a:solidFill>
          <a:ln w="12700">
            <a:solidFill>
              <a:schemeClr val="bg2"/>
            </a:solidFill>
            <a:prstDash val="solid"/>
          </a:ln>
        </p:spPr>
      </p:sp>
      <p:sp>
        <p:nvSpPr>
          <p:cNvPr id="7" name="Text 3"/>
          <p:cNvSpPr txBox="1"/>
          <p:nvPr/>
        </p:nvSpPr>
        <p:spPr>
          <a:xfrm>
            <a:off x="6492240" y="1280160"/>
            <a:ext cx="2103120" cy="228600"/>
          </a:xfrm>
          <a:prstGeom prst="rect">
            <a:avLst/>
          </a:prstGeom>
          <a:noFill/>
          <a:ln/>
        </p:spPr>
        <p:txBody>
          <a:bodyPr wrap="square" lIns="0" tIns="0" rIns="0" bIns="0" rtlCol="0" anchor="t"/>
          <a:lstStyle/>
          <a:p>
            <a:pPr indent="0" marL="0">
              <a:buNone/>
            </a:pPr>
            <a:r>
              <a:rPr lang="en-US" sz="1200" b="1" spc="200" kern="0" dirty="0">
                <a:solidFill>
                  <a:schemeClr val="accent2"/>
                </a:solidFill>
              </a:rPr>
              <a:t>HOW TO REDUCE IT</a:t>
            </a:r>
            <a:endParaRPr lang="en-US" sz="1200" dirty="0"/>
          </a:p>
        </p:txBody>
      </p:sp>
      <p:sp>
        <p:nvSpPr>
          <p:cNvPr id="8" name="Text 4"/>
          <p:cNvSpPr txBox="1"/>
          <p:nvPr/>
        </p:nvSpPr>
        <p:spPr>
          <a:xfrm>
            <a:off x="6492240" y="1645920"/>
            <a:ext cx="20574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Compare freight quotes</a:t>
            </a:r>
            <a:endParaRPr lang="en-US" sz="1400" dirty="0"/>
          </a:p>
          <a:p>
            <a:pPr marL="342900" indent="-342900">
              <a:spcAft>
                <a:spcPts val="800"/>
              </a:spcAft>
              <a:buSzPct val="100000"/>
              <a:buChar char="•"/>
            </a:pPr>
            <a:r>
              <a:rPr lang="en-US" sz="1400" dirty="0">
                <a:solidFill>
                  <a:schemeClr val="tx1"/>
                </a:solidFill>
              </a:rPr>
              <a:t>Confirm the HS code</a:t>
            </a:r>
            <a:endParaRPr lang="en-US" sz="1400" dirty="0"/>
          </a:p>
          <a:p>
            <a:pPr marL="342900" indent="-342900">
              <a:spcAft>
                <a:spcPts val="800"/>
              </a:spcAft>
              <a:buSzPct val="100000"/>
              <a:buChar char="•"/>
            </a:pPr>
            <a:r>
              <a:rPr lang="en-US" sz="1400" dirty="0">
                <a:solidFill>
                  <a:schemeClr val="tx1"/>
                </a:solidFill>
              </a:rPr>
              <a:t>Spread fixed charges over more units</a:t>
            </a:r>
            <a:endParaRPr lang="en-US" sz="1400" dirty="0"/>
          </a:p>
          <a:p>
            <a:pPr marL="342900" indent="-342900">
              <a:spcAft>
                <a:spcPts val="800"/>
              </a:spcAft>
              <a:buSzPct val="100000"/>
              <a:buChar char="•"/>
            </a:pPr>
            <a:r>
              <a:rPr lang="en-US" sz="1400" dirty="0">
                <a:solidFill>
                  <a:schemeClr val="tx1"/>
                </a:solidFill>
              </a:rPr>
              <a:t>Collect goods before storage fees start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Step 9: price for the profit you want</a:t>
            </a:r>
            <a:endParaRPr lang="en-US" sz="2800" dirty="0"/>
          </a:p>
        </p:txBody>
      </p:sp>
      <p:pic>
        <p:nvPicPr>
          <p:cNvPr id="4" name="Nigerian naira banknotes" descr="Nigerian naira banknotes">    </p:cNvPr>
          <p:cNvPicPr>
            <a:picLocks noChangeAspect="1"/>
          </p:cNvPicPr>
          <p:nvPr/>
        </p:nvPicPr>
        <p:blipFill>
          <a:blip r:embed="rId1"/>
          <a:stretch>
            <a:fillRect/>
          </a:stretch>
        </p:blipFill>
        <p:spPr>
          <a:xfrm>
            <a:off x="5669280" y="1188720"/>
            <a:ext cx="3017520" cy="3200400"/>
          </a:xfrm>
          <a:prstGeom prst="rect">
            <a:avLst/>
          </a:prstGeom>
        </p:spPr>
      </p:pic>
      <p:sp>
        <p:nvSpPr>
          <p:cNvPr id="5" name="Text 1"/>
          <p:cNvSpPr txBox="1"/>
          <p:nvPr/>
        </p:nvSpPr>
        <p:spPr>
          <a:xfrm>
            <a:off x="5669280" y="4434840"/>
            <a:ext cx="3017520" cy="201168"/>
          </a:xfrm>
          <a:prstGeom prst="rect">
            <a:avLst/>
          </a:prstGeom>
          <a:noFill/>
          <a:ln/>
        </p:spPr>
        <p:txBody>
          <a:bodyPr wrap="square" lIns="0" tIns="0" rIns="0" bIns="0" rtlCol="0" anchor="t"/>
          <a:lstStyle/>
          <a:p>
            <a:pPr indent="0" marL="0">
              <a:buNone/>
            </a:pPr>
            <a:r>
              <a:rPr lang="en-US" sz="1000" i="1" dirty="0">
                <a:solidFill>
                  <a:schemeClr val="accent4"/>
                </a:solidFill>
              </a:rPr>
              <a:t>Photo: FAdelabu, CC BY-SA 4.0</a:t>
            </a:r>
            <a:endParaRPr lang="en-US" sz="1000" dirty="0"/>
          </a:p>
        </p:txBody>
      </p:sp>
      <p:sp>
        <p:nvSpPr>
          <p:cNvPr id="6" name="margin warning"/>
          <p:cNvSpPr/>
          <p:nvPr/>
        </p:nvSpPr>
        <p:spPr>
          <a:xfrm>
            <a:off x="457200" y="4023360"/>
            <a:ext cx="4937760" cy="548640"/>
          </a:xfrm>
          <a:prstGeom prst="roundRect">
            <a:avLst>
              <a:gd name="adj" fmla="val 13333"/>
            </a:avLst>
          </a:prstGeom>
          <a:solidFill>
            <a:srgbClr val="FBEAE6"/>
          </a:solidFill>
          <a:ln w="12700">
            <a:solidFill>
              <a:srgbClr val="FBEAE6"/>
            </a:solidFill>
            <a:prstDash val="solid"/>
          </a:ln>
        </p:spPr>
      </p:sp>
      <p:sp>
        <p:nvSpPr>
          <p:cNvPr id="7" name="Text 3"/>
          <p:cNvSpPr txBox="1"/>
          <p:nvPr/>
        </p:nvSpPr>
        <p:spPr>
          <a:xfrm>
            <a:off x="594360" y="4069080"/>
            <a:ext cx="4663440" cy="457200"/>
          </a:xfrm>
          <a:prstGeom prst="rect">
            <a:avLst/>
          </a:prstGeom>
          <a:noFill/>
          <a:ln/>
        </p:spPr>
        <p:txBody>
          <a:bodyPr wrap="square" lIns="0" tIns="0" rIns="0" bIns="0" rtlCol="0" anchor="ctr"/>
          <a:lstStyle/>
          <a:p>
            <a:pPr indent="0" marL="0">
              <a:buNone/>
            </a:pPr>
            <a:r>
              <a:rPr lang="en-US" sz="1300" b="1" dirty="0">
                <a:solidFill>
                  <a:schemeClr val="tx1"/>
                </a:solidFill>
              </a:rPr>
              <a:t>A 35% margin is not 35% profit: marketing, packing, delivery and your time still come out.</a:t>
            </a:r>
            <a:endParaRPr lang="en-US" sz="1300" dirty="0"/>
          </a:p>
        </p:txBody>
      </p:sp>
      <p:sp>
        <p:nvSpPr>
          <p:cNvPr id="8" name="formula panel"/>
          <p:cNvSpPr/>
          <p:nvPr/>
        </p:nvSpPr>
        <p:spPr>
          <a:xfrm>
            <a:off x="457200" y="1188720"/>
            <a:ext cx="4937760" cy="1325880"/>
          </a:xfrm>
          <a:prstGeom prst="roundRect">
            <a:avLst>
              <a:gd name="adj" fmla="val 6897"/>
            </a:avLst>
          </a:prstGeom>
          <a:solidFill>
            <a:schemeClr val="bg2"/>
          </a:solidFill>
          <a:ln w="12700">
            <a:solidFill>
              <a:schemeClr val="bg2"/>
            </a:solidFill>
            <a:prstDash val="solid"/>
          </a:ln>
        </p:spPr>
      </p:sp>
      <p:sp>
        <p:nvSpPr>
          <p:cNvPr id="9" name="Text 5"/>
          <p:cNvSpPr txBox="1"/>
          <p:nvPr/>
        </p:nvSpPr>
        <p:spPr>
          <a:xfrm>
            <a:off x="640080" y="1298448"/>
            <a:ext cx="4572000" cy="228600"/>
          </a:xfrm>
          <a:prstGeom prst="rect">
            <a:avLst/>
          </a:prstGeom>
          <a:noFill/>
          <a:ln/>
        </p:spPr>
        <p:txBody>
          <a:bodyPr wrap="square" lIns="0" tIns="0" rIns="0" bIns="0" rtlCol="0" anchor="t"/>
          <a:lstStyle/>
          <a:p>
            <a:pPr indent="0" marL="0">
              <a:buNone/>
            </a:pPr>
            <a:r>
              <a:rPr lang="en-US" sz="1200" b="1" spc="200" kern="0" dirty="0">
                <a:solidFill>
                  <a:schemeClr val="accent2"/>
                </a:solidFill>
              </a:rPr>
              <a:t>SELLING PRICE FORMULA</a:t>
            </a:r>
            <a:endParaRPr lang="en-US" sz="1200" dirty="0"/>
          </a:p>
        </p:txBody>
      </p:sp>
      <p:sp>
        <p:nvSpPr>
          <p:cNvPr id="10" name="Text 6"/>
          <p:cNvSpPr txBox="1"/>
          <p:nvPr/>
        </p:nvSpPr>
        <p:spPr>
          <a:xfrm>
            <a:off x="640080" y="1645920"/>
            <a:ext cx="457200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Price = landed cost ÷ (1 − target margin)</a:t>
            </a:r>
            <a:endParaRPr lang="en-US" sz="1700" dirty="0"/>
          </a:p>
        </p:txBody>
      </p:sp>
      <p:sp>
        <p:nvSpPr>
          <p:cNvPr id="11" name="Text 7"/>
          <p:cNvSpPr txBox="1"/>
          <p:nvPr/>
        </p:nvSpPr>
        <p:spPr>
          <a:xfrm>
            <a:off x="640080" y="2103120"/>
            <a:ext cx="4572000" cy="320040"/>
          </a:xfrm>
          <a:prstGeom prst="rect">
            <a:avLst/>
          </a:prstGeom>
          <a:noFill/>
          <a:ln/>
        </p:spPr>
        <p:txBody>
          <a:bodyPr wrap="square" lIns="0" tIns="0" rIns="0" bIns="0" rtlCol="0" anchor="t"/>
          <a:lstStyle/>
          <a:p>
            <a:pPr indent="0" marL="0">
              <a:buNone/>
            </a:pPr>
            <a:r>
              <a:rPr lang="en-US" sz="1600" b="1" dirty="0">
                <a:solidFill>
                  <a:schemeClr val="accent6"/>
                </a:solidFill>
              </a:rPr>
              <a:t>₦7,420 ÷ 0.65 = ₦11,415 for a 35% margin</a:t>
            </a:r>
            <a:endParaRPr lang="en-US" sz="1600" dirty="0"/>
          </a:p>
        </p:txBody>
      </p:sp>
      <p:sp>
        <p:nvSpPr>
          <p:cNvPr id="12" name="markup card"/>
          <p:cNvSpPr/>
          <p:nvPr/>
        </p:nvSpPr>
        <p:spPr>
          <a:xfrm>
            <a:off x="457200" y="2697480"/>
            <a:ext cx="2377440" cy="1188720"/>
          </a:xfrm>
          <a:prstGeom prst="roundRect">
            <a:avLst>
              <a:gd name="adj" fmla="val 7692"/>
            </a:avLst>
          </a:prstGeom>
          <a:solidFill>
            <a:srgbClr val="FFFFFF"/>
          </a:solidFill>
          <a:ln w="12700">
            <a:solidFill>
              <a:srgbClr val="C9D6E5"/>
            </a:solidFill>
            <a:prstDash val="solid"/>
          </a:ln>
        </p:spPr>
      </p:sp>
      <p:sp>
        <p:nvSpPr>
          <p:cNvPr id="13" name="Text 9"/>
          <p:cNvSpPr txBox="1"/>
          <p:nvPr/>
        </p:nvSpPr>
        <p:spPr>
          <a:xfrm>
            <a:off x="594360" y="2788920"/>
            <a:ext cx="2103120" cy="228600"/>
          </a:xfrm>
          <a:prstGeom prst="rect">
            <a:avLst/>
          </a:prstGeom>
          <a:noFill/>
          <a:ln/>
        </p:spPr>
        <p:txBody>
          <a:bodyPr wrap="square" lIns="0" tIns="0" rIns="0" bIns="0" rtlCol="0" anchor="t"/>
          <a:lstStyle/>
          <a:p>
            <a:pPr indent="0" marL="0">
              <a:buNone/>
            </a:pPr>
            <a:r>
              <a:rPr lang="en-US" sz="1200" b="1" spc="200" kern="0" dirty="0">
                <a:solidFill>
                  <a:schemeClr val="accent2"/>
                </a:solidFill>
              </a:rPr>
              <a:t>MARKUP</a:t>
            </a:r>
            <a:endParaRPr lang="en-US" sz="1200" dirty="0"/>
          </a:p>
        </p:txBody>
      </p:sp>
      <p:sp>
        <p:nvSpPr>
          <p:cNvPr id="14" name="Text 10"/>
          <p:cNvSpPr txBox="1"/>
          <p:nvPr/>
        </p:nvSpPr>
        <p:spPr>
          <a:xfrm>
            <a:off x="594360" y="3063240"/>
            <a:ext cx="2103120" cy="274320"/>
          </a:xfrm>
          <a:prstGeom prst="rect">
            <a:avLst/>
          </a:prstGeom>
          <a:noFill/>
          <a:ln/>
        </p:spPr>
        <p:txBody>
          <a:bodyPr wrap="square" lIns="0" tIns="0" rIns="0" bIns="0" rtlCol="0" anchor="t"/>
          <a:lstStyle/>
          <a:p>
            <a:pPr indent="0" marL="0">
              <a:buNone/>
            </a:pPr>
            <a:r>
              <a:rPr lang="en-US" sz="1500" b="1" dirty="0">
                <a:solidFill>
                  <a:schemeClr val="tx1"/>
                </a:solidFill>
              </a:rPr>
              <a:t>Profit ÷ cost</a:t>
            </a:r>
            <a:endParaRPr lang="en-US" sz="1500" dirty="0"/>
          </a:p>
        </p:txBody>
      </p:sp>
      <p:sp>
        <p:nvSpPr>
          <p:cNvPr id="15" name="Text 11"/>
          <p:cNvSpPr txBox="1"/>
          <p:nvPr/>
        </p:nvSpPr>
        <p:spPr>
          <a:xfrm>
            <a:off x="594360" y="3383280"/>
            <a:ext cx="2103120" cy="365760"/>
          </a:xfrm>
          <a:prstGeom prst="rect">
            <a:avLst/>
          </a:prstGeom>
          <a:noFill/>
          <a:ln/>
        </p:spPr>
        <p:txBody>
          <a:bodyPr wrap="square" lIns="0" tIns="0" rIns="0" bIns="0" rtlCol="0" anchor="t"/>
          <a:lstStyle/>
          <a:p>
            <a:pPr indent="0" marL="0">
              <a:buNone/>
            </a:pPr>
            <a:r>
              <a:rPr lang="en-US" sz="1300" dirty="0">
                <a:solidFill>
                  <a:schemeClr val="tx1"/>
                </a:solidFill>
              </a:rPr>
              <a:t>₦4,000 ÷ ₦6,000 = 66.7%</a:t>
            </a:r>
            <a:endParaRPr lang="en-US" sz="1300" dirty="0"/>
          </a:p>
        </p:txBody>
      </p:sp>
      <p:sp>
        <p:nvSpPr>
          <p:cNvPr id="16" name="margin card"/>
          <p:cNvSpPr/>
          <p:nvPr/>
        </p:nvSpPr>
        <p:spPr>
          <a:xfrm>
            <a:off x="3017520" y="2697480"/>
            <a:ext cx="2377440" cy="1188720"/>
          </a:xfrm>
          <a:prstGeom prst="roundRect">
            <a:avLst>
              <a:gd name="adj" fmla="val 7692"/>
            </a:avLst>
          </a:prstGeom>
          <a:solidFill>
            <a:srgbClr val="FFFFFF"/>
          </a:solidFill>
          <a:ln w="12700">
            <a:solidFill>
              <a:srgbClr val="C9D6E5"/>
            </a:solidFill>
            <a:prstDash val="solid"/>
          </a:ln>
        </p:spPr>
      </p:sp>
      <p:sp>
        <p:nvSpPr>
          <p:cNvPr id="17" name="Text 13"/>
          <p:cNvSpPr txBox="1"/>
          <p:nvPr/>
        </p:nvSpPr>
        <p:spPr>
          <a:xfrm>
            <a:off x="3154680" y="2788920"/>
            <a:ext cx="2103120" cy="228600"/>
          </a:xfrm>
          <a:prstGeom prst="rect">
            <a:avLst/>
          </a:prstGeom>
          <a:noFill/>
          <a:ln/>
        </p:spPr>
        <p:txBody>
          <a:bodyPr wrap="square" lIns="0" tIns="0" rIns="0" bIns="0" rtlCol="0" anchor="t"/>
          <a:lstStyle/>
          <a:p>
            <a:pPr indent="0" marL="0">
              <a:buNone/>
            </a:pPr>
            <a:r>
              <a:rPr lang="en-US" sz="1200" b="1" spc="200" kern="0" dirty="0">
                <a:solidFill>
                  <a:schemeClr val="accent6"/>
                </a:solidFill>
              </a:rPr>
              <a:t>MARGIN</a:t>
            </a:r>
            <a:endParaRPr lang="en-US" sz="1200" dirty="0"/>
          </a:p>
        </p:txBody>
      </p:sp>
      <p:sp>
        <p:nvSpPr>
          <p:cNvPr id="18" name="Text 14"/>
          <p:cNvSpPr txBox="1"/>
          <p:nvPr/>
        </p:nvSpPr>
        <p:spPr>
          <a:xfrm>
            <a:off x="3154680" y="3063240"/>
            <a:ext cx="2103120" cy="274320"/>
          </a:xfrm>
          <a:prstGeom prst="rect">
            <a:avLst/>
          </a:prstGeom>
          <a:noFill/>
          <a:ln/>
        </p:spPr>
        <p:txBody>
          <a:bodyPr wrap="square" lIns="0" tIns="0" rIns="0" bIns="0" rtlCol="0" anchor="t"/>
          <a:lstStyle/>
          <a:p>
            <a:pPr indent="0" marL="0">
              <a:buNone/>
            </a:pPr>
            <a:r>
              <a:rPr lang="en-US" sz="1400" b="1" dirty="0">
                <a:solidFill>
                  <a:schemeClr val="tx1"/>
                </a:solidFill>
              </a:rPr>
              <a:t>Profit ÷ selling price</a:t>
            </a:r>
            <a:endParaRPr lang="en-US" sz="1400" dirty="0"/>
          </a:p>
        </p:txBody>
      </p:sp>
      <p:sp>
        <p:nvSpPr>
          <p:cNvPr id="19" name="Text 15"/>
          <p:cNvSpPr txBox="1"/>
          <p:nvPr/>
        </p:nvSpPr>
        <p:spPr>
          <a:xfrm>
            <a:off x="3154680" y="3383280"/>
            <a:ext cx="2103120" cy="365760"/>
          </a:xfrm>
          <a:prstGeom prst="rect">
            <a:avLst/>
          </a:prstGeom>
          <a:noFill/>
          <a:ln/>
        </p:spPr>
        <p:txBody>
          <a:bodyPr wrap="square" lIns="0" tIns="0" rIns="0" bIns="0" rtlCol="0" anchor="t"/>
          <a:lstStyle/>
          <a:p>
            <a:pPr indent="0" marL="0">
              <a:buNone/>
            </a:pPr>
            <a:r>
              <a:rPr lang="en-US" sz="1300" dirty="0">
                <a:solidFill>
                  <a:schemeClr val="tx1"/>
                </a:solidFill>
              </a:rPr>
              <a:t>₦4,000 ÷ ₦10,000 = 40%</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Step 10: sell, collect and reorder</a:t>
            </a:r>
            <a:endParaRPr lang="en-US" sz="2800" dirty="0"/>
          </a:p>
        </p:txBody>
      </p:sp>
      <p:pic>
        <p:nvPicPr>
          <p:cNvPr id="4" name="A busy Lagos market" descr="A busy Lagos market">    </p:cNvPr>
          <p:cNvPicPr>
            <a:picLocks noChangeAspect="1"/>
          </p:cNvPicPr>
          <p:nvPr/>
        </p:nvPicPr>
        <p:blipFill>
          <a:blip r:embed="rId1"/>
          <a:stretch>
            <a:fillRect/>
          </a:stretch>
        </p:blipFill>
        <p:spPr>
          <a:xfrm>
            <a:off x="4663440" y="1188720"/>
            <a:ext cx="4023360" cy="3200400"/>
          </a:xfrm>
          <a:prstGeom prst="rect">
            <a:avLst/>
          </a:prstGeom>
        </p:spPr>
      </p:pic>
      <p:sp>
        <p:nvSpPr>
          <p:cNvPr id="5" name="Text 1"/>
          <p:cNvSpPr txBox="1"/>
          <p:nvPr/>
        </p:nvSpPr>
        <p:spPr>
          <a:xfrm>
            <a:off x="4663440" y="4434840"/>
            <a:ext cx="4023360" cy="201168"/>
          </a:xfrm>
          <a:prstGeom prst="rect">
            <a:avLst/>
          </a:prstGeom>
          <a:noFill/>
          <a:ln/>
        </p:spPr>
        <p:txBody>
          <a:bodyPr wrap="square" lIns="0" tIns="0" rIns="0" bIns="0" rtlCol="0" anchor="t"/>
          <a:lstStyle/>
          <a:p>
            <a:pPr indent="0" marL="0">
              <a:buNone/>
            </a:pPr>
            <a:r>
              <a:rPr lang="en-US" sz="1000" i="1" dirty="0">
                <a:solidFill>
                  <a:schemeClr val="accent4"/>
                </a:solidFill>
              </a:rPr>
              <a:t>A busy Lagos market. Photo: Sir Demo, CC BY-SA 4.0</a:t>
            </a:r>
            <a:endParaRPr lang="en-US" sz="1000" dirty="0"/>
          </a:p>
        </p:txBody>
      </p:sp>
      <p:sp>
        <p:nvSpPr>
          <p:cNvPr id="6" name="retail card"/>
          <p:cNvSpPr/>
          <p:nvPr/>
        </p:nvSpPr>
        <p:spPr>
          <a:xfrm>
            <a:off x="457200" y="1188720"/>
            <a:ext cx="4023360" cy="1554480"/>
          </a:xfrm>
          <a:prstGeom prst="roundRect">
            <a:avLst>
              <a:gd name="adj" fmla="val 5882"/>
            </a:avLst>
          </a:prstGeom>
          <a:solidFill>
            <a:schemeClr val="bg2"/>
          </a:solidFill>
          <a:ln w="12700">
            <a:solidFill>
              <a:schemeClr val="bg2"/>
            </a:solidFill>
            <a:prstDash val="solid"/>
          </a:ln>
        </p:spPr>
      </p:sp>
      <p:sp>
        <p:nvSpPr>
          <p:cNvPr id="7" name="Text 3"/>
          <p:cNvSpPr txBox="1"/>
          <p:nvPr/>
        </p:nvSpPr>
        <p:spPr>
          <a:xfrm>
            <a:off x="640080" y="1298448"/>
            <a:ext cx="3566160" cy="228600"/>
          </a:xfrm>
          <a:prstGeom prst="rect">
            <a:avLst/>
          </a:prstGeom>
          <a:noFill/>
          <a:ln/>
        </p:spPr>
        <p:txBody>
          <a:bodyPr wrap="square" lIns="0" tIns="0" rIns="0" bIns="0" rtlCol="0" anchor="t"/>
          <a:lstStyle/>
          <a:p>
            <a:pPr indent="0" marL="0">
              <a:buNone/>
            </a:pPr>
            <a:r>
              <a:rPr lang="en-US" sz="1200" b="1" spc="200" kern="0" dirty="0">
                <a:solidFill>
                  <a:schemeClr val="accent2"/>
                </a:solidFill>
              </a:rPr>
              <a:t>RETAIL</a:t>
            </a:r>
            <a:endParaRPr lang="en-US" sz="1200" dirty="0"/>
          </a:p>
        </p:txBody>
      </p:sp>
      <p:sp>
        <p:nvSpPr>
          <p:cNvPr id="8" name="Text 4"/>
          <p:cNvSpPr txBox="1"/>
          <p:nvPr/>
        </p:nvSpPr>
        <p:spPr>
          <a:xfrm>
            <a:off x="640080" y="1600200"/>
            <a:ext cx="356616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₦12,000 − ₦7,420</a:t>
            </a:r>
            <a:endParaRPr lang="en-US" sz="2000" dirty="0"/>
          </a:p>
        </p:txBody>
      </p:sp>
      <p:sp>
        <p:nvSpPr>
          <p:cNvPr id="9" name="Text 5"/>
          <p:cNvSpPr txBox="1"/>
          <p:nvPr/>
        </p:nvSpPr>
        <p:spPr>
          <a:xfrm>
            <a:off x="640080" y="2103120"/>
            <a:ext cx="3566160" cy="457200"/>
          </a:xfrm>
          <a:prstGeom prst="rect">
            <a:avLst/>
          </a:prstGeom>
          <a:noFill/>
          <a:ln/>
        </p:spPr>
        <p:txBody>
          <a:bodyPr wrap="square" lIns="0" tIns="0" rIns="0" bIns="0" rtlCol="0" anchor="t"/>
          <a:lstStyle/>
          <a:p>
            <a:pPr indent="0" marL="0">
              <a:buNone/>
            </a:pPr>
            <a:r>
              <a:rPr lang="en-US" sz="1400" dirty="0">
                <a:solidFill>
                  <a:schemeClr val="tx1"/>
                </a:solidFill>
              </a:rPr>
              <a:t>= ₦4,580 profit per unit, slower to sell</a:t>
            </a:r>
            <a:endParaRPr lang="en-US" sz="1400" dirty="0"/>
          </a:p>
        </p:txBody>
      </p:sp>
      <p:sp>
        <p:nvSpPr>
          <p:cNvPr id="10" name="wholesale card"/>
          <p:cNvSpPr/>
          <p:nvPr/>
        </p:nvSpPr>
        <p:spPr>
          <a:xfrm>
            <a:off x="457200" y="2926080"/>
            <a:ext cx="4023360" cy="1554480"/>
          </a:xfrm>
          <a:prstGeom prst="roundRect">
            <a:avLst>
              <a:gd name="adj" fmla="val 5882"/>
            </a:avLst>
          </a:prstGeom>
          <a:solidFill>
            <a:srgbClr val="0B1F3A"/>
          </a:solidFill>
          <a:ln w="12700">
            <a:solidFill>
              <a:srgbClr val="0B1F3A"/>
            </a:solidFill>
            <a:prstDash val="solid"/>
          </a:ln>
        </p:spPr>
      </p:sp>
      <p:sp>
        <p:nvSpPr>
          <p:cNvPr id="11" name="Text 7"/>
          <p:cNvSpPr txBox="1"/>
          <p:nvPr/>
        </p:nvSpPr>
        <p:spPr>
          <a:xfrm>
            <a:off x="640080" y="3035808"/>
            <a:ext cx="356616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WHOLESALE (10 or more)</a:t>
            </a:r>
            <a:endParaRPr lang="en-US" sz="1200" dirty="0"/>
          </a:p>
        </p:txBody>
      </p:sp>
      <p:sp>
        <p:nvSpPr>
          <p:cNvPr id="12" name="Text 8"/>
          <p:cNvSpPr txBox="1"/>
          <p:nvPr/>
        </p:nvSpPr>
        <p:spPr>
          <a:xfrm>
            <a:off x="640080" y="3337560"/>
            <a:ext cx="356616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₦9,500 − ₦7,420</a:t>
            </a:r>
            <a:endParaRPr lang="en-US" sz="2000" dirty="0"/>
          </a:p>
        </p:txBody>
      </p:sp>
      <p:sp>
        <p:nvSpPr>
          <p:cNvPr id="13" name="Text 9"/>
          <p:cNvSpPr txBox="1"/>
          <p:nvPr/>
        </p:nvSpPr>
        <p:spPr>
          <a:xfrm>
            <a:off x="640080" y="3840480"/>
            <a:ext cx="3566160" cy="548640"/>
          </a:xfrm>
          <a:prstGeom prst="rect">
            <a:avLst/>
          </a:prstGeom>
          <a:noFill/>
          <a:ln/>
        </p:spPr>
        <p:txBody>
          <a:bodyPr wrap="square" lIns="0" tIns="0" rIns="0" bIns="0" rtlCol="0" anchor="t"/>
          <a:lstStyle/>
          <a:p>
            <a:pPr indent="0" marL="0">
              <a:buNone/>
            </a:pPr>
            <a:r>
              <a:rPr lang="en-US" sz="1400" dirty="0">
                <a:solidFill>
                  <a:schemeClr val="bg1"/>
                </a:solidFill>
              </a:rPr>
              <a:t>= ₦2,080 a unit. Ten units: ₦20,800 in a day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Exporting: the other direction</a:t>
            </a:r>
            <a:endParaRPr lang="en-US" sz="2800" dirty="0"/>
          </a:p>
        </p:txBody>
      </p:sp>
      <p:sp>
        <p:nvSpPr>
          <p:cNvPr id="4" name="card Agriculture"/>
          <p:cNvSpPr/>
          <p:nvPr/>
        </p:nvSpPr>
        <p:spPr>
          <a:xfrm>
            <a:off x="457200" y="1188720"/>
            <a:ext cx="4023360" cy="1325880"/>
          </a:xfrm>
          <a:prstGeom prst="roundRect">
            <a:avLst>
              <a:gd name="adj" fmla="val 6897"/>
            </a:avLst>
          </a:prstGeom>
          <a:solidFill>
            <a:schemeClr val="bg2"/>
          </a:solidFill>
          <a:ln w="12700">
            <a:solidFill>
              <a:schemeClr val="bg2"/>
            </a:solidFill>
            <a:prstDash val="solid"/>
          </a:ln>
        </p:spPr>
      </p:sp>
      <p:sp>
        <p:nvSpPr>
          <p:cNvPr id="5" name="icon-circle Agriculture"/>
          <p:cNvSpPr/>
          <p:nvPr/>
        </p:nvSpPr>
        <p:spPr>
          <a:xfrm>
            <a:off x="621792" y="1353312"/>
            <a:ext cx="457200" cy="457200"/>
          </a:xfrm>
          <a:prstGeom prst="ellipse">
            <a:avLst/>
          </a:prstGeom>
          <a:solidFill>
            <a:schemeClr val="accent2"/>
          </a:solidFill>
          <a:ln w="12700">
            <a:solidFill>
              <a:schemeClr val="accent2"/>
            </a:solidFill>
            <a:prstDash val="solid"/>
          </a:ln>
        </p:spPr>
      </p:sp>
      <p:pic>
        <p:nvPicPr>
          <p:cNvPr id="6" name="icon FaGlobeAfrica" descr="preencoded.png">    </p:cNvPr>
          <p:cNvPicPr>
            <a:picLocks noChangeAspect="1"/>
          </p:cNvPicPr>
          <p:nvPr/>
        </p:nvPicPr>
        <p:blipFill>
          <a:blip r:embed="rId1"/>
          <a:stretch>
            <a:fillRect/>
          </a:stretch>
        </p:blipFill>
        <p:spPr>
          <a:xfrm>
            <a:off x="740664" y="1472184"/>
            <a:ext cx="219456" cy="219456"/>
          </a:xfrm>
          <a:prstGeom prst="rect">
            <a:avLst/>
          </a:prstGeom>
        </p:spPr>
      </p:pic>
      <p:sp>
        <p:nvSpPr>
          <p:cNvPr id="7" name="Text 3"/>
          <p:cNvSpPr txBox="1"/>
          <p:nvPr/>
        </p:nvSpPr>
        <p:spPr>
          <a:xfrm>
            <a:off x="1207008" y="133502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Agriculture</a:t>
            </a:r>
            <a:endParaRPr lang="en-US" sz="1600" dirty="0"/>
          </a:p>
        </p:txBody>
      </p:sp>
      <p:sp>
        <p:nvSpPr>
          <p:cNvPr id="8" name="Text 4"/>
          <p:cNvSpPr txBox="1"/>
          <p:nvPr/>
        </p:nvSpPr>
        <p:spPr>
          <a:xfrm>
            <a:off x="1207008" y="1664208"/>
            <a:ext cx="3108960" cy="722376"/>
          </a:xfrm>
          <a:prstGeom prst="rect">
            <a:avLst/>
          </a:prstGeom>
          <a:noFill/>
          <a:ln/>
        </p:spPr>
        <p:txBody>
          <a:bodyPr wrap="square" lIns="0" tIns="0" rIns="0" bIns="0" rtlCol="0" anchor="t"/>
          <a:lstStyle/>
          <a:p>
            <a:pPr indent="0" marL="0">
              <a:buNone/>
            </a:pPr>
            <a:r>
              <a:rPr lang="en-US" sz="1400" dirty="0">
                <a:solidFill>
                  <a:schemeClr val="tx1"/>
                </a:solidFill>
              </a:rPr>
              <a:t>Sesame, cocoa, cashew, ginger, hibiscus</a:t>
            </a:r>
            <a:endParaRPr lang="en-US" sz="1400" dirty="0"/>
          </a:p>
        </p:txBody>
      </p:sp>
      <p:sp>
        <p:nvSpPr>
          <p:cNvPr id="9" name="card Foods and spices"/>
          <p:cNvSpPr/>
          <p:nvPr/>
        </p:nvSpPr>
        <p:spPr>
          <a:xfrm>
            <a:off x="4663440" y="1188720"/>
            <a:ext cx="4023360" cy="1325880"/>
          </a:xfrm>
          <a:prstGeom prst="roundRect">
            <a:avLst>
              <a:gd name="adj" fmla="val 6897"/>
            </a:avLst>
          </a:prstGeom>
          <a:solidFill>
            <a:schemeClr val="bg2"/>
          </a:solidFill>
          <a:ln w="12700">
            <a:solidFill>
              <a:schemeClr val="bg2"/>
            </a:solidFill>
            <a:prstDash val="solid"/>
          </a:ln>
        </p:spPr>
      </p:sp>
      <p:sp>
        <p:nvSpPr>
          <p:cNvPr id="10" name="icon-circle Foods and spices"/>
          <p:cNvSpPr/>
          <p:nvPr/>
        </p:nvSpPr>
        <p:spPr>
          <a:xfrm>
            <a:off x="4828032" y="1353312"/>
            <a:ext cx="457200" cy="457200"/>
          </a:xfrm>
          <a:prstGeom prst="ellipse">
            <a:avLst/>
          </a:prstGeom>
          <a:solidFill>
            <a:schemeClr val="accent6"/>
          </a:solidFill>
          <a:ln w="12700">
            <a:solidFill>
              <a:schemeClr val="accent6"/>
            </a:solidFill>
            <a:prstDash val="solid"/>
          </a:ln>
        </p:spPr>
      </p:sp>
      <p:pic>
        <p:nvPicPr>
          <p:cNvPr id="11" name="icon FaBoxOpen" descr="preencoded.png">    </p:cNvPr>
          <p:cNvPicPr>
            <a:picLocks noChangeAspect="1"/>
          </p:cNvPicPr>
          <p:nvPr/>
        </p:nvPicPr>
        <p:blipFill>
          <a:blip r:embed="rId2"/>
          <a:stretch>
            <a:fillRect/>
          </a:stretch>
        </p:blipFill>
        <p:spPr>
          <a:xfrm>
            <a:off x="4946904" y="1472184"/>
            <a:ext cx="219456" cy="219456"/>
          </a:xfrm>
          <a:prstGeom prst="rect">
            <a:avLst/>
          </a:prstGeom>
        </p:spPr>
      </p:pic>
      <p:sp>
        <p:nvSpPr>
          <p:cNvPr id="12" name="Text 7"/>
          <p:cNvSpPr txBox="1"/>
          <p:nvPr/>
        </p:nvSpPr>
        <p:spPr>
          <a:xfrm>
            <a:off x="5413248" y="133502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Foods and spices</a:t>
            </a:r>
            <a:endParaRPr lang="en-US" sz="1600" dirty="0"/>
          </a:p>
        </p:txBody>
      </p:sp>
      <p:sp>
        <p:nvSpPr>
          <p:cNvPr id="13" name="Text 8"/>
          <p:cNvSpPr txBox="1"/>
          <p:nvPr/>
        </p:nvSpPr>
        <p:spPr>
          <a:xfrm>
            <a:off x="5413248" y="1664208"/>
            <a:ext cx="3108960" cy="722376"/>
          </a:xfrm>
          <a:prstGeom prst="rect">
            <a:avLst/>
          </a:prstGeom>
          <a:noFill/>
          <a:ln/>
        </p:spPr>
        <p:txBody>
          <a:bodyPr wrap="square" lIns="0" tIns="0" rIns="0" bIns="0" rtlCol="0" anchor="t"/>
          <a:lstStyle/>
          <a:p>
            <a:pPr indent="0" marL="0">
              <a:buNone/>
            </a:pPr>
            <a:r>
              <a:rPr lang="en-US" sz="1400" dirty="0">
                <a:solidFill>
                  <a:schemeClr val="tx1"/>
                </a:solidFill>
              </a:rPr>
              <a:t>Packaged snacks and sauces for the diaspora</a:t>
            </a:r>
            <a:endParaRPr lang="en-US" sz="1400" dirty="0"/>
          </a:p>
        </p:txBody>
      </p:sp>
      <p:sp>
        <p:nvSpPr>
          <p:cNvPr id="14" name="card Beauty and care"/>
          <p:cNvSpPr/>
          <p:nvPr/>
        </p:nvSpPr>
        <p:spPr>
          <a:xfrm>
            <a:off x="457200" y="2651760"/>
            <a:ext cx="4023360" cy="1325880"/>
          </a:xfrm>
          <a:prstGeom prst="roundRect">
            <a:avLst>
              <a:gd name="adj" fmla="val 6897"/>
            </a:avLst>
          </a:prstGeom>
          <a:solidFill>
            <a:schemeClr val="bg2"/>
          </a:solidFill>
          <a:ln w="12700">
            <a:solidFill>
              <a:schemeClr val="bg2"/>
            </a:solidFill>
            <a:prstDash val="solid"/>
          </a:ln>
        </p:spPr>
      </p:sp>
      <p:sp>
        <p:nvSpPr>
          <p:cNvPr id="15" name="icon-circle Beauty and care"/>
          <p:cNvSpPr/>
          <p:nvPr/>
        </p:nvSpPr>
        <p:spPr>
          <a:xfrm>
            <a:off x="621792" y="2816352"/>
            <a:ext cx="457200" cy="457200"/>
          </a:xfrm>
          <a:prstGeom prst="ellipse">
            <a:avLst/>
          </a:prstGeom>
          <a:solidFill>
            <a:schemeClr val="accent2"/>
          </a:solidFill>
          <a:ln w="12700">
            <a:solidFill>
              <a:schemeClr val="accent2"/>
            </a:solidFill>
            <a:prstDash val="solid"/>
          </a:ln>
        </p:spPr>
      </p:sp>
      <p:pic>
        <p:nvPicPr>
          <p:cNvPr id="16" name="icon FaStore" descr="preencoded.png">    </p:cNvPr>
          <p:cNvPicPr>
            <a:picLocks noChangeAspect="1"/>
          </p:cNvPicPr>
          <p:nvPr/>
        </p:nvPicPr>
        <p:blipFill>
          <a:blip r:embed="rId3"/>
          <a:stretch>
            <a:fillRect/>
          </a:stretch>
        </p:blipFill>
        <p:spPr>
          <a:xfrm>
            <a:off x="740664" y="2935224"/>
            <a:ext cx="219456" cy="219456"/>
          </a:xfrm>
          <a:prstGeom prst="rect">
            <a:avLst/>
          </a:prstGeom>
        </p:spPr>
      </p:pic>
      <p:sp>
        <p:nvSpPr>
          <p:cNvPr id="17" name="Text 11"/>
          <p:cNvSpPr txBox="1"/>
          <p:nvPr/>
        </p:nvSpPr>
        <p:spPr>
          <a:xfrm>
            <a:off x="1207008" y="279806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Beauty and care</a:t>
            </a:r>
            <a:endParaRPr lang="en-US" sz="1600" dirty="0"/>
          </a:p>
        </p:txBody>
      </p:sp>
      <p:sp>
        <p:nvSpPr>
          <p:cNvPr id="18" name="Text 12"/>
          <p:cNvSpPr txBox="1"/>
          <p:nvPr/>
        </p:nvSpPr>
        <p:spPr>
          <a:xfrm>
            <a:off x="1207008" y="3127248"/>
            <a:ext cx="3108960" cy="722376"/>
          </a:xfrm>
          <a:prstGeom prst="rect">
            <a:avLst/>
          </a:prstGeom>
          <a:noFill/>
          <a:ln/>
        </p:spPr>
        <p:txBody>
          <a:bodyPr wrap="square" lIns="0" tIns="0" rIns="0" bIns="0" rtlCol="0" anchor="t"/>
          <a:lstStyle/>
          <a:p>
            <a:pPr indent="0" marL="0">
              <a:buNone/>
            </a:pPr>
            <a:r>
              <a:rPr lang="en-US" sz="1400" dirty="0">
                <a:solidFill>
                  <a:schemeClr val="tx1"/>
                </a:solidFill>
              </a:rPr>
              <a:t>Shea butter, black soap, natural oils</a:t>
            </a:r>
            <a:endParaRPr lang="en-US" sz="1400" dirty="0"/>
          </a:p>
        </p:txBody>
      </p:sp>
      <p:sp>
        <p:nvSpPr>
          <p:cNvPr id="19" name="card Fashion and crafts"/>
          <p:cNvSpPr/>
          <p:nvPr/>
        </p:nvSpPr>
        <p:spPr>
          <a:xfrm>
            <a:off x="4663440" y="2651760"/>
            <a:ext cx="4023360" cy="1325880"/>
          </a:xfrm>
          <a:prstGeom prst="roundRect">
            <a:avLst>
              <a:gd name="adj" fmla="val 6897"/>
            </a:avLst>
          </a:prstGeom>
          <a:solidFill>
            <a:schemeClr val="bg2"/>
          </a:solidFill>
          <a:ln w="12700">
            <a:solidFill>
              <a:schemeClr val="bg2"/>
            </a:solidFill>
            <a:prstDash val="solid"/>
          </a:ln>
        </p:spPr>
      </p:sp>
      <p:sp>
        <p:nvSpPr>
          <p:cNvPr id="20" name="icon-circle Fashion and crafts"/>
          <p:cNvSpPr/>
          <p:nvPr/>
        </p:nvSpPr>
        <p:spPr>
          <a:xfrm>
            <a:off x="4828032" y="2816352"/>
            <a:ext cx="457200" cy="457200"/>
          </a:xfrm>
          <a:prstGeom prst="ellipse">
            <a:avLst/>
          </a:prstGeom>
          <a:solidFill>
            <a:schemeClr val="accent6"/>
          </a:solidFill>
          <a:ln w="12700">
            <a:solidFill>
              <a:schemeClr val="accent6"/>
            </a:solidFill>
            <a:prstDash val="solid"/>
          </a:ln>
        </p:spPr>
      </p:sp>
      <p:pic>
        <p:nvPicPr>
          <p:cNvPr id="21" name="icon FaClipboardList" descr="preencoded.png">    </p:cNvPr>
          <p:cNvPicPr>
            <a:picLocks noChangeAspect="1"/>
          </p:cNvPicPr>
          <p:nvPr/>
        </p:nvPicPr>
        <p:blipFill>
          <a:blip r:embed="rId4"/>
          <a:stretch>
            <a:fillRect/>
          </a:stretch>
        </p:blipFill>
        <p:spPr>
          <a:xfrm>
            <a:off x="4946904" y="2935224"/>
            <a:ext cx="219456" cy="219456"/>
          </a:xfrm>
          <a:prstGeom prst="rect">
            <a:avLst/>
          </a:prstGeom>
        </p:spPr>
      </p:pic>
      <p:sp>
        <p:nvSpPr>
          <p:cNvPr id="22" name="Text 15"/>
          <p:cNvSpPr txBox="1"/>
          <p:nvPr/>
        </p:nvSpPr>
        <p:spPr>
          <a:xfrm>
            <a:off x="5413248" y="2798064"/>
            <a:ext cx="31089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Fashion and crafts</a:t>
            </a:r>
            <a:endParaRPr lang="en-US" sz="1600" dirty="0"/>
          </a:p>
        </p:txBody>
      </p:sp>
      <p:sp>
        <p:nvSpPr>
          <p:cNvPr id="23" name="Text 16"/>
          <p:cNvSpPr txBox="1"/>
          <p:nvPr/>
        </p:nvSpPr>
        <p:spPr>
          <a:xfrm>
            <a:off x="5413248" y="3127248"/>
            <a:ext cx="3108960" cy="722376"/>
          </a:xfrm>
          <a:prstGeom prst="rect">
            <a:avLst/>
          </a:prstGeom>
          <a:noFill/>
          <a:ln/>
        </p:spPr>
        <p:txBody>
          <a:bodyPr wrap="square" lIns="0" tIns="0" rIns="0" bIns="0" rtlCol="0" anchor="t"/>
          <a:lstStyle/>
          <a:p>
            <a:pPr indent="0" marL="0">
              <a:buNone/>
            </a:pPr>
            <a:r>
              <a:rPr lang="en-US" sz="1400" dirty="0">
                <a:solidFill>
                  <a:schemeClr val="tx1"/>
                </a:solidFill>
              </a:rPr>
              <a:t>Ankara, beads, leather goods</a:t>
            </a:r>
            <a:endParaRPr lang="en-US" sz="1400" dirty="0"/>
          </a:p>
        </p:txBody>
      </p:sp>
      <p:sp>
        <p:nvSpPr>
          <p:cNvPr id="24" name="Text 17"/>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400" b="1" dirty="0">
                <a:solidFill>
                  <a:schemeClr val="accent2"/>
                </a:solidFill>
              </a:rPr>
              <a:t>Start with one buyer and one product. Confirm the current rules with NEPC and Customs.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Six risks and how to manage them</a:t>
            </a:r>
            <a:endParaRPr lang="en-US" sz="2800" dirty="0"/>
          </a:p>
        </p:txBody>
      </p:sp>
      <p:sp>
        <p:nvSpPr>
          <p:cNvPr id="4" name="card Supplier fraud"/>
          <p:cNvSpPr/>
          <p:nvPr/>
        </p:nvSpPr>
        <p:spPr>
          <a:xfrm>
            <a:off x="457200" y="1188720"/>
            <a:ext cx="2651760" cy="1463040"/>
          </a:xfrm>
          <a:prstGeom prst="roundRect">
            <a:avLst>
              <a:gd name="adj" fmla="val 6250"/>
            </a:avLst>
          </a:prstGeom>
          <a:solidFill>
            <a:schemeClr val="bg2"/>
          </a:solidFill>
          <a:ln w="12700">
            <a:solidFill>
              <a:schemeClr val="bg2"/>
            </a:solidFill>
            <a:prstDash val="solid"/>
          </a:ln>
        </p:spPr>
      </p:sp>
      <p:sp>
        <p:nvSpPr>
          <p:cNvPr id="5" name="icon-circle Supplier fraud"/>
          <p:cNvSpPr/>
          <p:nvPr/>
        </p:nvSpPr>
        <p:spPr>
          <a:xfrm>
            <a:off x="621792" y="1353312"/>
            <a:ext cx="457200" cy="457200"/>
          </a:xfrm>
          <a:prstGeom prst="ellipse">
            <a:avLst/>
          </a:prstGeom>
          <a:solidFill>
            <a:schemeClr val="accent3"/>
          </a:solidFill>
          <a:ln w="12700">
            <a:solidFill>
              <a:schemeClr val="accent3"/>
            </a:solidFill>
            <a:prstDash val="solid"/>
          </a:ln>
        </p:spPr>
      </p:sp>
      <p:pic>
        <p:nvPicPr>
          <p:cNvPr id="6" name="icon FaShieldAlt" descr="preencoded.png">    </p:cNvPr>
          <p:cNvPicPr>
            <a:picLocks noChangeAspect="1"/>
          </p:cNvPicPr>
          <p:nvPr/>
        </p:nvPicPr>
        <p:blipFill>
          <a:blip r:embed="rId1"/>
          <a:stretch>
            <a:fillRect/>
          </a:stretch>
        </p:blipFill>
        <p:spPr>
          <a:xfrm>
            <a:off x="740664" y="1472184"/>
            <a:ext cx="219456" cy="219456"/>
          </a:xfrm>
          <a:prstGeom prst="rect">
            <a:avLst/>
          </a:prstGeom>
        </p:spPr>
      </p:pic>
      <p:sp>
        <p:nvSpPr>
          <p:cNvPr id="7" name="Text 3"/>
          <p:cNvSpPr txBox="1"/>
          <p:nvPr/>
        </p:nvSpPr>
        <p:spPr>
          <a:xfrm>
            <a:off x="1207008" y="1335024"/>
            <a:ext cx="173736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Supplier fraud</a:t>
            </a:r>
            <a:endParaRPr lang="en-US" sz="1500" dirty="0"/>
          </a:p>
        </p:txBody>
      </p:sp>
      <p:sp>
        <p:nvSpPr>
          <p:cNvPr id="8" name="Text 4"/>
          <p:cNvSpPr txBox="1"/>
          <p:nvPr/>
        </p:nvSpPr>
        <p:spPr>
          <a:xfrm>
            <a:off x="1207008" y="1664208"/>
            <a:ext cx="1737360" cy="859536"/>
          </a:xfrm>
          <a:prstGeom prst="rect">
            <a:avLst/>
          </a:prstGeom>
          <a:noFill/>
          <a:ln/>
        </p:spPr>
        <p:txBody>
          <a:bodyPr wrap="square" lIns="0" tIns="0" rIns="0" bIns="0" rtlCol="0" anchor="t"/>
          <a:lstStyle/>
          <a:p>
            <a:pPr indent="0" marL="0">
              <a:buNone/>
            </a:pPr>
            <a:r>
              <a:rPr lang="en-US" sz="1300" dirty="0">
                <a:solidFill>
                  <a:schemeClr val="tx1"/>
                </a:solidFill>
              </a:rPr>
              <a:t>Verify, pay through protection</a:t>
            </a:r>
            <a:endParaRPr lang="en-US" sz="1300" dirty="0"/>
          </a:p>
        </p:txBody>
      </p:sp>
      <p:sp>
        <p:nvSpPr>
          <p:cNvPr id="9" name="card Poor quality"/>
          <p:cNvSpPr/>
          <p:nvPr/>
        </p:nvSpPr>
        <p:spPr>
          <a:xfrm>
            <a:off x="3291840" y="1188720"/>
            <a:ext cx="2651760" cy="1463040"/>
          </a:xfrm>
          <a:prstGeom prst="roundRect">
            <a:avLst>
              <a:gd name="adj" fmla="val 6250"/>
            </a:avLst>
          </a:prstGeom>
          <a:solidFill>
            <a:schemeClr val="bg2"/>
          </a:solidFill>
          <a:ln w="12700">
            <a:solidFill>
              <a:schemeClr val="bg2"/>
            </a:solidFill>
            <a:prstDash val="solid"/>
          </a:ln>
        </p:spPr>
      </p:sp>
      <p:sp>
        <p:nvSpPr>
          <p:cNvPr id="10" name="icon-circle Poor quality"/>
          <p:cNvSpPr/>
          <p:nvPr/>
        </p:nvSpPr>
        <p:spPr>
          <a:xfrm>
            <a:off x="3456432" y="1353312"/>
            <a:ext cx="457200" cy="457200"/>
          </a:xfrm>
          <a:prstGeom prst="ellipse">
            <a:avLst/>
          </a:prstGeom>
          <a:solidFill>
            <a:schemeClr val="accent6"/>
          </a:solidFill>
          <a:ln w="12700">
            <a:solidFill>
              <a:schemeClr val="accent6"/>
            </a:solidFill>
            <a:prstDash val="solid"/>
          </a:ln>
        </p:spPr>
      </p:sp>
      <p:pic>
        <p:nvPicPr>
          <p:cNvPr id="11" name="icon FaBoxOpen" descr="preencoded.png">    </p:cNvPr>
          <p:cNvPicPr>
            <a:picLocks noChangeAspect="1"/>
          </p:cNvPicPr>
          <p:nvPr/>
        </p:nvPicPr>
        <p:blipFill>
          <a:blip r:embed="rId2"/>
          <a:stretch>
            <a:fillRect/>
          </a:stretch>
        </p:blipFill>
        <p:spPr>
          <a:xfrm>
            <a:off x="3575304" y="1472184"/>
            <a:ext cx="219456" cy="219456"/>
          </a:xfrm>
          <a:prstGeom prst="rect">
            <a:avLst/>
          </a:prstGeom>
        </p:spPr>
      </p:pic>
      <p:sp>
        <p:nvSpPr>
          <p:cNvPr id="12" name="Text 7"/>
          <p:cNvSpPr txBox="1"/>
          <p:nvPr/>
        </p:nvSpPr>
        <p:spPr>
          <a:xfrm>
            <a:off x="4041648" y="1335024"/>
            <a:ext cx="173736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Poor quality</a:t>
            </a:r>
            <a:endParaRPr lang="en-US" sz="1500" dirty="0"/>
          </a:p>
        </p:txBody>
      </p:sp>
      <p:sp>
        <p:nvSpPr>
          <p:cNvPr id="13" name="Text 8"/>
          <p:cNvSpPr txBox="1"/>
          <p:nvPr/>
        </p:nvSpPr>
        <p:spPr>
          <a:xfrm>
            <a:off x="4041648" y="1664208"/>
            <a:ext cx="1737360" cy="859536"/>
          </a:xfrm>
          <a:prstGeom prst="rect">
            <a:avLst/>
          </a:prstGeom>
          <a:noFill/>
          <a:ln/>
        </p:spPr>
        <p:txBody>
          <a:bodyPr wrap="square" lIns="0" tIns="0" rIns="0" bIns="0" rtlCol="0" anchor="t"/>
          <a:lstStyle/>
          <a:p>
            <a:pPr indent="0" marL="0">
              <a:buNone/>
            </a:pPr>
            <a:r>
              <a:rPr lang="en-US" sz="1300" dirty="0">
                <a:solidFill>
                  <a:schemeClr val="tx1"/>
                </a:solidFill>
              </a:rPr>
              <a:t>Sample first, inspect before the balance</a:t>
            </a:r>
            <a:endParaRPr lang="en-US" sz="1300" dirty="0"/>
          </a:p>
        </p:txBody>
      </p:sp>
      <p:sp>
        <p:nvSpPr>
          <p:cNvPr id="14" name="card Delays"/>
          <p:cNvSpPr/>
          <p:nvPr/>
        </p:nvSpPr>
        <p:spPr>
          <a:xfrm>
            <a:off x="6126480" y="1188720"/>
            <a:ext cx="2651760" cy="1463040"/>
          </a:xfrm>
          <a:prstGeom prst="roundRect">
            <a:avLst>
              <a:gd name="adj" fmla="val 6250"/>
            </a:avLst>
          </a:prstGeom>
          <a:solidFill>
            <a:schemeClr val="bg2"/>
          </a:solidFill>
          <a:ln w="12700">
            <a:solidFill>
              <a:schemeClr val="bg2"/>
            </a:solidFill>
            <a:prstDash val="solid"/>
          </a:ln>
        </p:spPr>
      </p:sp>
      <p:sp>
        <p:nvSpPr>
          <p:cNvPr id="15" name="icon-circle Delays"/>
          <p:cNvSpPr/>
          <p:nvPr/>
        </p:nvSpPr>
        <p:spPr>
          <a:xfrm>
            <a:off x="6291072" y="1353312"/>
            <a:ext cx="457200" cy="457200"/>
          </a:xfrm>
          <a:prstGeom prst="ellipse">
            <a:avLst/>
          </a:prstGeom>
          <a:solidFill>
            <a:schemeClr val="accent2"/>
          </a:solidFill>
          <a:ln w="12700">
            <a:solidFill>
              <a:schemeClr val="accent2"/>
            </a:solidFill>
            <a:prstDash val="solid"/>
          </a:ln>
        </p:spPr>
      </p:sp>
      <p:pic>
        <p:nvPicPr>
          <p:cNvPr id="16" name="icon FaRoute" descr="preencoded.png">    </p:cNvPr>
          <p:cNvPicPr>
            <a:picLocks noChangeAspect="1"/>
          </p:cNvPicPr>
          <p:nvPr/>
        </p:nvPicPr>
        <p:blipFill>
          <a:blip r:embed="rId3"/>
          <a:stretch>
            <a:fillRect/>
          </a:stretch>
        </p:blipFill>
        <p:spPr>
          <a:xfrm>
            <a:off x="6409944" y="1472184"/>
            <a:ext cx="219456" cy="219456"/>
          </a:xfrm>
          <a:prstGeom prst="rect">
            <a:avLst/>
          </a:prstGeom>
        </p:spPr>
      </p:pic>
      <p:sp>
        <p:nvSpPr>
          <p:cNvPr id="17" name="Text 11"/>
          <p:cNvSpPr txBox="1"/>
          <p:nvPr/>
        </p:nvSpPr>
        <p:spPr>
          <a:xfrm>
            <a:off x="6876288" y="1335024"/>
            <a:ext cx="173736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Delays</a:t>
            </a:r>
            <a:endParaRPr lang="en-US" sz="1500" dirty="0"/>
          </a:p>
        </p:txBody>
      </p:sp>
      <p:sp>
        <p:nvSpPr>
          <p:cNvPr id="18" name="Text 12"/>
          <p:cNvSpPr txBox="1"/>
          <p:nvPr/>
        </p:nvSpPr>
        <p:spPr>
          <a:xfrm>
            <a:off x="6876288" y="1664208"/>
            <a:ext cx="1737360" cy="859536"/>
          </a:xfrm>
          <a:prstGeom prst="rect">
            <a:avLst/>
          </a:prstGeom>
          <a:noFill/>
          <a:ln/>
        </p:spPr>
        <p:txBody>
          <a:bodyPr wrap="square" lIns="0" tIns="0" rIns="0" bIns="0" rtlCol="0" anchor="t"/>
          <a:lstStyle/>
          <a:p>
            <a:pPr indent="0" marL="0">
              <a:buNone/>
            </a:pPr>
            <a:r>
              <a:rPr lang="en-US" sz="1300" dirty="0">
                <a:solidFill>
                  <a:schemeClr val="tx1"/>
                </a:solidFill>
              </a:rPr>
              <a:t>Buffer time and spare stock</a:t>
            </a:r>
            <a:endParaRPr lang="en-US" sz="1300" dirty="0"/>
          </a:p>
        </p:txBody>
      </p:sp>
      <p:sp>
        <p:nvSpPr>
          <p:cNvPr id="19" name="card Damage or loss"/>
          <p:cNvSpPr/>
          <p:nvPr/>
        </p:nvSpPr>
        <p:spPr>
          <a:xfrm>
            <a:off x="457200" y="2788920"/>
            <a:ext cx="2651760" cy="1463040"/>
          </a:xfrm>
          <a:prstGeom prst="roundRect">
            <a:avLst>
              <a:gd name="adj" fmla="val 6250"/>
            </a:avLst>
          </a:prstGeom>
          <a:solidFill>
            <a:schemeClr val="bg2"/>
          </a:solidFill>
          <a:ln w="12700">
            <a:solidFill>
              <a:schemeClr val="bg2"/>
            </a:solidFill>
            <a:prstDash val="solid"/>
          </a:ln>
        </p:spPr>
      </p:sp>
      <p:sp>
        <p:nvSpPr>
          <p:cNvPr id="20" name="icon-circle Damage or loss"/>
          <p:cNvSpPr/>
          <p:nvPr/>
        </p:nvSpPr>
        <p:spPr>
          <a:xfrm>
            <a:off x="621792" y="2953512"/>
            <a:ext cx="457200" cy="457200"/>
          </a:xfrm>
          <a:prstGeom prst="ellipse">
            <a:avLst/>
          </a:prstGeom>
          <a:solidFill>
            <a:schemeClr val="accent3"/>
          </a:solidFill>
          <a:ln w="12700">
            <a:solidFill>
              <a:schemeClr val="accent3"/>
            </a:solidFill>
            <a:prstDash val="solid"/>
          </a:ln>
        </p:spPr>
      </p:sp>
      <p:pic>
        <p:nvPicPr>
          <p:cNvPr id="21" name="icon FaWarehouse" descr="preencoded.png">    </p:cNvPr>
          <p:cNvPicPr>
            <a:picLocks noChangeAspect="1"/>
          </p:cNvPicPr>
          <p:nvPr/>
        </p:nvPicPr>
        <p:blipFill>
          <a:blip r:embed="rId4"/>
          <a:stretch>
            <a:fillRect/>
          </a:stretch>
        </p:blipFill>
        <p:spPr>
          <a:xfrm>
            <a:off x="740664" y="3072384"/>
            <a:ext cx="219456" cy="219456"/>
          </a:xfrm>
          <a:prstGeom prst="rect">
            <a:avLst/>
          </a:prstGeom>
        </p:spPr>
      </p:pic>
      <p:sp>
        <p:nvSpPr>
          <p:cNvPr id="22" name="Text 15"/>
          <p:cNvSpPr txBox="1"/>
          <p:nvPr/>
        </p:nvSpPr>
        <p:spPr>
          <a:xfrm>
            <a:off x="1207008" y="2935224"/>
            <a:ext cx="173736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Damage or loss</a:t>
            </a:r>
            <a:endParaRPr lang="en-US" sz="1500" dirty="0"/>
          </a:p>
        </p:txBody>
      </p:sp>
      <p:sp>
        <p:nvSpPr>
          <p:cNvPr id="23" name="Text 16"/>
          <p:cNvSpPr txBox="1"/>
          <p:nvPr/>
        </p:nvSpPr>
        <p:spPr>
          <a:xfrm>
            <a:off x="1207008" y="3264408"/>
            <a:ext cx="1737360" cy="859536"/>
          </a:xfrm>
          <a:prstGeom prst="rect">
            <a:avLst/>
          </a:prstGeom>
          <a:noFill/>
          <a:ln/>
        </p:spPr>
        <p:txBody>
          <a:bodyPr wrap="square" lIns="0" tIns="0" rIns="0" bIns="0" rtlCol="0" anchor="t"/>
          <a:lstStyle/>
          <a:p>
            <a:pPr indent="0" marL="0">
              <a:buNone/>
            </a:pPr>
            <a:r>
              <a:rPr lang="en-US" sz="1300" dirty="0">
                <a:solidFill>
                  <a:schemeClr val="tx1"/>
                </a:solidFill>
              </a:rPr>
              <a:t>Strong packing and insurance</a:t>
            </a:r>
            <a:endParaRPr lang="en-US" sz="1300" dirty="0"/>
          </a:p>
        </p:txBody>
      </p:sp>
      <p:sp>
        <p:nvSpPr>
          <p:cNvPr id="24" name="card Surprise charges"/>
          <p:cNvSpPr/>
          <p:nvPr/>
        </p:nvSpPr>
        <p:spPr>
          <a:xfrm>
            <a:off x="3291840" y="2788920"/>
            <a:ext cx="2651760" cy="1463040"/>
          </a:xfrm>
          <a:prstGeom prst="roundRect">
            <a:avLst>
              <a:gd name="adj" fmla="val 6250"/>
            </a:avLst>
          </a:prstGeom>
          <a:solidFill>
            <a:schemeClr val="bg2"/>
          </a:solidFill>
          <a:ln w="12700">
            <a:solidFill>
              <a:schemeClr val="bg2"/>
            </a:solidFill>
            <a:prstDash val="solid"/>
          </a:ln>
        </p:spPr>
      </p:sp>
      <p:sp>
        <p:nvSpPr>
          <p:cNvPr id="25" name="icon-circle Surprise charges"/>
          <p:cNvSpPr/>
          <p:nvPr/>
        </p:nvSpPr>
        <p:spPr>
          <a:xfrm>
            <a:off x="3456432" y="2953512"/>
            <a:ext cx="457200" cy="457200"/>
          </a:xfrm>
          <a:prstGeom prst="ellipse">
            <a:avLst/>
          </a:prstGeom>
          <a:solidFill>
            <a:schemeClr val="accent6"/>
          </a:solidFill>
          <a:ln w="12700">
            <a:solidFill>
              <a:schemeClr val="accent6"/>
            </a:solidFill>
            <a:prstDash val="solid"/>
          </a:ln>
        </p:spPr>
      </p:sp>
      <p:pic>
        <p:nvPicPr>
          <p:cNvPr id="26" name="icon FaCalculator" descr="preencoded.png">    </p:cNvPr>
          <p:cNvPicPr>
            <a:picLocks noChangeAspect="1"/>
          </p:cNvPicPr>
          <p:nvPr/>
        </p:nvPicPr>
        <p:blipFill>
          <a:blip r:embed="rId5"/>
          <a:stretch>
            <a:fillRect/>
          </a:stretch>
        </p:blipFill>
        <p:spPr>
          <a:xfrm>
            <a:off x="3575304" y="3072384"/>
            <a:ext cx="219456" cy="219456"/>
          </a:xfrm>
          <a:prstGeom prst="rect">
            <a:avLst/>
          </a:prstGeom>
        </p:spPr>
      </p:pic>
      <p:sp>
        <p:nvSpPr>
          <p:cNvPr id="27" name="Text 19"/>
          <p:cNvSpPr txBox="1"/>
          <p:nvPr/>
        </p:nvSpPr>
        <p:spPr>
          <a:xfrm>
            <a:off x="4041648" y="2935224"/>
            <a:ext cx="173736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Surprise charges</a:t>
            </a:r>
            <a:endParaRPr lang="en-US" sz="1500" dirty="0"/>
          </a:p>
        </p:txBody>
      </p:sp>
      <p:sp>
        <p:nvSpPr>
          <p:cNvPr id="28" name="Text 20"/>
          <p:cNvSpPr txBox="1"/>
          <p:nvPr/>
        </p:nvSpPr>
        <p:spPr>
          <a:xfrm>
            <a:off x="4041648" y="3264408"/>
            <a:ext cx="1737360" cy="859536"/>
          </a:xfrm>
          <a:prstGeom prst="rect">
            <a:avLst/>
          </a:prstGeom>
          <a:noFill/>
          <a:ln/>
        </p:spPr>
        <p:txBody>
          <a:bodyPr wrap="square" lIns="0" tIns="0" rIns="0" bIns="0" rtlCol="0" anchor="t"/>
          <a:lstStyle/>
          <a:p>
            <a:pPr indent="0" marL="0">
              <a:buNone/>
            </a:pPr>
            <a:r>
              <a:rPr lang="en-US" sz="1300" dirty="0">
                <a:solidFill>
                  <a:schemeClr val="tx1"/>
                </a:solidFill>
              </a:rPr>
              <a:t>Landed cost before you order</a:t>
            </a:r>
            <a:endParaRPr lang="en-US" sz="1300" dirty="0"/>
          </a:p>
        </p:txBody>
      </p:sp>
      <p:sp>
        <p:nvSpPr>
          <p:cNvPr id="29" name="card Exchange rate"/>
          <p:cNvSpPr/>
          <p:nvPr/>
        </p:nvSpPr>
        <p:spPr>
          <a:xfrm>
            <a:off x="6126480" y="2788920"/>
            <a:ext cx="2651760" cy="1463040"/>
          </a:xfrm>
          <a:prstGeom prst="roundRect">
            <a:avLst>
              <a:gd name="adj" fmla="val 6250"/>
            </a:avLst>
          </a:prstGeom>
          <a:solidFill>
            <a:schemeClr val="bg2"/>
          </a:solidFill>
          <a:ln w="12700">
            <a:solidFill>
              <a:schemeClr val="bg2"/>
            </a:solidFill>
            <a:prstDash val="solid"/>
          </a:ln>
        </p:spPr>
      </p:sp>
      <p:sp>
        <p:nvSpPr>
          <p:cNvPr id="30" name="icon-circle Exchange rate"/>
          <p:cNvSpPr/>
          <p:nvPr/>
        </p:nvSpPr>
        <p:spPr>
          <a:xfrm>
            <a:off x="6291072" y="2953512"/>
            <a:ext cx="457200" cy="457200"/>
          </a:xfrm>
          <a:prstGeom prst="ellipse">
            <a:avLst/>
          </a:prstGeom>
          <a:solidFill>
            <a:schemeClr val="accent2"/>
          </a:solidFill>
          <a:ln w="12700">
            <a:solidFill>
              <a:schemeClr val="accent2"/>
            </a:solidFill>
            <a:prstDash val="solid"/>
          </a:ln>
        </p:spPr>
      </p:sp>
      <p:pic>
        <p:nvPicPr>
          <p:cNvPr id="31" name="icon FaChartLine" descr="preencoded.png">    </p:cNvPr>
          <p:cNvPicPr>
            <a:picLocks noChangeAspect="1"/>
          </p:cNvPicPr>
          <p:nvPr/>
        </p:nvPicPr>
        <p:blipFill>
          <a:blip r:embed="rId6"/>
          <a:stretch>
            <a:fillRect/>
          </a:stretch>
        </p:blipFill>
        <p:spPr>
          <a:xfrm>
            <a:off x="6409944" y="3072384"/>
            <a:ext cx="219456" cy="219456"/>
          </a:xfrm>
          <a:prstGeom prst="rect">
            <a:avLst/>
          </a:prstGeom>
        </p:spPr>
      </p:pic>
      <p:sp>
        <p:nvSpPr>
          <p:cNvPr id="32" name="Text 23"/>
          <p:cNvSpPr txBox="1"/>
          <p:nvPr/>
        </p:nvSpPr>
        <p:spPr>
          <a:xfrm>
            <a:off x="6876288" y="2935224"/>
            <a:ext cx="173736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Exchange rate</a:t>
            </a:r>
            <a:endParaRPr lang="en-US" sz="1500" dirty="0"/>
          </a:p>
        </p:txBody>
      </p:sp>
      <p:sp>
        <p:nvSpPr>
          <p:cNvPr id="33" name="Text 24"/>
          <p:cNvSpPr txBox="1"/>
          <p:nvPr/>
        </p:nvSpPr>
        <p:spPr>
          <a:xfrm>
            <a:off x="6876288" y="3264408"/>
            <a:ext cx="1737360" cy="859536"/>
          </a:xfrm>
          <a:prstGeom prst="rect">
            <a:avLst/>
          </a:prstGeom>
          <a:noFill/>
          <a:ln/>
        </p:spPr>
        <p:txBody>
          <a:bodyPr wrap="square" lIns="0" tIns="0" rIns="0" bIns="0" rtlCol="0" anchor="t"/>
          <a:lstStyle/>
          <a:p>
            <a:pPr indent="0" marL="0">
              <a:buNone/>
            </a:pPr>
            <a:r>
              <a:rPr lang="en-US" sz="1300" dirty="0">
                <a:solidFill>
                  <a:schemeClr val="tx1"/>
                </a:solidFill>
              </a:rPr>
              <a:t>Add a margin, order often in smaller lots</a:t>
            </a:r>
            <a:endParaRPr lang="en-US" sz="1300" dirty="0"/>
          </a:p>
        </p:txBody>
      </p:sp>
      <p:sp>
        <p:nvSpPr>
          <p:cNvPr id="34" name="Text 25"/>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400" b="1" dirty="0">
                <a:solidFill>
                  <a:schemeClr val="accent2"/>
                </a:solidFill>
              </a:rPr>
              <a:t>Start small. Test. Then grow. The first order is tuition.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bg1"/>
                </a:solidFill>
              </a:rPr>
              <a:t>Your turn: a 30-minute working session</a:t>
            </a:r>
            <a:endParaRPr lang="en-US" sz="2800" dirty="0"/>
          </a:p>
        </p:txBody>
      </p:sp>
      <p:sp>
        <p:nvSpPr>
          <p:cNvPr id="4" name="act 0"/>
          <p:cNvSpPr/>
          <p:nvPr/>
        </p:nvSpPr>
        <p:spPr>
          <a:xfrm>
            <a:off x="457200" y="1188720"/>
            <a:ext cx="8229600" cy="731520"/>
          </a:xfrm>
          <a:prstGeom prst="roundRect">
            <a:avLst>
              <a:gd name="adj" fmla="val 12500"/>
            </a:avLst>
          </a:prstGeom>
          <a:solidFill>
            <a:srgbClr val="13315C"/>
          </a:solidFill>
          <a:ln w="12700">
            <a:solidFill>
              <a:srgbClr val="13315C"/>
            </a:solidFill>
            <a:prstDash val="solid"/>
          </a:ln>
        </p:spPr>
      </p:sp>
      <p:sp>
        <p:nvSpPr>
          <p:cNvPr id="5" name="num"/>
          <p:cNvSpPr/>
          <p:nvPr/>
        </p:nvSpPr>
        <p:spPr>
          <a:xfrm>
            <a:off x="640080" y="1335024"/>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640080" y="1335024"/>
            <a:ext cx="457200" cy="457200"/>
          </a:xfrm>
          <a:prstGeom prst="rect">
            <a:avLst/>
          </a:prstGeom>
          <a:noFill/>
          <a:ln/>
        </p:spPr>
        <p:txBody>
          <a:bodyPr wrap="square" lIns="0" tIns="0" rIns="0" bIns="0" rtlCol="0" anchor="ctr"/>
          <a:lstStyle/>
          <a:p>
            <a:pPr algn="ctr" indent="0" marL="0">
              <a:buNone/>
            </a:pPr>
            <a:r>
              <a:rPr lang="en-US" sz="1800" b="1" dirty="0">
                <a:solidFill>
                  <a:srgbClr val="0B1F3A"/>
                </a:solidFill>
              </a:rPr>
              <a:t>1</a:t>
            </a:r>
            <a:endParaRPr lang="en-US" sz="1800" dirty="0"/>
          </a:p>
        </p:txBody>
      </p:sp>
      <p:sp>
        <p:nvSpPr>
          <p:cNvPr id="7" name="Text 4"/>
          <p:cNvSpPr txBox="1"/>
          <p:nvPr/>
        </p:nvSpPr>
        <p:spPr>
          <a:xfrm>
            <a:off x="1371600" y="1298448"/>
            <a:ext cx="2377440" cy="50292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Pick a product</a:t>
            </a:r>
            <a:endParaRPr lang="en-US" sz="1700" dirty="0"/>
          </a:p>
        </p:txBody>
      </p:sp>
      <p:sp>
        <p:nvSpPr>
          <p:cNvPr id="8" name="Text 5"/>
          <p:cNvSpPr txBox="1"/>
          <p:nvPr/>
        </p:nvSpPr>
        <p:spPr>
          <a:xfrm>
            <a:off x="3840480" y="1280160"/>
            <a:ext cx="4663440" cy="548640"/>
          </a:xfrm>
          <a:prstGeom prst="rect">
            <a:avLst/>
          </a:prstGeom>
          <a:noFill/>
          <a:ln/>
        </p:spPr>
        <p:txBody>
          <a:bodyPr wrap="square" lIns="0" tIns="0" rIns="0" bIns="0" rtlCol="0" anchor="ctr"/>
          <a:lstStyle/>
          <a:p>
            <a:pPr indent="0" marL="0">
              <a:buNone/>
            </a:pPr>
            <a:r>
              <a:rPr lang="en-US" sz="1400" dirty="0">
                <a:solidFill>
                  <a:schemeClr val="bg1"/>
                </a:solidFill>
              </a:rPr>
              <a:t>Small, light, legal and already selling. Name three people who would buy it this week.</a:t>
            </a:r>
            <a:endParaRPr lang="en-US" sz="1400" dirty="0"/>
          </a:p>
        </p:txBody>
      </p:sp>
      <p:sp>
        <p:nvSpPr>
          <p:cNvPr id="9" name="act 1"/>
          <p:cNvSpPr/>
          <p:nvPr/>
        </p:nvSpPr>
        <p:spPr>
          <a:xfrm>
            <a:off x="457200" y="2011680"/>
            <a:ext cx="8229600" cy="731520"/>
          </a:xfrm>
          <a:prstGeom prst="roundRect">
            <a:avLst>
              <a:gd name="adj" fmla="val 12500"/>
            </a:avLst>
          </a:prstGeom>
          <a:solidFill>
            <a:srgbClr val="13315C"/>
          </a:solidFill>
          <a:ln w="12700">
            <a:solidFill>
              <a:srgbClr val="13315C"/>
            </a:solidFill>
            <a:prstDash val="solid"/>
          </a:ln>
        </p:spPr>
      </p:sp>
      <p:sp>
        <p:nvSpPr>
          <p:cNvPr id="10" name="num"/>
          <p:cNvSpPr/>
          <p:nvPr/>
        </p:nvSpPr>
        <p:spPr>
          <a:xfrm>
            <a:off x="640080" y="2157984"/>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640080" y="2157984"/>
            <a:ext cx="457200" cy="457200"/>
          </a:xfrm>
          <a:prstGeom prst="rect">
            <a:avLst/>
          </a:prstGeom>
          <a:noFill/>
          <a:ln/>
        </p:spPr>
        <p:txBody>
          <a:bodyPr wrap="square" lIns="0" tIns="0" rIns="0" bIns="0" rtlCol="0" anchor="ctr"/>
          <a:lstStyle/>
          <a:p>
            <a:pPr algn="ctr" indent="0" marL="0">
              <a:buNone/>
            </a:pPr>
            <a:r>
              <a:rPr lang="en-US" sz="1800" b="1" dirty="0">
                <a:solidFill>
                  <a:srgbClr val="0B1F3A"/>
                </a:solidFill>
              </a:rPr>
              <a:t>2</a:t>
            </a:r>
            <a:endParaRPr lang="en-US" sz="1800" dirty="0"/>
          </a:p>
        </p:txBody>
      </p:sp>
      <p:sp>
        <p:nvSpPr>
          <p:cNvPr id="12" name="Text 9"/>
          <p:cNvSpPr txBox="1"/>
          <p:nvPr/>
        </p:nvSpPr>
        <p:spPr>
          <a:xfrm>
            <a:off x="1371600" y="2121408"/>
            <a:ext cx="2377440" cy="50292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Check the market</a:t>
            </a:r>
            <a:endParaRPr lang="en-US" sz="1700" dirty="0"/>
          </a:p>
        </p:txBody>
      </p:sp>
      <p:sp>
        <p:nvSpPr>
          <p:cNvPr id="13" name="Text 10"/>
          <p:cNvSpPr txBox="1"/>
          <p:nvPr/>
        </p:nvSpPr>
        <p:spPr>
          <a:xfrm>
            <a:off x="3840480" y="2103120"/>
            <a:ext cx="4663440" cy="548640"/>
          </a:xfrm>
          <a:prstGeom prst="rect">
            <a:avLst/>
          </a:prstGeom>
          <a:noFill/>
          <a:ln/>
        </p:spPr>
        <p:txBody>
          <a:bodyPr wrap="square" lIns="0" tIns="0" rIns="0" bIns="0" rtlCol="0" anchor="ctr"/>
          <a:lstStyle/>
          <a:p>
            <a:pPr indent="0" marL="0">
              <a:buNone/>
            </a:pPr>
            <a:r>
              <a:rPr lang="en-US" sz="1400" dirty="0">
                <a:solidFill>
                  <a:schemeClr val="bg1"/>
                </a:solidFill>
              </a:rPr>
              <a:t>Find three competitor prices: lowest, typical, highest.</a:t>
            </a:r>
            <a:endParaRPr lang="en-US" sz="1400" dirty="0"/>
          </a:p>
        </p:txBody>
      </p:sp>
      <p:sp>
        <p:nvSpPr>
          <p:cNvPr id="14" name="act 2"/>
          <p:cNvSpPr/>
          <p:nvPr/>
        </p:nvSpPr>
        <p:spPr>
          <a:xfrm>
            <a:off x="457200" y="2834640"/>
            <a:ext cx="8229600" cy="731520"/>
          </a:xfrm>
          <a:prstGeom prst="roundRect">
            <a:avLst>
              <a:gd name="adj" fmla="val 12500"/>
            </a:avLst>
          </a:prstGeom>
          <a:solidFill>
            <a:srgbClr val="13315C"/>
          </a:solidFill>
          <a:ln w="12700">
            <a:solidFill>
              <a:srgbClr val="13315C"/>
            </a:solidFill>
            <a:prstDash val="solid"/>
          </a:ln>
        </p:spPr>
      </p:sp>
      <p:sp>
        <p:nvSpPr>
          <p:cNvPr id="15" name="num"/>
          <p:cNvSpPr/>
          <p:nvPr/>
        </p:nvSpPr>
        <p:spPr>
          <a:xfrm>
            <a:off x="640080" y="2980944"/>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640080" y="2980944"/>
            <a:ext cx="457200" cy="457200"/>
          </a:xfrm>
          <a:prstGeom prst="rect">
            <a:avLst/>
          </a:prstGeom>
          <a:noFill/>
          <a:ln/>
        </p:spPr>
        <p:txBody>
          <a:bodyPr wrap="square" lIns="0" tIns="0" rIns="0" bIns="0" rtlCol="0" anchor="ctr"/>
          <a:lstStyle/>
          <a:p>
            <a:pPr algn="ctr" indent="0" marL="0">
              <a:buNone/>
            </a:pPr>
            <a:r>
              <a:rPr lang="en-US" sz="1800" b="1" dirty="0">
                <a:solidFill>
                  <a:srgbClr val="0B1F3A"/>
                </a:solidFill>
              </a:rPr>
              <a:t>3</a:t>
            </a:r>
            <a:endParaRPr lang="en-US" sz="1800" dirty="0"/>
          </a:p>
        </p:txBody>
      </p:sp>
      <p:sp>
        <p:nvSpPr>
          <p:cNvPr id="17" name="Text 14"/>
          <p:cNvSpPr txBox="1"/>
          <p:nvPr/>
        </p:nvSpPr>
        <p:spPr>
          <a:xfrm>
            <a:off x="1371600" y="2944368"/>
            <a:ext cx="2377440" cy="50292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Build the landed cost</a:t>
            </a:r>
            <a:endParaRPr lang="en-US" sz="1700" dirty="0"/>
          </a:p>
        </p:txBody>
      </p:sp>
      <p:sp>
        <p:nvSpPr>
          <p:cNvPr id="18" name="Text 15"/>
          <p:cNvSpPr txBox="1"/>
          <p:nvPr/>
        </p:nvSpPr>
        <p:spPr>
          <a:xfrm>
            <a:off x="3840480" y="2926080"/>
            <a:ext cx="4663440" cy="548640"/>
          </a:xfrm>
          <a:prstGeom prst="rect">
            <a:avLst/>
          </a:prstGeom>
          <a:noFill/>
          <a:ln/>
        </p:spPr>
        <p:txBody>
          <a:bodyPr wrap="square" lIns="0" tIns="0" rIns="0" bIns="0" rtlCol="0" anchor="ctr"/>
          <a:lstStyle/>
          <a:p>
            <a:pPr indent="0" marL="0">
              <a:buNone/>
            </a:pPr>
            <a:r>
              <a:rPr lang="en-US" sz="1400" dirty="0">
                <a:solidFill>
                  <a:schemeClr val="bg1"/>
                </a:solidFill>
              </a:rPr>
              <a:t>Use a real supplier price and the cost sheet steps.</a:t>
            </a:r>
            <a:endParaRPr lang="en-US" sz="1400" dirty="0"/>
          </a:p>
        </p:txBody>
      </p:sp>
      <p:sp>
        <p:nvSpPr>
          <p:cNvPr id="19" name="act 3"/>
          <p:cNvSpPr/>
          <p:nvPr/>
        </p:nvSpPr>
        <p:spPr>
          <a:xfrm>
            <a:off x="457200" y="3657600"/>
            <a:ext cx="8229600" cy="731520"/>
          </a:xfrm>
          <a:prstGeom prst="roundRect">
            <a:avLst>
              <a:gd name="adj" fmla="val 12500"/>
            </a:avLst>
          </a:prstGeom>
          <a:solidFill>
            <a:srgbClr val="13315C"/>
          </a:solidFill>
          <a:ln w="12700">
            <a:solidFill>
              <a:srgbClr val="13315C"/>
            </a:solidFill>
            <a:prstDash val="solid"/>
          </a:ln>
        </p:spPr>
      </p:sp>
      <p:sp>
        <p:nvSpPr>
          <p:cNvPr id="20" name="num"/>
          <p:cNvSpPr/>
          <p:nvPr/>
        </p:nvSpPr>
        <p:spPr>
          <a:xfrm>
            <a:off x="640080" y="3803904"/>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640080" y="3803904"/>
            <a:ext cx="457200" cy="457200"/>
          </a:xfrm>
          <a:prstGeom prst="rect">
            <a:avLst/>
          </a:prstGeom>
          <a:noFill/>
          <a:ln/>
        </p:spPr>
        <p:txBody>
          <a:bodyPr wrap="square" lIns="0" tIns="0" rIns="0" bIns="0" rtlCol="0" anchor="ctr"/>
          <a:lstStyle/>
          <a:p>
            <a:pPr algn="ctr" indent="0" marL="0">
              <a:buNone/>
            </a:pPr>
            <a:r>
              <a:rPr lang="en-US" sz="1800" b="1" dirty="0">
                <a:solidFill>
                  <a:srgbClr val="0B1F3A"/>
                </a:solidFill>
              </a:rPr>
              <a:t>4</a:t>
            </a:r>
            <a:endParaRPr lang="en-US" sz="1800" dirty="0"/>
          </a:p>
        </p:txBody>
      </p:sp>
      <p:sp>
        <p:nvSpPr>
          <p:cNvPr id="22" name="Text 19"/>
          <p:cNvSpPr txBox="1"/>
          <p:nvPr/>
        </p:nvSpPr>
        <p:spPr>
          <a:xfrm>
            <a:off x="1371600" y="3767328"/>
            <a:ext cx="2377440" cy="50292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Set your price</a:t>
            </a:r>
            <a:endParaRPr lang="en-US" sz="1700" dirty="0"/>
          </a:p>
        </p:txBody>
      </p:sp>
      <p:sp>
        <p:nvSpPr>
          <p:cNvPr id="23" name="Text 20"/>
          <p:cNvSpPr txBox="1"/>
          <p:nvPr/>
        </p:nvSpPr>
        <p:spPr>
          <a:xfrm>
            <a:off x="3840480" y="3749040"/>
            <a:ext cx="4663440" cy="548640"/>
          </a:xfrm>
          <a:prstGeom prst="rect">
            <a:avLst/>
          </a:prstGeom>
          <a:noFill/>
          <a:ln/>
        </p:spPr>
        <p:txBody>
          <a:bodyPr wrap="square" lIns="0" tIns="0" rIns="0" bIns="0" rtlCol="0" anchor="ctr"/>
          <a:lstStyle/>
          <a:p>
            <a:pPr indent="0" marL="0">
              <a:buNone/>
            </a:pPr>
            <a:r>
              <a:rPr lang="en-US" sz="1400" dirty="0">
                <a:solidFill>
                  <a:schemeClr val="bg1"/>
                </a:solidFill>
              </a:rPr>
              <a:t>Landed cost ÷ 0.65 for a 35% margin. Does the market accept it?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Your first 30 days</a:t>
            </a:r>
            <a:endParaRPr lang="en-US" sz="2800" dirty="0"/>
          </a:p>
        </p:txBody>
      </p:sp>
      <p:sp>
        <p:nvSpPr>
          <p:cNvPr id="4" name="week 0"/>
          <p:cNvSpPr/>
          <p:nvPr/>
        </p:nvSpPr>
        <p:spPr>
          <a:xfrm>
            <a:off x="457200" y="1280160"/>
            <a:ext cx="1965960" cy="2926080"/>
          </a:xfrm>
          <a:prstGeom prst="roundRect">
            <a:avLst>
              <a:gd name="adj" fmla="val 4651"/>
            </a:avLst>
          </a:prstGeom>
          <a:solidFill>
            <a:srgbClr val="0B1F3A"/>
          </a:solidFill>
          <a:ln w="12700">
            <a:solidFill>
              <a:srgbClr val="0B1F3A"/>
            </a:solidFill>
            <a:prstDash val="solid"/>
          </a:ln>
        </p:spPr>
      </p:sp>
      <p:sp>
        <p:nvSpPr>
          <p:cNvPr id="5" name="Text 2"/>
          <p:cNvSpPr txBox="1"/>
          <p:nvPr/>
        </p:nvSpPr>
        <p:spPr>
          <a:xfrm>
            <a:off x="640080" y="1463040"/>
            <a:ext cx="164592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WEEK 1</a:t>
            </a:r>
            <a:endParaRPr lang="en-US" sz="1200" dirty="0"/>
          </a:p>
        </p:txBody>
      </p:sp>
      <p:sp>
        <p:nvSpPr>
          <p:cNvPr id="6" name="Text 3"/>
          <p:cNvSpPr txBox="1"/>
          <p:nvPr/>
        </p:nvSpPr>
        <p:spPr>
          <a:xfrm>
            <a:off x="640080" y="1783080"/>
            <a:ext cx="164592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Choose</a:t>
            </a:r>
            <a:endParaRPr lang="en-US" sz="2400" dirty="0"/>
          </a:p>
        </p:txBody>
      </p:sp>
      <p:sp>
        <p:nvSpPr>
          <p:cNvPr id="7" name="Text 4"/>
          <p:cNvSpPr txBox="1"/>
          <p:nvPr/>
        </p:nvSpPr>
        <p:spPr>
          <a:xfrm>
            <a:off x="640080" y="2423160"/>
            <a:ext cx="1645920" cy="1645920"/>
          </a:xfrm>
          <a:prstGeom prst="rect">
            <a:avLst/>
          </a:prstGeom>
          <a:noFill/>
          <a:ln/>
        </p:spPr>
        <p:txBody>
          <a:bodyPr wrap="square" lIns="0" tIns="0" rIns="0" bIns="0" rtlCol="0" anchor="t"/>
          <a:lstStyle/>
          <a:p>
            <a:pPr indent="0" marL="0">
              <a:buNone/>
            </a:pPr>
            <a:r>
              <a:rPr lang="en-US" sz="1400" dirty="0">
                <a:solidFill>
                  <a:schemeClr val="bg1"/>
                </a:solidFill>
              </a:rPr>
              <a:t>Pick a product and ask ten buyers what they would pay.</a:t>
            </a:r>
            <a:endParaRPr lang="en-US" sz="1400" dirty="0"/>
          </a:p>
        </p:txBody>
      </p:sp>
      <p:sp>
        <p:nvSpPr>
          <p:cNvPr id="8" name="week 1"/>
          <p:cNvSpPr/>
          <p:nvPr/>
        </p:nvSpPr>
        <p:spPr>
          <a:xfrm>
            <a:off x="2560320" y="1280160"/>
            <a:ext cx="1965960" cy="2926080"/>
          </a:xfrm>
          <a:prstGeom prst="roundRect">
            <a:avLst>
              <a:gd name="adj" fmla="val 4651"/>
            </a:avLst>
          </a:prstGeom>
          <a:solidFill>
            <a:schemeClr val="bg2"/>
          </a:solidFill>
          <a:ln w="12700">
            <a:solidFill>
              <a:schemeClr val="bg2"/>
            </a:solidFill>
            <a:prstDash val="solid"/>
          </a:ln>
        </p:spPr>
      </p:sp>
      <p:sp>
        <p:nvSpPr>
          <p:cNvPr id="9" name="Text 6"/>
          <p:cNvSpPr txBox="1"/>
          <p:nvPr/>
        </p:nvSpPr>
        <p:spPr>
          <a:xfrm>
            <a:off x="2743200" y="1463040"/>
            <a:ext cx="164592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WEEK 2</a:t>
            </a:r>
            <a:endParaRPr lang="en-US" sz="1200" dirty="0"/>
          </a:p>
        </p:txBody>
      </p:sp>
      <p:sp>
        <p:nvSpPr>
          <p:cNvPr id="10" name="Text 7"/>
          <p:cNvSpPr txBox="1"/>
          <p:nvPr/>
        </p:nvSpPr>
        <p:spPr>
          <a:xfrm>
            <a:off x="2743200" y="1783080"/>
            <a:ext cx="164592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Source</a:t>
            </a:r>
            <a:endParaRPr lang="en-US" sz="2400" dirty="0"/>
          </a:p>
        </p:txBody>
      </p:sp>
      <p:sp>
        <p:nvSpPr>
          <p:cNvPr id="11" name="Text 8"/>
          <p:cNvSpPr txBox="1"/>
          <p:nvPr/>
        </p:nvSpPr>
        <p:spPr>
          <a:xfrm>
            <a:off x="2743200" y="2423160"/>
            <a:ext cx="1645920" cy="1645920"/>
          </a:xfrm>
          <a:prstGeom prst="rect">
            <a:avLst/>
          </a:prstGeom>
          <a:noFill/>
          <a:ln/>
        </p:spPr>
        <p:txBody>
          <a:bodyPr wrap="square" lIns="0" tIns="0" rIns="0" bIns="0" rtlCol="0" anchor="t"/>
          <a:lstStyle/>
          <a:p>
            <a:pPr indent="0" marL="0">
              <a:buNone/>
            </a:pPr>
            <a:r>
              <a:rPr lang="en-US" sz="1400" dirty="0">
                <a:solidFill>
                  <a:schemeClr val="tx1"/>
                </a:solidFill>
              </a:rPr>
              <a:t>Shortlist 3 to 5 suppliers and verify the best two.</a:t>
            </a:r>
            <a:endParaRPr lang="en-US" sz="1400" dirty="0"/>
          </a:p>
        </p:txBody>
      </p:sp>
      <p:sp>
        <p:nvSpPr>
          <p:cNvPr id="12" name="week 2"/>
          <p:cNvSpPr/>
          <p:nvPr/>
        </p:nvSpPr>
        <p:spPr>
          <a:xfrm>
            <a:off x="4663440" y="1280160"/>
            <a:ext cx="1965960" cy="2926080"/>
          </a:xfrm>
          <a:prstGeom prst="roundRect">
            <a:avLst>
              <a:gd name="adj" fmla="val 4651"/>
            </a:avLst>
          </a:prstGeom>
          <a:solidFill>
            <a:srgbClr val="0B1F3A"/>
          </a:solidFill>
          <a:ln w="12700">
            <a:solidFill>
              <a:srgbClr val="0B1F3A"/>
            </a:solidFill>
            <a:prstDash val="solid"/>
          </a:ln>
        </p:spPr>
      </p:sp>
      <p:sp>
        <p:nvSpPr>
          <p:cNvPr id="13" name="Text 10"/>
          <p:cNvSpPr txBox="1"/>
          <p:nvPr/>
        </p:nvSpPr>
        <p:spPr>
          <a:xfrm>
            <a:off x="4846320" y="1463040"/>
            <a:ext cx="164592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WEEK 3</a:t>
            </a:r>
            <a:endParaRPr lang="en-US" sz="1200" dirty="0"/>
          </a:p>
        </p:txBody>
      </p:sp>
      <p:sp>
        <p:nvSpPr>
          <p:cNvPr id="14" name="Text 11"/>
          <p:cNvSpPr txBox="1"/>
          <p:nvPr/>
        </p:nvSpPr>
        <p:spPr>
          <a:xfrm>
            <a:off x="4846320" y="1783080"/>
            <a:ext cx="164592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Test</a:t>
            </a:r>
            <a:endParaRPr lang="en-US" sz="2400" dirty="0"/>
          </a:p>
        </p:txBody>
      </p:sp>
      <p:sp>
        <p:nvSpPr>
          <p:cNvPr id="15" name="Text 12"/>
          <p:cNvSpPr txBox="1"/>
          <p:nvPr/>
        </p:nvSpPr>
        <p:spPr>
          <a:xfrm>
            <a:off x="4846320" y="2423160"/>
            <a:ext cx="1645920" cy="1645920"/>
          </a:xfrm>
          <a:prstGeom prst="rect">
            <a:avLst/>
          </a:prstGeom>
          <a:noFill/>
          <a:ln/>
        </p:spPr>
        <p:txBody>
          <a:bodyPr wrap="square" lIns="0" tIns="0" rIns="0" bIns="0" rtlCol="0" anchor="t"/>
          <a:lstStyle/>
          <a:p>
            <a:pPr indent="0" marL="0">
              <a:buNone/>
            </a:pPr>
            <a:r>
              <a:rPr lang="en-US" sz="1400" dirty="0">
                <a:solidFill>
                  <a:schemeClr val="bg1"/>
                </a:solidFill>
              </a:rPr>
              <a:t>Order a sample. Build landed cost and set a price.</a:t>
            </a:r>
            <a:endParaRPr lang="en-US" sz="1400" dirty="0"/>
          </a:p>
        </p:txBody>
      </p:sp>
      <p:sp>
        <p:nvSpPr>
          <p:cNvPr id="16" name="week 3"/>
          <p:cNvSpPr/>
          <p:nvPr/>
        </p:nvSpPr>
        <p:spPr>
          <a:xfrm>
            <a:off x="6766560" y="1280160"/>
            <a:ext cx="1965960" cy="2926080"/>
          </a:xfrm>
          <a:prstGeom prst="roundRect">
            <a:avLst>
              <a:gd name="adj" fmla="val 4651"/>
            </a:avLst>
          </a:prstGeom>
          <a:solidFill>
            <a:schemeClr val="bg2"/>
          </a:solidFill>
          <a:ln w="12700">
            <a:solidFill>
              <a:schemeClr val="bg2"/>
            </a:solidFill>
            <a:prstDash val="solid"/>
          </a:ln>
        </p:spPr>
      </p:sp>
      <p:sp>
        <p:nvSpPr>
          <p:cNvPr id="17" name="Text 14"/>
          <p:cNvSpPr txBox="1"/>
          <p:nvPr/>
        </p:nvSpPr>
        <p:spPr>
          <a:xfrm>
            <a:off x="6949440" y="1463040"/>
            <a:ext cx="164592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WEEK 4</a:t>
            </a:r>
            <a:endParaRPr lang="en-US" sz="1200" dirty="0"/>
          </a:p>
        </p:txBody>
      </p:sp>
      <p:sp>
        <p:nvSpPr>
          <p:cNvPr id="18" name="Text 15"/>
          <p:cNvSpPr txBox="1"/>
          <p:nvPr/>
        </p:nvSpPr>
        <p:spPr>
          <a:xfrm>
            <a:off x="6949440" y="1783080"/>
            <a:ext cx="164592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Decide</a:t>
            </a:r>
            <a:endParaRPr lang="en-US" sz="2400" dirty="0"/>
          </a:p>
        </p:txBody>
      </p:sp>
      <p:sp>
        <p:nvSpPr>
          <p:cNvPr id="19" name="Text 16"/>
          <p:cNvSpPr txBox="1"/>
          <p:nvPr/>
        </p:nvSpPr>
        <p:spPr>
          <a:xfrm>
            <a:off x="6949440" y="2423160"/>
            <a:ext cx="1645920" cy="1645920"/>
          </a:xfrm>
          <a:prstGeom prst="rect">
            <a:avLst/>
          </a:prstGeom>
          <a:noFill/>
          <a:ln/>
        </p:spPr>
        <p:txBody>
          <a:bodyPr wrap="square" lIns="0" tIns="0" rIns="0" bIns="0" rtlCol="0" anchor="t"/>
          <a:lstStyle/>
          <a:p>
            <a:pPr indent="0" marL="0">
              <a:buNone/>
            </a:pPr>
            <a:r>
              <a:rPr lang="en-US" sz="1400" dirty="0">
                <a:solidFill>
                  <a:schemeClr val="tx1"/>
                </a:solidFill>
              </a:rPr>
              <a:t>Pre-sell. Place a small first order, or drop it.</a:t>
            </a:r>
            <a:endParaRPr lang="en-US" sz="1400" dirty="0"/>
          </a:p>
        </p:txBody>
      </p:sp>
      <p:sp>
        <p:nvSpPr>
          <p:cNvPr id="20" name="Text 17"/>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400" b="1" dirty="0">
                <a:solidFill>
                  <a:schemeClr val="accent2"/>
                </a:solidFill>
              </a:rPr>
              <a:t>A bad product dropped after a week of research is a win.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3" name="A busy Lagos market" descr="A busy Lagos market">    </p:cNvPr>
          <p:cNvPicPr>
            <a:picLocks noChangeAspect="1"/>
          </p:cNvPicPr>
          <p:nvPr/>
        </p:nvPicPr>
        <p:blipFill>
          <a:blip r:embed="rId1"/>
          <a:stretch>
            <a:fillRect/>
          </a:stretch>
        </p:blipFill>
        <p:spPr>
          <a:xfrm>
            <a:off x="0" y="0"/>
            <a:ext cx="9144000" cy="5143500"/>
          </a:xfrm>
          <a:prstGeom prst="rect">
            <a:avLst/>
          </a:prstGeom>
        </p:spPr>
      </p:pic>
      <p:sp>
        <p:nvSpPr>
          <p:cNvPr id="4" name="photo overlay"/>
          <p:cNvSpPr/>
          <p:nvPr/>
        </p:nvSpPr>
        <p:spPr>
          <a:xfrm>
            <a:off x="0" y="0"/>
            <a:ext cx="9144000" cy="5143500"/>
          </a:xfrm>
          <a:prstGeom prst="rect">
            <a:avLst/>
          </a:prstGeom>
          <a:solidFill>
            <a:srgbClr val="0B1F3A">
              <a:alpha val="82000"/>
            </a:srgbClr>
          </a:solidFill>
          <a:ln w="12700">
            <a:solidFill>
              <a:srgbClr val="0B1F3A"/>
            </a:solidFill>
            <a:prstDash val="solid"/>
          </a:ln>
        </p:spPr>
      </p:sp>
      <p:sp>
        <p:nvSpPr>
          <p:cNvPr id="5" name="Text 1"/>
          <p:cNvSpPr txBox="1"/>
          <p:nvPr/>
        </p:nvSpPr>
        <p:spPr>
          <a:xfrm>
            <a:off x="640080" y="822960"/>
            <a:ext cx="7315200" cy="274320"/>
          </a:xfrm>
          <a:prstGeom prst="rect">
            <a:avLst/>
          </a:prstGeom>
          <a:noFill/>
          <a:ln/>
        </p:spPr>
        <p:txBody>
          <a:bodyPr wrap="square" lIns="0" tIns="0" rIns="0" bIns="0" rtlCol="0" anchor="t"/>
          <a:lstStyle/>
          <a:p>
            <a:pPr indent="0" marL="0">
              <a:buNone/>
            </a:pPr>
            <a:r>
              <a:rPr lang="en-US" sz="1400" b="1" spc="400" kern="0" dirty="0">
                <a:solidFill>
                  <a:schemeClr val="accent1"/>
                </a:solidFill>
              </a:rPr>
              <a:t>REMEMBER</a:t>
            </a:r>
            <a:endParaRPr lang="en-US" sz="1400" dirty="0"/>
          </a:p>
        </p:txBody>
      </p:sp>
      <p:sp>
        <p:nvSpPr>
          <p:cNvPr id="6" name="Text 2"/>
          <p:cNvSpPr txBox="1"/>
          <p:nvPr/>
        </p:nvSpPr>
        <p:spPr>
          <a:xfrm>
            <a:off x="640080" y="1188720"/>
            <a:ext cx="7863840" cy="137160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The price on the page is never your real cost.</a:t>
            </a:r>
            <a:endParaRPr lang="en-US" sz="4000" dirty="0"/>
          </a:p>
        </p:txBody>
      </p:sp>
      <p:sp>
        <p:nvSpPr>
          <p:cNvPr id="7" name="Text 3"/>
          <p:cNvSpPr txBox="1"/>
          <p:nvPr/>
        </p:nvSpPr>
        <p:spPr>
          <a:xfrm>
            <a:off x="640080" y="2743200"/>
            <a:ext cx="7863840" cy="45720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Test small. Count everything. Then grow.</a:t>
            </a:r>
            <a:endParaRPr lang="en-US" sz="2200" dirty="0"/>
          </a:p>
        </p:txBody>
      </p:sp>
      <p:sp>
        <p:nvSpPr>
          <p:cNvPr id="8" name="Text 4"/>
          <p:cNvSpPr txBox="1"/>
          <p:nvPr/>
        </p:nvSpPr>
        <p:spPr>
          <a:xfrm>
            <a:off x="640080" y="4023360"/>
            <a:ext cx="7863840" cy="365760"/>
          </a:xfrm>
          <a:prstGeom prst="rect">
            <a:avLst/>
          </a:prstGeom>
          <a:noFill/>
          <a:ln/>
        </p:spPr>
        <p:txBody>
          <a:bodyPr wrap="square" lIns="0" tIns="0" rIns="0" bIns="0" rtlCol="0" anchor="t"/>
          <a:lstStyle/>
          <a:p>
            <a:pPr indent="0" marL="0">
              <a:buNone/>
            </a:pPr>
            <a:r>
              <a:rPr lang="en-US" sz="1600" dirty="0">
                <a:solidFill>
                  <a:schemeClr val="bg1"/>
                </a:solidFill>
              </a:rPr>
              <a:t>Questions?  Take the full course at academy.cloudtechanalytics.com</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800" b="1" dirty="0">
                <a:solidFill>
                  <a:schemeClr val="tx1"/>
                </a:solidFill>
              </a:rPr>
              <a:t>Photo credits</a:t>
            </a:r>
            <a:endParaRPr lang="en-US" sz="2800" dirty="0"/>
          </a:p>
        </p:txBody>
      </p:sp>
      <p:sp>
        <p:nvSpPr>
          <p:cNvPr id="4" name="Text 1"/>
          <p:cNvSpPr txBox="1"/>
          <p:nvPr/>
        </p:nvSpPr>
        <p:spPr>
          <a:xfrm>
            <a:off x="457200" y="1188720"/>
            <a:ext cx="822960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Container ship at a port: Downtowngal, CC BY-SA 4.0, Wikimedia Commons</a:t>
            </a:r>
            <a:endParaRPr lang="en-US" sz="1400" dirty="0"/>
          </a:p>
          <a:p>
            <a:pPr marL="342900" indent="-342900">
              <a:spcAft>
                <a:spcPts val="400"/>
              </a:spcAft>
              <a:buSzPct val="100000"/>
              <a:buChar char="•"/>
            </a:pPr>
            <a:r>
              <a:rPr lang="en-US" sz="1400" dirty="0">
                <a:solidFill>
                  <a:schemeClr val="tx1"/>
                </a:solidFill>
              </a:rPr>
              <a:t>Cargo aircraft loading: Aleksandr Markin, CC BY-SA 2.0, Wikimedia Commons</a:t>
            </a:r>
            <a:endParaRPr lang="en-US" sz="1400" dirty="0"/>
          </a:p>
          <a:p>
            <a:pPr marL="342900" indent="-342900">
              <a:spcAft>
                <a:spcPts val="400"/>
              </a:spcAft>
              <a:buSzPct val="100000"/>
              <a:buChar char="•"/>
            </a:pPr>
            <a:r>
              <a:rPr lang="en-US" sz="1400" dirty="0">
                <a:solidFill>
                  <a:schemeClr val="tx1"/>
                </a:solidFill>
              </a:rPr>
              <a:t>Computer Village, Ikeja: Lightfast Media, CC BY-SA 4.0</a:t>
            </a:r>
            <a:endParaRPr lang="en-US" sz="1400" dirty="0"/>
          </a:p>
          <a:p>
            <a:pPr marL="342900" indent="-342900">
              <a:spcAft>
                <a:spcPts val="400"/>
              </a:spcAft>
              <a:buSzPct val="100000"/>
              <a:buChar char="•"/>
            </a:pPr>
            <a:r>
              <a:rPr lang="en-US" sz="1400" dirty="0">
                <a:solidFill>
                  <a:schemeClr val="tx1"/>
                </a:solidFill>
              </a:rPr>
              <a:t>Yiwu International Trade Market: Whisper of the heart, CC BY-SA 4.0</a:t>
            </a:r>
            <a:endParaRPr lang="en-US" sz="1400" dirty="0"/>
          </a:p>
          <a:p>
            <a:pPr marL="342900" indent="-342900">
              <a:spcAft>
                <a:spcPts val="400"/>
              </a:spcAft>
              <a:buSzPct val="100000"/>
              <a:buChar char="•"/>
            </a:pPr>
            <a:r>
              <a:rPr lang="en-US" sz="1400" dirty="0">
                <a:solidFill>
                  <a:schemeClr val="tx1"/>
                </a:solidFill>
              </a:rPr>
              <a:t>Apapa port, Lagos: Quadrex24, CC BY-SA 4.0</a:t>
            </a:r>
            <a:endParaRPr lang="en-US" sz="1400" dirty="0"/>
          </a:p>
          <a:p>
            <a:pPr marL="342900" indent="-342900">
              <a:spcAft>
                <a:spcPts val="400"/>
              </a:spcAft>
              <a:buSzPct val="100000"/>
              <a:buChar char="•"/>
            </a:pPr>
            <a:r>
              <a:rPr lang="en-US" sz="1400" dirty="0">
                <a:solidFill>
                  <a:schemeClr val="tx1"/>
                </a:solidFill>
              </a:rPr>
              <a:t>Lagos market: Sir Demo, CC BY-SA 4.0</a:t>
            </a:r>
            <a:endParaRPr lang="en-US" sz="1400" dirty="0"/>
          </a:p>
          <a:p>
            <a:pPr marL="342900" indent="-342900">
              <a:spcAft>
                <a:spcPts val="400"/>
              </a:spcAft>
              <a:buSzPct val="100000"/>
              <a:buChar char="•"/>
            </a:pPr>
            <a:r>
              <a:rPr lang="en-US" sz="1400" dirty="0">
                <a:solidFill>
                  <a:schemeClr val="tx1"/>
                </a:solidFill>
              </a:rPr>
              <a:t>Naira notes: FAdelabu, CC BY-SA 4.0</a:t>
            </a:r>
            <a:endParaRPr lang="en-US" sz="1400" dirty="0"/>
          </a:p>
          <a:p>
            <a:pPr marL="342900" indent="-342900">
              <a:spcAft>
                <a:spcPts val="400"/>
              </a:spcAft>
              <a:buSzPct val="100000"/>
              <a:buChar char="•"/>
            </a:pPr>
            <a:r>
              <a:rPr lang="en-US" sz="1400" dirty="0">
                <a:solidFill>
                  <a:schemeClr val="tx1"/>
                </a:solidFill>
              </a:rPr>
              <a:t>Customs inspection: CBP Photography, public domain</a:t>
            </a:r>
            <a:endParaRPr lang="en-US" sz="1400" dirty="0"/>
          </a:p>
          <a:p>
            <a:pPr marL="342900" indent="-342900">
              <a:spcAft>
                <a:spcPts val="400"/>
              </a:spcAft>
              <a:buSzPct val="100000"/>
              <a:buChar char="•"/>
            </a:pPr>
            <a:r>
              <a:rPr lang="en-US" sz="1400" dirty="0">
                <a:solidFill>
                  <a:schemeClr val="tx1"/>
                </a:solidFill>
              </a:rPr>
              <a:t>Container terminal (aerial): Carsten Steger, CC BY-SA 4.0</a:t>
            </a:r>
            <a:endParaRPr lang="en-US" sz="1400" dirty="0"/>
          </a:p>
        </p:txBody>
      </p:sp>
      <p:sp>
        <p:nvSpPr>
          <p:cNvPr id="5" name="Text 2"/>
          <p:cNvSpPr txBox="1"/>
          <p:nvPr/>
        </p:nvSpPr>
        <p:spPr>
          <a:xfrm>
            <a:off x="457200" y="4297680"/>
            <a:ext cx="8229600" cy="411480"/>
          </a:xfrm>
          <a:prstGeom prst="rect">
            <a:avLst/>
          </a:prstGeom>
          <a:noFill/>
          <a:ln/>
        </p:spPr>
        <p:txBody>
          <a:bodyPr wrap="square" lIns="0" tIns="0" rIns="0" bIns="0" rtlCol="0" anchor="t"/>
          <a:lstStyle/>
          <a:p>
            <a:pPr indent="0" marL="0">
              <a:buNone/>
            </a:pPr>
            <a:r>
              <a:rPr lang="en-US" sz="1200" i="1" dirty="0">
                <a:solidFill>
                  <a:schemeClr val="accent4"/>
                </a:solidFill>
              </a:rPr>
              <a:t>All photos from Wikimedia Commons and used under the licences shown. CC BY-SA: credit the author and share adaptations alike. Diagrams: CloudTech Academy.</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CloudTech Trade">
  <a:themeElements>
    <a:clrScheme name="CloudTech Trade">
      <a:dk1>
        <a:srgbClr val="0B1F3A"/>
      </a:dk1>
      <a:lt1>
        <a:srgbClr val="FFFFFF"/>
      </a:lt1>
      <a:dk2>
        <a:srgbClr val="0F3D6E"/>
      </a:dk2>
      <a:lt2>
        <a:srgbClr val="EAF1F8"/>
      </a:lt2>
      <a:accent1>
        <a:srgbClr val="F2A541"/>
      </a:accent1>
      <a:accent2>
        <a:srgbClr val="1C7C7D"/>
      </a:accent2>
      <a:accent3>
        <a:srgbClr val="C8553D"/>
      </a:accent3>
      <a:accent4>
        <a:srgbClr val="5B8DB8"/>
      </a:accent4>
      <a:accent5>
        <a:srgbClr val="2E7D4F"/>
      </a:accent5>
      <a:accent6>
        <a:srgbClr val="8A6A1F"/>
      </a:accent6>
      <a:hlink>
        <a:srgbClr val="0F3D6E"/>
      </a:hlink>
      <a:folHlink>
        <a:srgbClr val="5B8DB8"/>
      </a:folHlink>
    </a:clrScheme>
    <a:fontScheme name="CloudTech Tra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CloudTech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Importation: from a good idea to your first profitable shipment</dc:title>
  <dc:subject>PptxGenJS Presentation</dc:subject>
  <dc:creator>CloudTech Academy</dc:creator>
  <cp:lastModifiedBy>CloudTech Academy</cp:lastModifiedBy>
  <cp:revision>1</cp:revision>
  <dcterms:created xsi:type="dcterms:W3CDTF">2026-10-22T07:13:04Z</dcterms:created>
  <dcterms:modified xsi:type="dcterms:W3CDTF">2026-10-22T07:13:04Z</dcterms:modified>
</cp:coreProperties>
</file>