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837" autoAdjust="0"/>
  </p:normalViewPr>
  <p:slideViewPr>
    <p:cSldViewPr snapToGrid="0" snapToObjects="1">
      <p:cViewPr varScale="1">
        <p:scale>
          <a:sx n="83" d="100"/>
          <a:sy n="83" d="100"/>
        </p:scale>
        <p:origin x="9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n-US" sz="1300" b="0" i="0" u="none" strike="noStrike">
                <a:solidFill>
                  <a:srgbClr val="0B1F3A"/>
                </a:solidFill>
                <a:latin typeface="+mn-lt"/>
              </a:rPr>
              <a:t>Landed cost of 300 power banks, in naira (total ₦2,226,100)</a:t>
            </a:r>
          </a:p>
        </c:rich>
      </c:tx>
      <c:overlay val="0"/>
    </c:title>
    <c:autoTitleDeleted val="0"/>
    <c:plotArea>
      <c:layout/>
      <c:barChart>
        <c:barDir val="bar"/>
        <c:grouping val="clustered"/>
        <c:varyColors val="0"/>
        <c:ser>
          <c:idx val="0"/>
          <c:order val="0"/>
          <c:tx>
            <c:strRef>
              <c:f>Sheet1!$B$1</c:f>
              <c:strCache>
                <c:ptCount val="1"/>
                <c:pt idx="0">
                  <c:v>Landed cost (naira)</c:v>
                </c:pt>
              </c:strCache>
            </c:strRef>
          </c:tx>
          <c:spPr>
            <a:solidFill>
              <a:srgbClr val="F2A541"/>
            </a:solidFill>
            <a:effectLst/>
          </c:spPr>
          <c:invertIfNegative val="0"/>
          <c:dPt>
            <c:idx val="0"/>
            <c:invertIfNegative val="0"/>
            <c:bubble3D val="0"/>
            <c:extLst>
              <c:ext xmlns:c16="http://schemas.microsoft.com/office/drawing/2014/chart" uri="{C3380CC4-5D6E-409C-BE32-E72D297353CC}">
                <c16:uniqueId val="{00000001-3354-42B5-B244-9C8F96117357}"/>
              </c:ext>
            </c:extLst>
          </c:dPt>
          <c:dPt>
            <c:idx val="1"/>
            <c:invertIfNegative val="0"/>
            <c:bubble3D val="0"/>
            <c:extLst>
              <c:ext xmlns:c16="http://schemas.microsoft.com/office/drawing/2014/chart" uri="{C3380CC4-5D6E-409C-BE32-E72D297353CC}">
                <c16:uniqueId val="{00000003-3354-42B5-B244-9C8F96117357}"/>
              </c:ext>
            </c:extLst>
          </c:dPt>
          <c:dPt>
            <c:idx val="2"/>
            <c:invertIfNegative val="0"/>
            <c:bubble3D val="0"/>
            <c:spPr>
              <a:solidFill>
                <a:srgbClr val="C8553D"/>
              </a:solidFill>
              <a:effectLst/>
            </c:spPr>
            <c:extLst>
              <c:ext xmlns:c16="http://schemas.microsoft.com/office/drawing/2014/chart" uri="{C3380CC4-5D6E-409C-BE32-E72D297353CC}">
                <c16:uniqueId val="{00000005-3354-42B5-B244-9C8F96117357}"/>
              </c:ext>
            </c:extLst>
          </c:dPt>
          <c:dPt>
            <c:idx val="3"/>
            <c:invertIfNegative val="0"/>
            <c:bubble3D val="0"/>
            <c:spPr>
              <a:solidFill>
                <a:srgbClr val="C8553D"/>
              </a:solidFill>
              <a:effectLst/>
            </c:spPr>
            <c:extLst>
              <c:ext xmlns:c16="http://schemas.microsoft.com/office/drawing/2014/chart" uri="{C3380CC4-5D6E-409C-BE32-E72D297353CC}">
                <c16:uniqueId val="{00000007-3354-42B5-B244-9C8F96117357}"/>
              </c:ext>
            </c:extLst>
          </c:dPt>
          <c:dPt>
            <c:idx val="4"/>
            <c:invertIfNegative val="0"/>
            <c:bubble3D val="0"/>
            <c:spPr>
              <a:solidFill>
                <a:srgbClr val="5B8DB8"/>
              </a:solidFill>
              <a:effectLst/>
            </c:spPr>
            <c:extLst>
              <c:ext xmlns:c16="http://schemas.microsoft.com/office/drawing/2014/chart" uri="{C3380CC4-5D6E-409C-BE32-E72D297353CC}">
                <c16:uniqueId val="{00000009-3354-42B5-B244-9C8F96117357}"/>
              </c:ext>
            </c:extLst>
          </c:dPt>
          <c:dPt>
            <c:idx val="5"/>
            <c:invertIfNegative val="0"/>
            <c:bubble3D val="0"/>
            <c:spPr>
              <a:solidFill>
                <a:srgbClr val="5B8DB8"/>
              </a:solidFill>
              <a:effectLst/>
            </c:spPr>
            <c:extLst>
              <c:ext xmlns:c16="http://schemas.microsoft.com/office/drawing/2014/chart" uri="{C3380CC4-5D6E-409C-BE32-E72D297353CC}">
                <c16:uniqueId val="{0000000B-3354-42B5-B244-9C8F96117357}"/>
              </c:ext>
            </c:extLst>
          </c:dPt>
          <c:dPt>
            <c:idx val="6"/>
            <c:invertIfNegative val="0"/>
            <c:bubble3D val="0"/>
            <c:spPr>
              <a:solidFill>
                <a:srgbClr val="5B8DB8"/>
              </a:solidFill>
              <a:effectLst/>
            </c:spPr>
            <c:extLst>
              <c:ext xmlns:c16="http://schemas.microsoft.com/office/drawing/2014/chart" uri="{C3380CC4-5D6E-409C-BE32-E72D297353CC}">
                <c16:uniqueId val="{0000000D-3354-42B5-B244-9C8F96117357}"/>
              </c:ext>
            </c:extLst>
          </c:dPt>
          <c:dLbls>
            <c:numFmt formatCode="#,##0" sourceLinked="0"/>
            <c:spPr>
              <a:noFill/>
              <a:ln>
                <a:noFill/>
              </a:ln>
              <a:effectLst/>
            </c:spPr>
            <c:txPr>
              <a:bodyPr/>
              <a:lstStyle/>
              <a:p>
                <a:pPr>
                  <a:defRPr sz="1100" b="0" i="0" u="none" strike="noStrike">
                    <a:solidFill>
                      <a:srgbClr val="0B1F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Product</c:v>
                </c:pt>
                <c:pt idx="1">
                  <c:v>Freight and insurance</c:v>
                </c:pt>
                <c:pt idx="2">
                  <c:v>Duty (20%)</c:v>
                </c:pt>
                <c:pt idx="3">
                  <c:v>VAT (7.5%)</c:v>
                </c:pt>
                <c:pt idx="4">
                  <c:v>Clearing and port</c:v>
                </c:pt>
                <c:pt idx="5">
                  <c:v>Local transport</c:v>
                </c:pt>
                <c:pt idx="6">
                  <c:v>Bank charges</c:v>
                </c:pt>
              </c:strCache>
            </c:strRef>
          </c:cat>
          <c:val>
            <c:numRef>
              <c:f>Sheet1!$B$2:$B$8</c:f>
              <c:numCache>
                <c:formatCode>General</c:formatCode>
                <c:ptCount val="7"/>
                <c:pt idx="0">
                  <c:v>1350000</c:v>
                </c:pt>
                <c:pt idx="1">
                  <c:v>240000</c:v>
                </c:pt>
                <c:pt idx="2">
                  <c:v>318000</c:v>
                </c:pt>
                <c:pt idx="3">
                  <c:v>143100</c:v>
                </c:pt>
                <c:pt idx="4">
                  <c:v>120000</c:v>
                </c:pt>
                <c:pt idx="5">
                  <c:v>30000</c:v>
                </c:pt>
                <c:pt idx="6">
                  <c:v>25000</c:v>
                </c:pt>
              </c:numCache>
            </c:numRef>
          </c:val>
          <c:extLst>
            <c:ext xmlns:c16="http://schemas.microsoft.com/office/drawing/2014/chart" uri="{C3380CC4-5D6E-409C-BE32-E72D297353CC}">
              <c16:uniqueId val="{0000000E-3354-42B5-B244-9C8F96117357}"/>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lblOffset val="100"/>
        <c:noMultiLvlLbl val="1"/>
      </c:catAx>
      <c:valAx>
        <c:axId val="2094734552"/>
        <c:scaling>
          <c:orientation val="minMax"/>
          <c:max val="17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4118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where everyone can see you. Smile. Wait until the room is quiet.]
Good morning, everyone, and welcome. Thank you for coming.
Before we start, I want to say one thing. Today is not a lecture. Nobody is going to read slides at you for hours. Instead, I am going to tell you a story, the story of an ordinary shop owner who wants to bring goods in from another country and make a profit.
As the story moves, you will learn every step of what we call mini importation. That means importing in small quantities, the way most beginners start. Every step has a real number, a common mistake, and something you can do this week.
[Pause.]
By the end of today, each of you will have your own product, your own cost sheet, and your own thirty-day plan. That is a promise.
I also want to be honest with you. I am not going to promise easy money. Importing can be very profitable, and it can also be very expensive when it is done wrong. My job today is to help you do it right, and to protect you from the mistakes that cost people their savings.
So, are we ready? Let us begin with a story.
[Click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story. Speak like you are telling it to friends.]
Meet Tunde. Tunde has a small stall in Computer Village, in Ikeja, Lagos. He sells phone accessories: chargers, earphones, power banks. Every week he buys from wholesalers in Lagos, and every month, it seems, he pays a little more than the month before.
One evening, a customer says something that changes his mind. Read it with me: "My cousin buys power banks directly from China. He sells them cheaper than you and still makes a profit."
[Pause.]
Tunde goes home and thinks about it. That night he opens a supplier website. He sees a power bank, the same kind he sells, at three dollars. And right now he is paying nine thousand, five hundred naira for the same thing at the wholesaler.
Three dollars. Nine thousand five hundred naira. He does the quick maths in his head and says, "I should order three hundred tomorrow."
[Pause. Look at the room.]
Now I want to ask you something. If you were Tunde's friend, sitting beside him that night, what would you tell him? What could go wrong with this plan?
[Ask the room. Take three or four answers. Thank each person. Write the answers on a board if you have one: fraud, delay, customs, damage, wrong product.]
Good. Hold on to all of those answers. By the end of today, we will have an answer to every one of them. Let us move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short and warm. You are setting expectations.]
Let me tell you what you will leave with today. There are four things.
The first is to choose well. You will learn to pick a product that people already buy, and to check demand and profit before you spend even one naira.
The second is to buy safely. You will learn how to find suppliers, how to spot the scams, and how to pay in a way that protects your money.
The third is to ship and clear. You will understand air and sea freight, the documents, and what happens at the port.
And the fourth, which is the most important, is to know your cost. You will learn to work out what each unit really costs you, and the price that leaves you a profit.
[Pause.]
I want you to know this is built for beginners. You do not need any experience. If you have never imported anything in your life, you are in exactly the right room.
If something I say is not clear, please stop me and ask. Somebody else is wondering the same thing, I promise you.
Alright, let us start with the very basics.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simply. Do not rush the definitions.]
Let us start with two words that people use all the time: importing and exporting.
Importing simply means you buy goods from another country and bring them in. Exporting means you sell goods, goods you make or buy here, to a buyer in another country.
Here is the part that surprises people. They are two sides of the same sale. Look at the right side of the slide. A factory in Guangzhou, in China, sells phone cases to a trader in Lagos. For China, that is an export. For Nigeria, it is an import. Same sale, two names.
[Point to the arrow on the slide.]
Now, why do people do this at all? Because a product can cost far less, or be far better, in the place where it is made. There is a gap in price. And your job, as an importer, is to turn that gap into profit.
But listen carefully to the last words of that sentence. Into profit, after you have paid for everything that sits between the factory and your customer. Freight, taxes, clearing, transport, bank charges. All of it.
[Pause.]
If you remember one sentence from today, make it this one: the price on the supplier's page is never your real cost. We are going to come back to that sentence again and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separates the small beginner version from the big version.]
People often ask me, "Do I need a huge amount of money to import?" The answer is no, and that is why we talk about mini importation.
On the left, mini importation. You are buying small quantities, from a few dozen to a few hundred units. Very often you ship by air cargo or by courier, because the quantities are small. It is usually one person or a small team. And you are buying the goods to resell them.
On the right, full trade. Here we are talking about whole container loads. That is mostly sea freight. You will have a team around you, a freight forwarder and a clearing agent. You need bigger capital and contracts. For very large orders, people even use something called a letter of credit, which is a bank promise to pay.
[Pause.]
Now look at the orange bar at the bottom. It is important. Mini does not mean exempt. Some beginners think, "My goods are small, so the rules do not apply to me." That is not true. Even small commercial imports for resale still need correct declarations.
The good news is that a small first order is the best classroom you can have. In this business, we say your first order is tuition. You are going to learn, and you want to pay for that learning in small amounts, not big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day. Slow down. Let the numbers sink in.]
I want you to look at three numbers.
The first is three dollars. That is the price Tunde saw on the supplier's page. At the exchange rate we are using in this example, that is about four thousand, five hundred naira a unit.
The second number is seven thousand, four hundred and twenty naira. That is what each power bank really costs him, once everything is added up. Freight, insurance, import duty, VAT, the clearing agent, port charges, transport from the port, and bank charges.
And the third number is sixty-five percent. That is the gap between the two. His real cost is about sixty-five percent higher than the number he first saw.
[Pause.]
Now here is what I want you to understand. Nobody cheated Tunde. Nothing dishonest happened. He simply had not counted. If Tunde had priced his power banks at six thousand naira, because he believed his cost was four thousand, five hundred, he would have lost money on every single sale and he would not even know why.
[Ask the room.] Be honest with me. How many of you have ever set a price by looking only at the buying price? Raise your hand.
[Wait. Smile. Many hands will go up.]
That is completely normal, and that is exactly why we are here. Later today, we will build this seven thousand, four hundred and twenty naira number line by line, so you can do it yourself.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a minute. It is the map for the whole day.]
This is the whole journey of a mini importation, on one page. There are ten steps. Everything we do today is one of these ten boxes, so if you ever feel lost, come back to this slide.
Let me walk through it quickly. One, choose a product. Two, check the market. Three, find suppliers. Four, verify the supplier, which means check that they are real. Five, negotiate and ask for a sample. Six, ship it. Seven, documents and customs. Eight, count the real cost. Nine, price it. Ten, sell and reorder.
[Point to the two dark boxes.]
Look at the two dark boxes, step two and step eight. These are the steps that protect your money. In step two you check the market before you spend. In step eight you count the real cost before you commit.
Here is something I have noticed over the years. Beginners rush to step six, shipping, because shipping feels like progress. Something is moving. But the people who succeed spend most of their time in steps one, two and eight. They do their homework first.
[Pause.]
So today, we are going to go through these steps in order, one at a time, and at each one I will tell you what to do and what usually goes wrong.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one and two. Keep your energy up.]
Step one is choosing a product, and here is my first piece of advice. Do not choose what you love. Choose what people already buy.
There are three questions to ask. First, demand. Are people already buying this, again and again? Second, gap. Is it overpriced, hard to find, or badly presented here in Nigeria? And third, margin. After every cost, is the profit worth the effort and the risk?
Now, where do you find the answers? You do not need expensive research. Go to the markets. Look at Jumia, Jiji and Instagram sellers. Notice what is always out of stock. Notice what gets lots of comments asking, "How much?" And listen to complaints. When someone says, "I can never find a good version of this," that is a product idea.
[Point to the dark box at the bottom.]
Then use these four quick tests before you spend a single naira. Search the product on Jumia, Jiji, Instagram and Google, and see how many sellers there are. Read the reviews of your competitors, because repeated complaints are your opportunity. Ask ten possible customers what they would pay. And finally, the best test of all: pre-sell. Post the product using the supplier's sample photos, be honest that they are sample photos, and collect names and deposits from real buyers.
[Pause.]
If nobody wants to pay a deposit, you have just saved yourself a lot of money.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room what a good first product looks like, and what to avoid.]
So what makes a good first product? Look at the left side. It should be small and light, so shipping is cheap. It should be durable, so it survives the journey. It should already be selling near you. It should not be heavily regulated. And you should be able to prove the margin on paper, before you buy.
Now the right side, which is just as important. These are the things to check before you buy.
First, some goods are banned or restricted. If you import them, they can be seized. Second, food, drinks, drugs and cosmetics generally need approval from NAFDAC before they can be sold. Third, many electrical and manufactured goods are expected to meet the standards of SON, the Standards Organisation of Nigeria. Fourth, fake branded goods, the ones people call replicas, can be seized and can bring you legal trouble. Sell your own brand, or genuinely authorised products. And fifth, batteries, liquids and aerosols have shipping limits, especially by air.
[Point to the dark bar at the bottom.]
And look at this note. Tunde's power banks contain lithium batteries. Airlines have strict rules about those. So before Tunde ships anything by air, he must ask his freight forwarder what is allowed. This is the kind of detail that nobody mentions on the supplier's website, and it can stop a shipment completely.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Make it practical.]
Now that you have a product idea, where do you find a supplier?
Let me go through the list. Alibaba is the big one. It is a huge online marketplace, mostly with Chinese suppliers, and it is good for wholesale orders and for customising products. 1688 is a Chinese wholesale site with the lowest factory prices, but it is in Chinese and you will usually need an agent. AliExpress is from the same group, and it is good for very small test orders, although the price per unit is higher. There are other business-to-business sites too, such as Made-in-China and Global Sources, which often list verified exporters, especially for electronics.
You can also go in person. On the right you see the Yiwu International Trade Market in China, where you can see and touch the goods. Trade fairs, like the Canton Fair in Guangzhou, put thousands of factories in one place. And if you are a beginner with a language gap, a sourcing agent can find and check suppliers for you, for a fee.
[Pause.]
Here is my advice. For your first mini import, start with Alibaba and a small sample order. But treat Alibaba as a directory, not a guarantee. The platform lists suppliers. It does not make every one of them honest or good.
And look at the line at the bottom. Shortlist three to five suppliers, and send every one of them the same enquiry. That way you can compare them fairly. Never message one supplier and accept the first price.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picture slowly. Point to each number as you speak.]
This is an example of a supplier listing. It is an illustration, not a real supplier. I want to show you what to look at, because beginners usually look at one thing only, the price.
Number one, the title and photos. Do they match what you actually want? Ask the supplier for real photos, not just the glossy ones.
Number two, the price tiers. Look at the box with three prices. The more you buy, the lower the price per unit. So plan for the tier you can really afford.
Number three, the minimum order. This one says one hundred pieces. That is the smallest order the supplier will accept. For your first order, you may have to buy exactly that, so check that it fits your budget.
Number four, who is selling. Is this a manufacturer or a trading company? Here it says manufacturer, eight years, verified. Those are good signs, but they are not proof. A real factory usually focuses on one line of products. If a profile sells electronics, shoes and furniture, it is probably a trader.
Number five, samples. Samples are available. Always order one before the bulk order.
And number six, payment protection. If the platform holds your money until delivery, use it.
[Pause.]
Remember, always open the company profile, not just the product page.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Be serious here. This is where beginners lose money.]
I am going to be very direct with you now. This is the step where most beginners lose their money, so please listen carefully.
On the left are the red flags. A price far below every other quote. That is bait. A supplier who, after weeks of normal emails, suddenly sends new bank details. That usually means their email was hijacked, and the money would go to a criminal. A company asking you to pay into a personal account, which gives you no protection at all. And a supplier who will not do a live video call of the factory. A real supplier will accept that.
[Pause.]
Now the safe habits on the right. Pay through the platform, using Trade Assurance or an escrow service, so your money is held until you are satisfied. Ask for a live video call and see the factory floor, the stock and the production line, live, not a recorded clip. Match every name: the business licence, the invoice and the bank account holder must all be the same company. And pay a deposit, not everything. Often that is thirty percent, with the balance paid after inspection.
One more thing. Never, ever pay with gift cards, cryptocurrency, or cash handed to an agent. There is no protection in any of those.
[Pause. Look around the room.]
I would rather you lose a week asking questions than lose your savings in one transfer. A good supplier will never be offended by careful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This is a friendlier slide. Smile and use the real examples.]
Now you have a verified supplier. It is time to negotiate. And yes, you should negotiate.
Before you start, know three things: your target price, which you work out backwards from the selling price you found earlier, your walk-away price, which is the highest price at which the deal still makes sense, and two or three other quotes so you know what is normal.
Then use these four ideas. First, ask for tier prices. Say, "What is your price at three hundred, five hundred and one thousand units?" The difference between tiers shows you how much room there is. Second, show them you will reorder. A repeat buyer is worth a lower price. Third, be exact about the specification: the model, the material, the colour, the packaging. Vague requests lead to vague prices and later disputes. And fourth, order a sample first.
About samples. Ask what the sample costs and whether it is refunded when you place the bulk order. Then test it like a real customer would. Use it, drop it, charge it. Take photos and weigh it. And keep it. If the bulk goods arrive worse than the sample, the sample is your evidence.
[Point to the dark bar.]
And look at typical payment terms: thirty percent deposit, and seventy percent before shipment, or against a copy of the bill of lading. That way, you can inspect or see proof of shipment before you pay the balance.
One last tip: be polite and patient. Pressure often makes suppliers cut quality instead of price.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Use the photos to make it feel real.]
Your goods are bought. Now, how do they get here? There are two main ways, air and sea. Look at the two photos. On the left, a container ship being loaded. On the right, a cargo aircraft being loaded.
How do you choose? You look at weight, size, value, urgency and budget.
Air freight is faster. It is roughly one to two weeks, door to door. But it costs more for every kilogram. It is best for small, light, high-value or urgent goods, and for samples.
Sea freight is slower. It often takes several weeks, commonly over a month from China. But it costs much less per unit of cargo. It is best for heavy, bulky or large orders. The risk is that there is more handling and there can be port delays.
[Pause.]
For your first mini import of light goods, air cargo is often the practical choice. As your volumes grow, sea freight will bring your cost per unit down.
Two cautions. First, prices and times change often, so always get a current quote. Second, make sure that when you compare quotes from different freight forwarders, they are built the same way. One may include delivery to your door and another may stop at the airport. If you compare those two, you are not comparing like with like.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maths slide. Let the room follow along. If anyone has a phone calculator, encourage them to use it.]
Here is something that surprises almost every beginner. Airlines do not only charge you for how heavy your box is. They charge you for the space it takes up.
So they compare two numbers: the actual weight, and the volumetric weight, and they charge you for whichever is greater.
The volumetric weight formula is on the left. Length times width times height, in centimetres, divided by six thousand.
Let us try it together. We have one carton. It is sixty centimetres by forty by fifty, and it weighs fifteen kilograms.
[Point to the white boxes on the right, one by one.]
First, we multiply the sides. Sixty times forty times fifty is one hundred and twenty thousand.
Second, we divide by six thousand. One hundred and twenty thousand divided by six thousand is twenty. So the volumetric weight is twenty kilograms.
Third, we compare. The box actually weighs fifteen kilograms, but the volumetric weight is twenty. Twenty is greater, so you will be charged for twenty kilograms, not fifteen.
[Ask the room.] Why does this matter? Because if the forwarder quotes a price per kilogram, you must multiply by twenty, not by fifteen. If you use the wrong number, your cost is wrong.
[Pause.]
One more point. Some carriers use slightly different divisors, so always ask how your quote is calculated. If time allows, ask people to try it now with a box they know.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seven. Documents can feel boring, so use the story: documents are the passport of the goods.]
Think of documents as the passport of your goods. Customs does not clear goods on trust. It clears them on documents that agree with each other and with the goods.
Look at the five boxes at the top. This is the path of a shipment: the supplier, the freight forwarder, the ship or airline, customs and the clearing agent, and finally you, the importer. And under each one are the documents they handle.
The supplier gives you the commercial invoice, which is the bill, and the packing list, which says what is in each carton. The forwarder books the transport and gives you a bill of lading for sea freight, or an air waybill for air freight. Both are the receipt and the contract for carrying your goods.
In Nigeria, before the goods ship, you raise something called a Form M through your bank. After the documents are submitted, Customs issues a PAAR, a Pre-Arrival Assessment Report. And your clearing agent uses these to clear the goods.
[Point to the red bar.]
Now the golden rule, and it is at the bottom. All the documents must match. The names, the addresses, the quantities, the weights, the descriptions and the values. The most common reason for delay and fines is a mismatch.
And please hear this clearly. Never agree to understate the value of your goods, or to change the description on an invoice, to pay less duty. That is an offence. It can lead to seizure of your goods and penalties, and it makes every future shipment harder.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HS codes scare people, but the idea is easy.]
Let us talk about duty, which is the tax you pay to bring goods into the country.
Every product in the world has a code. It is called the HS code, from the Harmonized System. Think of it as the product's ID number. The first six digits are the same everywhere, and each country adds more digits for its own tariff.
Why does it matter? Because the code decides your duty rate, which rules and permits apply, and whether the product is restricted. If you use the wrong code, you pay the wrong duty, and you can face delays and penalties. So ask your forwarder or your clearing agent to confirm the code before you ship.
Now follow the four steps on the left. After the HS code, we work out the CIF value. CIF means cost, insurance and freight, so it is your product cost plus freight plus insurance. Third, duty. That is a percentage of the CIF value, converted to naira. And fourth, VAT. That is a percentage of the naira CIF value plus the duty. So VAT is charged on top of duty.
[Point to the red text at the bottom.]
One warning. Rates change. In today's examples I am using teaching rates. For your real goods, always confirm the current rate for your HS code, and do not trust a number from a video or a friend.
And the photo on the right is a customs officer inspecting goods. Some shipments are examined when they arrive, so be ready and answer your agent quickly.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seven, continued, and now it is about Nigeria specifically. Remind them that rules change.]
Importing into Nigeria involves several organisations, and each one cares about its own area.
Nigeria Customs Service assesses and collects duty, enforces the bans, and examines and releases your goods. SON, the Standards Organisation of Nigeria, deals with product standards. NAFDAC deals with food, drinks, drugs and cosmetics. Your bank handles foreign exchange and the Form M. And a licensed clearing agent deals with Customs on your behalf.
A single shipment, like cosmetics, can involve Customs, NAFDAC and SON all at once.
Now look at the order of events at the bottom. First, register your business with the Corporate Affairs Commission, and get a tax identification number. Second, raise your Form M through your bank before shipping. Third, the goods ship. Fourth, Customs issues the PAAR. And fifth, you clear the goods at the port.
[Point to the photo of Apapa.]
Here is Apapa port in Lagos. At ports, watch out for storage and demurrage. You only get a limited number of free days. After that, you pay storage and demurrage charges every day, and a few days of delay can add up to a lot of money. So be ready to collect your goods quickly.
Choose a licensed clearing agent carefully. A good one saves you money and time, and a bad one costs you both.
[Pause.]
And please remember, requirements change. Always confirm the current rules with Customs and the agency that covers your product before you ship.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eight. This is the heart of the day. Work through it slowly with the room, line by line. Let people use calculators.]
Now we are going to build Tunde's real cost, line by line. Remember, he is buying three hundred power banks at three dollars each.
[Point to the table.]
First, the product. Three hundred times three dollars is nine hundred dollars. Air freight is one hundred and fifty dollars. Insurance is ten dollars. Add them up and the CIF value is one thousand and sixty dollars.
Now we change it to naira. At one thousand, five hundred naira to the dollar, that is one million, five hundred and ninety thousand naira.
Next, duty. At twenty percent, that is three hundred and eighteen thousand naira.
Then VAT. Remember, VAT is charged on the CIF value plus the duty. So one million, five hundred and ninety thousand plus three hundred and eighteen thousand is one million, nine hundred and eight thousand. Seven point five percent of that is one hundred and forty-three thousand, one hundred naira.
Then the local costs. The clearing agent and port charges: one hundred and twenty thousand naira. Local transport: thirty thousand. And bank and payment charges: twenty-five thousand.
[Point to the dark box on the right.]
Add everything, and the total landed cost is two million, two hundred and twenty-six thousand, one hundred naira. Divide by three hundred, and each power bank costs seven thousand, four hundred and twenty naira.
[Pause.]
Remember the number we saw on the supplier's page? About four thousand, five hundred. The real cost is about sixty-five percent higher. That is why we count.
And a reminder: these rates are for teaching. For your own goods, use the current rates.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chart to make the point visual.]
Here is the same information as a picture. Each bar is a cost.
The product is the biggest bar, one million, three hundred and fifty thousand naira. But look at all the others. Freight and insurance, two hundred and forty thousand. Duty, three hundred and eighteen thousand. VAT, about one hundred and forty-three thousand. And then clearing and port charges, local transport, and bank charges.
The brick-red bars are the government's share, the duty and the tax. The blue bars are local costs. The amber bars are the goods and their freight.
If Tunde had priced only from the product, he would have missed around eight hundred and seventy-six thousand naira of costs across the batch. That is nearly a whole second order, gone, just because he did not count.
[Ask the room.] Look at this chart and tell me: which of these costs could you reduce?
[Take a few answers. Then confirm them using the panel on the right.]
You are right. First, compare freight quotes from several forwarders. Second, confirm the HS code, so you do not pay the wrong duty. Third, order enough units to spread the fixed charges, like clearing fees, over more items. And fourth, collect your goods before storage fees start.
Notice that you cannot change the product cost much, and you cannot change the tax rate. But you can control the freight, the delays and the planning. That is where smart importers save money.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nine. Pricing. Many people confuse two words here, so be careful and clear.]
You now know your real cost. The next question is: what price should you sell at?
First, two words that people mix up. Markup and margin.
Markup is profit as a percentage of your cost. Margin is profit as a percentage of your selling price. They are different numbers.
Look at the example. A product costs six thousand naira, and you sell it at ten thousand. Your profit is four thousand. The markup is four thousand divided by six thousand, which is sixty-six point seven percent. The margin is four thousand divided by ten thousand, which is forty percent. Same product, same profit, two different numbers. When someone tells you "I make forty percent," always ask: forty percent of what?
Now the formula at the top. To reach a target margin, divide your cost by one minus the margin. For Tunde, the cost is seven thousand, four hundred and twenty naira, and he wants a thirty-five percent margin. So seven thousand, four hundred and twenty divided by point six five. That gives about eleven thousand, four hundred and fifteen naira.
Then check the market. If competitors sell for less, you must lower your cost, change the product, or accept a smaller margin. If they sell for more, you may be able to price higher.
[Point to the pink bar.]
And one important warning. A thirty-five percent margin is not thirty-five percent profit in your pocket. You still have to pay for marketing, packaging, delivery and your own time. So keep some room.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ten. Reassure them: selling is half the business, so plan it early.]
An import is not profit until the goods are sold and the money is in your account. This is where many beginners go wrong. They spend all their energy on sourcing and shipping, and then they sit on stock for months.
So plan how you will sell before the goods arrive. Start with the channels you can reach this week. For most people that is WhatsApp status, Instagram, Facebook, TikTok and the people they already know. These are cheap and they give you direct contact with customers. Later, you can add marketplaces, a shop, or your own website.
Now look at the two cards. Tunde's cost per unit is seven thousand, four hundred and twenty naira.
If he sells at retail, at twelve thousand naira, he makes four thousand, five hundred and eighty naira on each unit. That is a good profit per item, but it takes time and effort to sell one at a time.
If he sells wholesale, to a trader who buys ten or more, at nine thousand, five hundred naira, he makes two thousand and eighty naira per unit. That is less per item. But look: sell ten units to one trader in one day, and he makes twenty thousand, eight hundred naira. To make the same money at retail, he would need to sell about five units.
[Pause.]
So wholesale moves stock fast and frees up your money, so you can reorder. Retail earns more per unit but is slower. A smart importer uses both.
And one last thing. Do not put all your profit back into one slow product. Keep some cash ready for the next order.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slide. Give them a glimpse of the other direction. Do not go deep.]
So far we have talked about bringing goods into Nigeria. But there is a whole other direction: exporting, which means selling goods outside the country.
Why would you do it? It can earn foreign currency, it reaches much bigger markets, and it can give you better prices than you can get at home. It also asks more of you. The product must meet the buyer's standard, the paperwork must be right, and the payment terms need care.
And exporting is not only for big companies. A small producer can start with one buyer and one product.
What does Nigeria export? Look at the four cards. Agricultural products, like sesame, cocoa, cashew, ginger and hibiscus, which many of you call zobo. Processed foods and spices, especially for Nigerians living abroad. Beauty and personal care products, like shea butter, black soap and natural oils. And fashion and crafts, like Ankara fabrics, beads and leather goods.
[Pause.]
If you are making any of these, you are already halfway there.
One note. Export rules, agencies and incentives change. So before you ship anything out, confirm the current requirements with the Nigerian Export Promotion Council and with Customs. We have a full lesson on this in the course.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question from the beginning of the day. This slide ties everything together.]
Remember at the start, I asked you what could go wrong for Tunde? And you gave me answers. Now you can answer that question properly.
Look at the six boxes.
Supplier fraud: you verify the supplier and pay through a protected method. Poor quality: you order a sample first, and you inspect before paying the balance. Delays: you allow buffer time and keep some spare stock. Damage or loss: you use strong packing and insurance. Surprise charges: you work out the landed cost before you order. And exchange-rate changes: you add a margin, you pay promptly, and you order smaller amounts more often.
[Pause.]
Every risk has a way to manage it. None of these risks is a reason to avoid importing. They are reasons to prepare.
And remember the line at the bottom: start small, test, then grow. The first order is tuition. You are paying to learn. If your first order is small, then even your mistakes are cheap, and you will make fewer of them on the second order.
[Look around the room.]
The people who fail at importing are usually not the ones who made small mistakes. They are the ones who went big before they understood the process.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session. Tell them clearly what to do, then walk around the room. Allow about thirty minutes.]
Now it is your turn. Everyone, take out a pen and paper, or open a spreadsheet on your phone or laptop. For the next thirty minutes, you are going to work on your own product.
There are four steps on the slide.
Step one. Pick a product. It should be small, light, legal and already selling. And write down three people who would buy it from you this week.
Step two. Check the market. Look up three competitor prices, and write the lowest, the typical and the highest.
Step three. Build the landed cost. Use a real supplier price from a website, and follow the steps we did for Tunde: product, freight, insurance, CIF, naira, duty, VAT, clearing, transport, bank charges. You can use today's teaching rates, but note them down.
Step four. Set your price. Divide your landed cost by zero point six five for a thirty-five percent margin. Then ask yourself: does the market accept this price?
[Pause.]
I will walk around, and if you get stuck, put your hand up and I will come to you.
[When people finish, ask them to swap papers with a neighbour.]
When you finish, swap with the person next to you. Your job is to find the weakest assumption in their plan. Is the competitor price realistic? Did they forget a cost? This is how professionals check each other.
[After thirty minutes, ask two or three people to share.] Who would like to tell us: did your margin survive? Was there a surprise?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day to a practical close. Give them a calm, doable plan.]
Let me finish with a simple plan for the next thirty days. And I want to say this clearly: nobody has to import anything this month. The goal of the first thirty days is to test an idea cheaply and to learn.
Week one, choose. Pick a product, and ask ten buyers what they would pay for it.
Week two, source. Shortlist three to five suppliers, send each the same enquiry, and verify the best two.
Week three, test. Order a sample. Build your landed cost and set your target price.
Week four, decide. Pre-sell to real customers. Then decide: place a small first order, or drop the idea and test another.
[Pause.]
Now read the line at the bottom. A bad product dropped after a week of research is a win. I say that because it is true. If you spend a week and discover the margin does not work, you have lost nothing. That is the research doing its job. Someone who skips research would discover the same problem after paying for the shipment.
So be brave enough to test, and wise enough to stop when the numbers say stop.
I believe many of you in this room can do this. You do not need to be rich or to know everyone. You need to be careful, to count everything, and to start small.</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 up straight and speak slowly. This is the ending. Let the last sentence land.]
Let me end with the story we started with.
Tunde did not order three hundred power banks the next day. He tested the market. He checked his suppliers. He ordered a sample. He built his real cost, and he priced for a margin. His first order was small, and it sold. Then his second order was bigger.
That is how it is done. Not with luck, but with steps.
[Pause.]
And here is the sentence I asked you to remember at the beginning. The price on the page is never your real cost. If you remember only that, you are already safer than most beginners.
Test small. Count everything. Then grow.
[Smile.]
Thank you so much for your time and your attention today. I would love to hear your questions. Please go ahead.
[Take questions. When finished:]
And if you want the lesson-by-lesson version, with practice tasks, calculators and a final business plan, the full course is at academy dot cloudtech analytics dot com. Everything we did today is in it, with more detail.
Thank you, everyone. Well done today.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read aloud. It keeps the licence information for the photographs: all are from Wikimedia Commons, used under the licences shown, and the diagrams are original to CloudTech Academy. Leave it on screen at the end if anyone asks where the photos came from.]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CloudTech Academy  |  Mini Importation training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rtlCol="0"/>
          <a:lstStyle>
            <a:lvl1pPr marL="0" indent="0" algn="l">
              <a:buNone/>
              <a:defRPr lang="en-US" sz="2800" b="1" dirty="0">
                <a:solidFill>
                  <a:schemeClr val="bg1"/>
                </a:solidFill>
              </a:defRPr>
            </a:lvl1pPr>
          </a:lstStyle>
          <a:p>
            <a:pPr marL="0" indent="0" algn="l">
              <a:buNone/>
            </a:pPr>
            <a:endParaRPr lang="en-US" sz="2800" dirty="0"/>
          </a:p>
        </p:txBody>
      </p:sp>
      <p:sp>
        <p:nvSpPr>
          <p:cNvPr id="3" name="Text 0"/>
          <p:cNvSpPr/>
          <p:nvPr/>
        </p:nvSpPr>
        <p:spPr>
          <a:xfrm>
            <a:off x="457200" y="4800600"/>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CloudTech Academy  |  Mini Importation training</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0" y="274320"/>
            <a:ext cx="4572000" cy="82296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6.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7.png"/><Relationship Id="rId7"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18.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Container terminal seen from the air" descr="Container terminal seen from the air"/>
          <p:cNvPicPr>
            <a:picLocks noChangeAspect="1"/>
          </p:cNvPicPr>
          <p:nvPr/>
        </p:nvPicPr>
        <p:blipFill>
          <a:blip r:embed="rId3"/>
          <a:stretch>
            <a:fillRect/>
          </a:stretch>
        </p:blipFill>
        <p:spPr>
          <a:xfrm>
            <a:off x="0" y="0"/>
            <a:ext cx="9144000" cy="5143500"/>
          </a:xfrm>
          <a:prstGeom prst="rect">
            <a:avLst/>
          </a:prstGeom>
        </p:spPr>
      </p:pic>
      <p:sp>
        <p:nvSpPr>
          <p:cNvPr id="4" name="photo overlay"/>
          <p:cNvSpPr/>
          <p:nvPr/>
        </p:nvSpPr>
        <p:spPr>
          <a:xfrm>
            <a:off x="0" y="0"/>
            <a:ext cx="9144000" cy="5143500"/>
          </a:xfrm>
          <a:prstGeom prst="rect">
            <a:avLst/>
          </a:prstGeom>
          <a:solidFill>
            <a:srgbClr val="0B1F3A">
              <a:alpha val="78000"/>
            </a:srgbClr>
          </a:solidFill>
          <a:ln w="12700">
            <a:solidFill>
              <a:srgbClr val="0B1F3A"/>
            </a:solidFill>
            <a:prstDash val="solid"/>
          </a:ln>
        </p:spPr>
      </p:sp>
      <p:sp>
        <p:nvSpPr>
          <p:cNvPr id="5" name="Text 1"/>
          <p:cNvSpPr txBox="1"/>
          <p:nvPr/>
        </p:nvSpPr>
        <p:spPr>
          <a:xfrm>
            <a:off x="640080" y="1097280"/>
            <a:ext cx="7315200" cy="274320"/>
          </a:xfrm>
          <a:prstGeom prst="rect">
            <a:avLst/>
          </a:prstGeom>
          <a:noFill/>
          <a:ln/>
        </p:spPr>
        <p:txBody>
          <a:bodyPr wrap="square" lIns="0" tIns="0" rIns="0" bIns="0" rtlCol="0" anchor="t"/>
          <a:lstStyle/>
          <a:p>
            <a:pPr marL="0" indent="0">
              <a:buNone/>
            </a:pPr>
            <a:r>
              <a:rPr lang="en-US" sz="1400" b="1" kern="0" spc="400" dirty="0">
                <a:solidFill>
                  <a:schemeClr val="accent1"/>
                </a:solidFill>
              </a:rPr>
              <a:t>TRAINING WORKSHOP</a:t>
            </a:r>
            <a:endParaRPr lang="en-US" sz="1400" dirty="0"/>
          </a:p>
        </p:txBody>
      </p:sp>
      <p:sp>
        <p:nvSpPr>
          <p:cNvPr id="6" name="Text 2"/>
          <p:cNvSpPr txBox="1"/>
          <p:nvPr/>
        </p:nvSpPr>
        <p:spPr>
          <a:xfrm>
            <a:off x="640080" y="1463040"/>
            <a:ext cx="7863840" cy="914400"/>
          </a:xfrm>
          <a:prstGeom prst="rect">
            <a:avLst/>
          </a:prstGeom>
          <a:noFill/>
          <a:ln/>
        </p:spPr>
        <p:txBody>
          <a:bodyPr wrap="square" lIns="0" tIns="0" rIns="0" bIns="0" rtlCol="0" anchor="t"/>
          <a:lstStyle/>
          <a:p>
            <a:pPr marL="0" indent="0">
              <a:buNone/>
            </a:pPr>
            <a:r>
              <a:rPr lang="en-US" sz="5400" b="1" dirty="0">
                <a:solidFill>
                  <a:schemeClr val="bg1"/>
                </a:solidFill>
                <a:latin typeface="Cambria" pitchFamily="34" charset="0"/>
                <a:ea typeface="Cambria" pitchFamily="34" charset="-122"/>
                <a:cs typeface="Cambria" pitchFamily="34" charset="-120"/>
              </a:rPr>
              <a:t>Mini Importation</a:t>
            </a:r>
            <a:endParaRPr lang="en-US" sz="5400" dirty="0"/>
          </a:p>
        </p:txBody>
      </p:sp>
      <p:sp>
        <p:nvSpPr>
          <p:cNvPr id="7" name="Text 3"/>
          <p:cNvSpPr txBox="1"/>
          <p:nvPr/>
        </p:nvSpPr>
        <p:spPr>
          <a:xfrm>
            <a:off x="640080" y="2468880"/>
            <a:ext cx="7498080" cy="822960"/>
          </a:xfrm>
          <a:prstGeom prst="rect">
            <a:avLst/>
          </a:prstGeom>
          <a:noFill/>
          <a:ln/>
        </p:spPr>
        <p:txBody>
          <a:bodyPr wrap="square" lIns="0" tIns="0" rIns="0" bIns="0" rtlCol="0" anchor="t"/>
          <a:lstStyle/>
          <a:p>
            <a:pPr marL="0" indent="0">
              <a:buNone/>
            </a:pPr>
            <a:r>
              <a:rPr lang="en-US" sz="2600" dirty="0">
                <a:solidFill>
                  <a:schemeClr val="bg1"/>
                </a:solidFill>
                <a:latin typeface="Cambria" pitchFamily="34" charset="0"/>
                <a:ea typeface="Cambria" pitchFamily="34" charset="-122"/>
                <a:cs typeface="Cambria" pitchFamily="34" charset="-120"/>
              </a:rPr>
              <a:t>From a good idea to your first profitable shipment</a:t>
            </a:r>
            <a:endParaRPr lang="en-US" sz="2600" dirty="0"/>
          </a:p>
        </p:txBody>
      </p:sp>
      <p:sp>
        <p:nvSpPr>
          <p:cNvPr id="8" name="Text 4"/>
          <p:cNvSpPr txBox="1"/>
          <p:nvPr/>
        </p:nvSpPr>
        <p:spPr>
          <a:xfrm>
            <a:off x="640080" y="4114800"/>
            <a:ext cx="7772400" cy="274320"/>
          </a:xfrm>
          <a:prstGeom prst="rect">
            <a:avLst/>
          </a:prstGeom>
          <a:noFill/>
          <a:ln/>
        </p:spPr>
        <p:txBody>
          <a:bodyPr wrap="square" lIns="0" tIns="0" rIns="0" bIns="0" rtlCol="0" anchor="t"/>
          <a:lstStyle/>
          <a:p>
            <a:pPr marL="0" indent="0">
              <a:buNone/>
            </a:pPr>
            <a:r>
              <a:rPr lang="en-US" sz="1400" dirty="0">
                <a:solidFill>
                  <a:schemeClr val="accent1"/>
                </a:solidFill>
              </a:rPr>
              <a:t>A practical, story-led guide for beginners  |  CloudTech Academy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0" y="274320"/>
            <a:ext cx="4572000" cy="822960"/>
          </a:xfrm>
          <a:prstGeom prst="rect">
            <a:avLst/>
          </a:prstGeom>
          <a:noFill/>
          <a:ln/>
        </p:spPr>
        <p:txBody>
          <a:bodyPr wrap="square" lIns="0" tIns="0" rIns="0" bIns="0" rtlCol="0" anchor="ctr"/>
          <a:lstStyle/>
          <a:p>
            <a:pPr marL="0" indent="0" algn="l">
              <a:buNone/>
            </a:pPr>
            <a:r>
              <a:rPr lang="en-US" sz="2800" b="1" dirty="0">
                <a:solidFill>
                  <a:schemeClr val="tx1"/>
                </a:solidFill>
              </a:rPr>
              <a:t>It starts with one sentence</a:t>
            </a:r>
            <a:endParaRPr lang="en-US" sz="2800" dirty="0"/>
          </a:p>
        </p:txBody>
      </p:sp>
      <p:pic>
        <p:nvPicPr>
          <p:cNvPr id="4" name="Computer Village, Ikeja, Lagos" descr="Computer Village, Ikeja, Lagos"/>
          <p:cNvPicPr>
            <a:picLocks noChangeAspect="1"/>
          </p:cNvPicPr>
          <p:nvPr/>
        </p:nvPicPr>
        <p:blipFill>
          <a:blip r:embed="rId3"/>
          <a:stretch>
            <a:fillRect/>
          </a:stretch>
        </p:blipFill>
        <p:spPr>
          <a:xfrm>
            <a:off x="0" y="0"/>
            <a:ext cx="3749040" cy="5143500"/>
          </a:xfrm>
          <a:prstGeom prst="rect">
            <a:avLst/>
          </a:prstGeom>
        </p:spPr>
      </p:pic>
      <p:sp>
        <p:nvSpPr>
          <p:cNvPr id="5" name="Text 1"/>
          <p:cNvSpPr txBox="1"/>
          <p:nvPr/>
        </p:nvSpPr>
        <p:spPr>
          <a:xfrm>
            <a:off x="4023360" y="4754880"/>
            <a:ext cx="4663440" cy="201168"/>
          </a:xfrm>
          <a:prstGeom prst="rect">
            <a:avLst/>
          </a:prstGeom>
          <a:noFill/>
          <a:ln/>
        </p:spPr>
        <p:txBody>
          <a:bodyPr wrap="square" lIns="0" tIns="0" rIns="0" bIns="0" rtlCol="0" anchor="t"/>
          <a:lstStyle/>
          <a:p>
            <a:pPr marL="0" indent="0">
              <a:buNone/>
            </a:pPr>
            <a:r>
              <a:rPr lang="en-US" sz="1000" i="1" dirty="0">
                <a:solidFill>
                  <a:schemeClr val="accent4"/>
                </a:solidFill>
              </a:rPr>
              <a:t>Computer Village, Ikeja. Photo: Lightfast Media, CC BY-SA 4.0</a:t>
            </a:r>
            <a:endParaRPr lang="en-US" sz="1000" dirty="0"/>
          </a:p>
        </p:txBody>
      </p:sp>
      <p:sp>
        <p:nvSpPr>
          <p:cNvPr id="6" name="quote card"/>
          <p:cNvSpPr/>
          <p:nvPr/>
        </p:nvSpPr>
        <p:spPr>
          <a:xfrm>
            <a:off x="4114800" y="1188720"/>
            <a:ext cx="4572000" cy="1143000"/>
          </a:xfrm>
          <a:prstGeom prst="roundRect">
            <a:avLst>
              <a:gd name="adj" fmla="val 8000"/>
            </a:avLst>
          </a:prstGeom>
          <a:solidFill>
            <a:schemeClr val="bg2"/>
          </a:solidFill>
          <a:ln w="12700">
            <a:solidFill>
              <a:schemeClr val="bg2"/>
            </a:solidFill>
            <a:prstDash val="solid"/>
          </a:ln>
        </p:spPr>
      </p:sp>
      <p:sp>
        <p:nvSpPr>
          <p:cNvPr id="7" name="Text 3"/>
          <p:cNvSpPr txBox="1"/>
          <p:nvPr/>
        </p:nvSpPr>
        <p:spPr>
          <a:xfrm>
            <a:off x="4297680" y="1280160"/>
            <a:ext cx="4206240" cy="960120"/>
          </a:xfrm>
          <a:prstGeom prst="rect">
            <a:avLst/>
          </a:prstGeom>
          <a:noFill/>
          <a:ln/>
        </p:spPr>
        <p:txBody>
          <a:bodyPr wrap="square" lIns="0" tIns="0" rIns="0" bIns="0" rtlCol="0" anchor="t"/>
          <a:lstStyle/>
          <a:p>
            <a:pPr marL="0" indent="0">
              <a:buNone/>
            </a:pPr>
            <a:r>
              <a:rPr lang="en-US" sz="1600" i="1" dirty="0">
                <a:solidFill>
                  <a:schemeClr val="tx1"/>
                </a:solidFill>
                <a:latin typeface="Cambria" pitchFamily="34" charset="0"/>
                <a:ea typeface="Cambria" pitchFamily="34" charset="-122"/>
                <a:cs typeface="Cambria" pitchFamily="34" charset="-120"/>
              </a:rPr>
              <a:t>“My cousin buys power banks directly from China. He sells them cheaper than you and still makes a profit.”</a:t>
            </a:r>
            <a:endParaRPr lang="en-US" sz="1600" dirty="0"/>
          </a:p>
        </p:txBody>
      </p:sp>
      <p:sp>
        <p:nvSpPr>
          <p:cNvPr id="8" name="Text 4"/>
          <p:cNvSpPr txBox="1"/>
          <p:nvPr/>
        </p:nvSpPr>
        <p:spPr>
          <a:xfrm>
            <a:off x="4114800" y="2514600"/>
            <a:ext cx="4572000" cy="777240"/>
          </a:xfrm>
          <a:prstGeom prst="rect">
            <a:avLst/>
          </a:prstGeom>
          <a:noFill/>
          <a:ln/>
        </p:spPr>
        <p:txBody>
          <a:bodyPr wrap="square" lIns="0" tIns="0" rIns="0" bIns="0" rtlCol="0" anchor="t"/>
          <a:lstStyle/>
          <a:p>
            <a:pPr marL="0" indent="0">
              <a:buNone/>
            </a:pPr>
            <a:r>
              <a:rPr lang="en-US" sz="1500" b="1" dirty="0">
                <a:solidFill>
                  <a:schemeClr val="tx1"/>
                </a:solidFill>
              </a:rPr>
              <a:t>Tunde</a:t>
            </a:r>
            <a:r>
              <a:rPr lang="en-US" sz="1500" dirty="0">
                <a:solidFill>
                  <a:schemeClr val="tx1"/>
                </a:solidFill>
              </a:rPr>
              <a:t> sells phone accessories at Computer Village. He pays </a:t>
            </a:r>
            <a:r>
              <a:rPr lang="en-US" sz="1500" b="1" dirty="0">
                <a:solidFill>
                  <a:schemeClr val="tx1"/>
                </a:solidFill>
              </a:rPr>
              <a:t>₦9,500</a:t>
            </a:r>
            <a:r>
              <a:rPr lang="en-US" sz="1500" dirty="0">
                <a:solidFill>
                  <a:schemeClr val="tx1"/>
                </a:solidFill>
              </a:rPr>
              <a:t> for a power bank. A supplier website shows the same item at </a:t>
            </a:r>
            <a:r>
              <a:rPr lang="en-US" sz="1500" b="1" dirty="0">
                <a:solidFill>
                  <a:schemeClr val="tx1"/>
                </a:solidFill>
              </a:rPr>
              <a:t>$3.00</a:t>
            </a:r>
            <a:r>
              <a:rPr lang="en-US" sz="1500" dirty="0">
                <a:solidFill>
                  <a:schemeClr val="tx1"/>
                </a:solidFill>
              </a:rPr>
              <a:t>.</a:t>
            </a:r>
            <a:endParaRPr lang="en-US" sz="1500" dirty="0"/>
          </a:p>
        </p:txBody>
      </p:sp>
      <p:sp>
        <p:nvSpPr>
          <p:cNvPr id="9" name="question card"/>
          <p:cNvSpPr/>
          <p:nvPr/>
        </p:nvSpPr>
        <p:spPr>
          <a:xfrm>
            <a:off x="4114800" y="3474720"/>
            <a:ext cx="4572000" cy="1005840"/>
          </a:xfrm>
          <a:prstGeom prst="roundRect">
            <a:avLst>
              <a:gd name="adj" fmla="val 9091"/>
            </a:avLst>
          </a:prstGeom>
          <a:solidFill>
            <a:srgbClr val="0B1F3A"/>
          </a:solidFill>
          <a:ln w="12700">
            <a:solidFill>
              <a:srgbClr val="0B1F3A"/>
            </a:solidFill>
            <a:prstDash val="solid"/>
          </a:ln>
        </p:spPr>
      </p:sp>
      <p:sp>
        <p:nvSpPr>
          <p:cNvPr id="10" name="Text 6"/>
          <p:cNvSpPr txBox="1"/>
          <p:nvPr/>
        </p:nvSpPr>
        <p:spPr>
          <a:xfrm>
            <a:off x="4297680" y="3547872"/>
            <a:ext cx="4206240" cy="320040"/>
          </a:xfrm>
          <a:prstGeom prst="rect">
            <a:avLst/>
          </a:prstGeom>
          <a:noFill/>
          <a:ln/>
        </p:spPr>
        <p:txBody>
          <a:bodyPr wrap="square" lIns="0" tIns="0" rIns="0" bIns="0" rtlCol="0" anchor="t"/>
          <a:lstStyle/>
          <a:p>
            <a:pPr marL="0" indent="0">
              <a:buNone/>
            </a:pPr>
            <a:r>
              <a:rPr lang="en-US" sz="1800" b="1" dirty="0">
                <a:solidFill>
                  <a:schemeClr val="accent1"/>
                </a:solidFill>
                <a:latin typeface="Cambria" pitchFamily="34" charset="0"/>
                <a:ea typeface="Cambria" pitchFamily="34" charset="-122"/>
                <a:cs typeface="Cambria" pitchFamily="34" charset="-120"/>
              </a:rPr>
              <a:t>“I should order 300 tomorrow.”</a:t>
            </a:r>
            <a:endParaRPr lang="en-US" sz="1800" dirty="0"/>
          </a:p>
        </p:txBody>
      </p:sp>
      <p:sp>
        <p:nvSpPr>
          <p:cNvPr id="11" name="Text 7"/>
          <p:cNvSpPr txBox="1"/>
          <p:nvPr/>
        </p:nvSpPr>
        <p:spPr>
          <a:xfrm>
            <a:off x="4297680" y="3931920"/>
            <a:ext cx="4206240" cy="365760"/>
          </a:xfrm>
          <a:prstGeom prst="rect">
            <a:avLst/>
          </a:prstGeom>
          <a:noFill/>
          <a:ln/>
        </p:spPr>
        <p:txBody>
          <a:bodyPr wrap="square" lIns="0" tIns="0" rIns="0" bIns="0" rtlCol="0" anchor="t"/>
          <a:lstStyle/>
          <a:p>
            <a:pPr marL="0" indent="0">
              <a:buNone/>
            </a:pPr>
            <a:r>
              <a:rPr lang="en-US" sz="1500" dirty="0">
                <a:solidFill>
                  <a:schemeClr val="bg1"/>
                </a:solidFill>
              </a:rPr>
              <a:t>What could go wrong? Hold that thought.</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What you will leave with today</a:t>
            </a:r>
            <a:endParaRPr lang="en-US" sz="2800" dirty="0"/>
          </a:p>
        </p:txBody>
      </p:sp>
      <p:sp>
        <p:nvSpPr>
          <p:cNvPr id="4" name="card Choose well"/>
          <p:cNvSpPr/>
          <p:nvPr/>
        </p:nvSpPr>
        <p:spPr>
          <a:xfrm>
            <a:off x="457200" y="1234440"/>
            <a:ext cx="4023360" cy="1463040"/>
          </a:xfrm>
          <a:prstGeom prst="roundRect">
            <a:avLst>
              <a:gd name="adj" fmla="val 6250"/>
            </a:avLst>
          </a:prstGeom>
          <a:solidFill>
            <a:schemeClr val="bg2"/>
          </a:solidFill>
          <a:ln w="12700">
            <a:solidFill>
              <a:schemeClr val="bg2"/>
            </a:solidFill>
            <a:prstDash val="solid"/>
          </a:ln>
        </p:spPr>
      </p:sp>
      <p:sp>
        <p:nvSpPr>
          <p:cNvPr id="5" name="icon-circle Choose well"/>
          <p:cNvSpPr/>
          <p:nvPr/>
        </p:nvSpPr>
        <p:spPr>
          <a:xfrm>
            <a:off x="621792" y="1399032"/>
            <a:ext cx="457200" cy="457200"/>
          </a:xfrm>
          <a:prstGeom prst="ellipse">
            <a:avLst/>
          </a:prstGeom>
          <a:solidFill>
            <a:schemeClr val="accent6"/>
          </a:solidFill>
          <a:ln w="12700">
            <a:solidFill>
              <a:schemeClr val="accent6"/>
            </a:solidFill>
            <a:prstDash val="solid"/>
          </a:ln>
        </p:spPr>
      </p:sp>
      <p:pic>
        <p:nvPicPr>
          <p:cNvPr id="6" name="icon FaSearch" descr="preencoded.png"/>
          <p:cNvPicPr>
            <a:picLocks noChangeAspect="1"/>
          </p:cNvPicPr>
          <p:nvPr/>
        </p:nvPicPr>
        <p:blipFill>
          <a:blip r:embed="rId3"/>
          <a:stretch>
            <a:fillRect/>
          </a:stretch>
        </p:blipFill>
        <p:spPr>
          <a:xfrm>
            <a:off x="740664" y="1517904"/>
            <a:ext cx="219456" cy="219456"/>
          </a:xfrm>
          <a:prstGeom prst="rect">
            <a:avLst/>
          </a:prstGeom>
        </p:spPr>
      </p:pic>
      <p:sp>
        <p:nvSpPr>
          <p:cNvPr id="7" name="Text 3"/>
          <p:cNvSpPr txBox="1"/>
          <p:nvPr/>
        </p:nvSpPr>
        <p:spPr>
          <a:xfrm>
            <a:off x="1207008" y="138074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Choose well</a:t>
            </a:r>
            <a:endParaRPr lang="en-US" sz="1600" dirty="0"/>
          </a:p>
        </p:txBody>
      </p:sp>
      <p:sp>
        <p:nvSpPr>
          <p:cNvPr id="8" name="Text 4"/>
          <p:cNvSpPr txBox="1"/>
          <p:nvPr/>
        </p:nvSpPr>
        <p:spPr>
          <a:xfrm>
            <a:off x="1207008" y="1709928"/>
            <a:ext cx="3108960" cy="859536"/>
          </a:xfrm>
          <a:prstGeom prst="rect">
            <a:avLst/>
          </a:prstGeom>
          <a:noFill/>
          <a:ln/>
        </p:spPr>
        <p:txBody>
          <a:bodyPr wrap="square" lIns="0" tIns="0" rIns="0" bIns="0" rtlCol="0" anchor="t"/>
          <a:lstStyle/>
          <a:p>
            <a:pPr marL="0" indent="0">
              <a:buNone/>
            </a:pPr>
            <a:r>
              <a:rPr lang="en-US" sz="1400" dirty="0">
                <a:solidFill>
                  <a:schemeClr val="tx1"/>
                </a:solidFill>
              </a:rPr>
              <a:t>Pick a product people already buy, and check demand and margin before you spend a naira.</a:t>
            </a:r>
            <a:endParaRPr lang="en-US" sz="1400" dirty="0"/>
          </a:p>
        </p:txBody>
      </p:sp>
      <p:sp>
        <p:nvSpPr>
          <p:cNvPr id="9" name="card Buy safely"/>
          <p:cNvSpPr/>
          <p:nvPr/>
        </p:nvSpPr>
        <p:spPr>
          <a:xfrm>
            <a:off x="4663440" y="1234440"/>
            <a:ext cx="4023360" cy="1463040"/>
          </a:xfrm>
          <a:prstGeom prst="roundRect">
            <a:avLst>
              <a:gd name="adj" fmla="val 6250"/>
            </a:avLst>
          </a:prstGeom>
          <a:solidFill>
            <a:schemeClr val="bg2"/>
          </a:solidFill>
          <a:ln w="12700">
            <a:solidFill>
              <a:schemeClr val="bg2"/>
            </a:solidFill>
            <a:prstDash val="solid"/>
          </a:ln>
        </p:spPr>
      </p:sp>
      <p:sp>
        <p:nvSpPr>
          <p:cNvPr id="10" name="icon-circle Buy safely"/>
          <p:cNvSpPr/>
          <p:nvPr/>
        </p:nvSpPr>
        <p:spPr>
          <a:xfrm>
            <a:off x="4828032" y="1399032"/>
            <a:ext cx="457200" cy="457200"/>
          </a:xfrm>
          <a:prstGeom prst="ellipse">
            <a:avLst/>
          </a:prstGeom>
          <a:solidFill>
            <a:schemeClr val="accent2"/>
          </a:solidFill>
          <a:ln w="12700">
            <a:solidFill>
              <a:schemeClr val="accent2"/>
            </a:solidFill>
            <a:prstDash val="solid"/>
          </a:ln>
        </p:spPr>
      </p:sp>
      <p:pic>
        <p:nvPicPr>
          <p:cNvPr id="11" name="icon FaUserCheck" descr="preencoded.png"/>
          <p:cNvPicPr>
            <a:picLocks noChangeAspect="1"/>
          </p:cNvPicPr>
          <p:nvPr/>
        </p:nvPicPr>
        <p:blipFill>
          <a:blip r:embed="rId4"/>
          <a:stretch>
            <a:fillRect/>
          </a:stretch>
        </p:blipFill>
        <p:spPr>
          <a:xfrm>
            <a:off x="4946904" y="1517904"/>
            <a:ext cx="219456" cy="219456"/>
          </a:xfrm>
          <a:prstGeom prst="rect">
            <a:avLst/>
          </a:prstGeom>
        </p:spPr>
      </p:pic>
      <p:sp>
        <p:nvSpPr>
          <p:cNvPr id="12" name="Text 7"/>
          <p:cNvSpPr txBox="1"/>
          <p:nvPr/>
        </p:nvSpPr>
        <p:spPr>
          <a:xfrm>
            <a:off x="5413248" y="138074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Buy safely</a:t>
            </a:r>
            <a:endParaRPr lang="en-US" sz="1600" dirty="0"/>
          </a:p>
        </p:txBody>
      </p:sp>
      <p:sp>
        <p:nvSpPr>
          <p:cNvPr id="13" name="Text 8"/>
          <p:cNvSpPr txBox="1"/>
          <p:nvPr/>
        </p:nvSpPr>
        <p:spPr>
          <a:xfrm>
            <a:off x="5413248" y="1709928"/>
            <a:ext cx="3108960" cy="859536"/>
          </a:xfrm>
          <a:prstGeom prst="rect">
            <a:avLst/>
          </a:prstGeom>
          <a:noFill/>
          <a:ln/>
        </p:spPr>
        <p:txBody>
          <a:bodyPr wrap="square" lIns="0" tIns="0" rIns="0" bIns="0" rtlCol="0" anchor="t"/>
          <a:lstStyle/>
          <a:p>
            <a:pPr marL="0" indent="0">
              <a:buNone/>
            </a:pPr>
            <a:r>
              <a:rPr lang="en-US" sz="1400" dirty="0">
                <a:solidFill>
                  <a:schemeClr val="tx1"/>
                </a:solidFill>
              </a:rPr>
              <a:t>Find suppliers, spot scams and pay in a way that protects your money.</a:t>
            </a:r>
            <a:endParaRPr lang="en-US" sz="1400" dirty="0"/>
          </a:p>
        </p:txBody>
      </p:sp>
      <p:sp>
        <p:nvSpPr>
          <p:cNvPr id="14" name="card Ship and clear"/>
          <p:cNvSpPr/>
          <p:nvPr/>
        </p:nvSpPr>
        <p:spPr>
          <a:xfrm>
            <a:off x="457200" y="2880360"/>
            <a:ext cx="4023360" cy="1463040"/>
          </a:xfrm>
          <a:prstGeom prst="roundRect">
            <a:avLst>
              <a:gd name="adj" fmla="val 6250"/>
            </a:avLst>
          </a:prstGeom>
          <a:solidFill>
            <a:schemeClr val="bg2"/>
          </a:solidFill>
          <a:ln w="12700">
            <a:solidFill>
              <a:schemeClr val="bg2"/>
            </a:solidFill>
            <a:prstDash val="solid"/>
          </a:ln>
        </p:spPr>
      </p:sp>
      <p:sp>
        <p:nvSpPr>
          <p:cNvPr id="15" name="icon-circle Ship and clear"/>
          <p:cNvSpPr/>
          <p:nvPr/>
        </p:nvSpPr>
        <p:spPr>
          <a:xfrm>
            <a:off x="621792" y="3044952"/>
            <a:ext cx="457200" cy="457200"/>
          </a:xfrm>
          <a:prstGeom prst="ellipse">
            <a:avLst/>
          </a:prstGeom>
          <a:solidFill>
            <a:schemeClr val="accent6"/>
          </a:solidFill>
          <a:ln w="12700">
            <a:solidFill>
              <a:schemeClr val="accent6"/>
            </a:solidFill>
            <a:prstDash val="solid"/>
          </a:ln>
        </p:spPr>
      </p:sp>
      <p:pic>
        <p:nvPicPr>
          <p:cNvPr id="16" name="icon FaShip" descr="preencoded.png"/>
          <p:cNvPicPr>
            <a:picLocks noChangeAspect="1"/>
          </p:cNvPicPr>
          <p:nvPr/>
        </p:nvPicPr>
        <p:blipFill>
          <a:blip r:embed="rId5"/>
          <a:stretch>
            <a:fillRect/>
          </a:stretch>
        </p:blipFill>
        <p:spPr>
          <a:xfrm>
            <a:off x="740664" y="3163824"/>
            <a:ext cx="219456" cy="219456"/>
          </a:xfrm>
          <a:prstGeom prst="rect">
            <a:avLst/>
          </a:prstGeom>
        </p:spPr>
      </p:pic>
      <p:sp>
        <p:nvSpPr>
          <p:cNvPr id="17" name="Text 11"/>
          <p:cNvSpPr txBox="1"/>
          <p:nvPr/>
        </p:nvSpPr>
        <p:spPr>
          <a:xfrm>
            <a:off x="1207008" y="302666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Ship and clear</a:t>
            </a:r>
            <a:endParaRPr lang="en-US" sz="1600" dirty="0"/>
          </a:p>
        </p:txBody>
      </p:sp>
      <p:sp>
        <p:nvSpPr>
          <p:cNvPr id="18" name="Text 12"/>
          <p:cNvSpPr txBox="1"/>
          <p:nvPr/>
        </p:nvSpPr>
        <p:spPr>
          <a:xfrm>
            <a:off x="1207008" y="3355848"/>
            <a:ext cx="3108960" cy="859536"/>
          </a:xfrm>
          <a:prstGeom prst="rect">
            <a:avLst/>
          </a:prstGeom>
          <a:noFill/>
          <a:ln/>
        </p:spPr>
        <p:txBody>
          <a:bodyPr wrap="square" lIns="0" tIns="0" rIns="0" bIns="0" rtlCol="0" anchor="t"/>
          <a:lstStyle/>
          <a:p>
            <a:pPr marL="0" indent="0">
              <a:buNone/>
            </a:pPr>
            <a:r>
              <a:rPr lang="en-US" sz="1400" dirty="0">
                <a:solidFill>
                  <a:schemeClr val="tx1"/>
                </a:solidFill>
              </a:rPr>
              <a:t>Choose air or sea, understand the documents and clear goods at the port.</a:t>
            </a:r>
            <a:endParaRPr lang="en-US" sz="1400" dirty="0"/>
          </a:p>
        </p:txBody>
      </p:sp>
      <p:sp>
        <p:nvSpPr>
          <p:cNvPr id="19" name="card Know your cost"/>
          <p:cNvSpPr/>
          <p:nvPr/>
        </p:nvSpPr>
        <p:spPr>
          <a:xfrm>
            <a:off x="4663440" y="2880360"/>
            <a:ext cx="4023360" cy="1463040"/>
          </a:xfrm>
          <a:prstGeom prst="roundRect">
            <a:avLst>
              <a:gd name="adj" fmla="val 6250"/>
            </a:avLst>
          </a:prstGeom>
          <a:solidFill>
            <a:schemeClr val="bg2"/>
          </a:solidFill>
          <a:ln w="12700">
            <a:solidFill>
              <a:schemeClr val="bg2"/>
            </a:solidFill>
            <a:prstDash val="solid"/>
          </a:ln>
        </p:spPr>
      </p:sp>
      <p:sp>
        <p:nvSpPr>
          <p:cNvPr id="20" name="icon-circle Know your cost"/>
          <p:cNvSpPr/>
          <p:nvPr/>
        </p:nvSpPr>
        <p:spPr>
          <a:xfrm>
            <a:off x="4828032" y="3044952"/>
            <a:ext cx="457200" cy="457200"/>
          </a:xfrm>
          <a:prstGeom prst="ellipse">
            <a:avLst/>
          </a:prstGeom>
          <a:solidFill>
            <a:schemeClr val="accent2"/>
          </a:solidFill>
          <a:ln w="12700">
            <a:solidFill>
              <a:schemeClr val="accent2"/>
            </a:solidFill>
            <a:prstDash val="solid"/>
          </a:ln>
        </p:spPr>
      </p:sp>
      <p:pic>
        <p:nvPicPr>
          <p:cNvPr id="21" name="icon FaCalculator" descr="preencoded.png"/>
          <p:cNvPicPr>
            <a:picLocks noChangeAspect="1"/>
          </p:cNvPicPr>
          <p:nvPr/>
        </p:nvPicPr>
        <p:blipFill>
          <a:blip r:embed="rId6"/>
          <a:stretch>
            <a:fillRect/>
          </a:stretch>
        </p:blipFill>
        <p:spPr>
          <a:xfrm>
            <a:off x="4946904" y="3163824"/>
            <a:ext cx="219456" cy="219456"/>
          </a:xfrm>
          <a:prstGeom prst="rect">
            <a:avLst/>
          </a:prstGeom>
        </p:spPr>
      </p:pic>
      <p:sp>
        <p:nvSpPr>
          <p:cNvPr id="22" name="Text 15"/>
          <p:cNvSpPr txBox="1"/>
          <p:nvPr/>
        </p:nvSpPr>
        <p:spPr>
          <a:xfrm>
            <a:off x="5413248" y="302666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Know your cost</a:t>
            </a:r>
            <a:endParaRPr lang="en-US" sz="1600" dirty="0"/>
          </a:p>
        </p:txBody>
      </p:sp>
      <p:sp>
        <p:nvSpPr>
          <p:cNvPr id="23" name="Text 16"/>
          <p:cNvSpPr txBox="1"/>
          <p:nvPr/>
        </p:nvSpPr>
        <p:spPr>
          <a:xfrm>
            <a:off x="5413248" y="3355848"/>
            <a:ext cx="3108960" cy="859536"/>
          </a:xfrm>
          <a:prstGeom prst="rect">
            <a:avLst/>
          </a:prstGeom>
          <a:noFill/>
          <a:ln/>
        </p:spPr>
        <p:txBody>
          <a:bodyPr wrap="square" lIns="0" tIns="0" rIns="0" bIns="0" rtlCol="0" anchor="t"/>
          <a:lstStyle/>
          <a:p>
            <a:pPr marL="0" indent="0">
              <a:buNone/>
            </a:pPr>
            <a:r>
              <a:rPr lang="en-US" sz="1400" dirty="0">
                <a:solidFill>
                  <a:schemeClr val="tx1"/>
                </a:solidFill>
              </a:rPr>
              <a:t>Work out the real cost of every unit and a price that leaves a profit.</a:t>
            </a:r>
            <a:endParaRPr lang="en-US" sz="1400" dirty="0"/>
          </a:p>
        </p:txBody>
      </p:sp>
      <p:sp>
        <p:nvSpPr>
          <p:cNvPr id="24" name="Text 17"/>
          <p:cNvSpPr txBox="1"/>
          <p:nvPr/>
        </p:nvSpPr>
        <p:spPr>
          <a:xfrm>
            <a:off x="457200" y="4480560"/>
            <a:ext cx="5486400" cy="274320"/>
          </a:xfrm>
          <a:prstGeom prst="rect">
            <a:avLst/>
          </a:prstGeom>
          <a:noFill/>
          <a:ln/>
        </p:spPr>
        <p:txBody>
          <a:bodyPr wrap="square" lIns="0" tIns="0" rIns="0" bIns="0" rtlCol="0" anchor="t"/>
          <a:lstStyle/>
          <a:p>
            <a:pPr marL="0" indent="0">
              <a:buNone/>
            </a:pPr>
            <a:r>
              <a:rPr lang="en-US" sz="1400" i="1" dirty="0">
                <a:solidFill>
                  <a:schemeClr val="accent2"/>
                </a:solidFill>
              </a:rPr>
              <a:t>Built for beginners. No experience needed.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Importing and exporting in plain words</a:t>
            </a:r>
            <a:endParaRPr lang="en-US" sz="2800" dirty="0"/>
          </a:p>
        </p:txBody>
      </p:sp>
      <p:sp>
        <p:nvSpPr>
          <p:cNvPr id="4" name="card Import"/>
          <p:cNvSpPr/>
          <p:nvPr/>
        </p:nvSpPr>
        <p:spPr>
          <a:xfrm>
            <a:off x="457200" y="1188720"/>
            <a:ext cx="3749040" cy="1371600"/>
          </a:xfrm>
          <a:prstGeom prst="roundRect">
            <a:avLst>
              <a:gd name="adj" fmla="val 6667"/>
            </a:avLst>
          </a:prstGeom>
          <a:solidFill>
            <a:schemeClr val="bg2"/>
          </a:solidFill>
          <a:ln w="12700">
            <a:solidFill>
              <a:schemeClr val="bg2"/>
            </a:solidFill>
            <a:prstDash val="solid"/>
          </a:ln>
        </p:spPr>
      </p:sp>
      <p:sp>
        <p:nvSpPr>
          <p:cNvPr id="5" name="icon-circle Import"/>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BoxOpen" descr="preencoded.png"/>
          <p:cNvPicPr>
            <a:picLocks noChangeAspect="1"/>
          </p:cNvPicPr>
          <p:nvPr/>
        </p:nvPicPr>
        <p:blipFill>
          <a:blip r:embed="rId3"/>
          <a:stretch>
            <a:fillRect/>
          </a:stretch>
        </p:blipFill>
        <p:spPr>
          <a:xfrm>
            <a:off x="740664" y="1472184"/>
            <a:ext cx="219456" cy="219456"/>
          </a:xfrm>
          <a:prstGeom prst="rect">
            <a:avLst/>
          </a:prstGeom>
        </p:spPr>
      </p:pic>
      <p:sp>
        <p:nvSpPr>
          <p:cNvPr id="7" name="Text 3"/>
          <p:cNvSpPr txBox="1"/>
          <p:nvPr/>
        </p:nvSpPr>
        <p:spPr>
          <a:xfrm>
            <a:off x="1207008" y="1335024"/>
            <a:ext cx="283464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Import</a:t>
            </a:r>
            <a:endParaRPr lang="en-US" sz="1600" dirty="0"/>
          </a:p>
        </p:txBody>
      </p:sp>
      <p:sp>
        <p:nvSpPr>
          <p:cNvPr id="8" name="Text 4"/>
          <p:cNvSpPr txBox="1"/>
          <p:nvPr/>
        </p:nvSpPr>
        <p:spPr>
          <a:xfrm>
            <a:off x="1207008" y="1664208"/>
            <a:ext cx="2834640" cy="768096"/>
          </a:xfrm>
          <a:prstGeom prst="rect">
            <a:avLst/>
          </a:prstGeom>
          <a:noFill/>
          <a:ln/>
        </p:spPr>
        <p:txBody>
          <a:bodyPr wrap="square" lIns="0" tIns="0" rIns="0" bIns="0" rtlCol="0" anchor="t"/>
          <a:lstStyle/>
          <a:p>
            <a:pPr marL="0" indent="0">
              <a:buNone/>
            </a:pPr>
            <a:r>
              <a:rPr lang="en-US" sz="1400" dirty="0">
                <a:solidFill>
                  <a:schemeClr val="tx1"/>
                </a:solidFill>
              </a:rPr>
              <a:t>Buy goods from another country and bring them in.</a:t>
            </a:r>
            <a:endParaRPr lang="en-US" sz="1400" dirty="0"/>
          </a:p>
        </p:txBody>
      </p:sp>
      <p:sp>
        <p:nvSpPr>
          <p:cNvPr id="9" name="card Export"/>
          <p:cNvSpPr/>
          <p:nvPr/>
        </p:nvSpPr>
        <p:spPr>
          <a:xfrm>
            <a:off x="457200" y="2743200"/>
            <a:ext cx="3749040" cy="1371600"/>
          </a:xfrm>
          <a:prstGeom prst="roundRect">
            <a:avLst>
              <a:gd name="adj" fmla="val 6667"/>
            </a:avLst>
          </a:prstGeom>
          <a:solidFill>
            <a:schemeClr val="bg2"/>
          </a:solidFill>
          <a:ln w="12700">
            <a:solidFill>
              <a:schemeClr val="bg2"/>
            </a:solidFill>
            <a:prstDash val="solid"/>
          </a:ln>
        </p:spPr>
      </p:sp>
      <p:sp>
        <p:nvSpPr>
          <p:cNvPr id="10" name="icon-circle Export"/>
          <p:cNvSpPr/>
          <p:nvPr/>
        </p:nvSpPr>
        <p:spPr>
          <a:xfrm>
            <a:off x="621792" y="2907792"/>
            <a:ext cx="457200" cy="457200"/>
          </a:xfrm>
          <a:prstGeom prst="ellipse">
            <a:avLst/>
          </a:prstGeom>
          <a:solidFill>
            <a:schemeClr val="accent6"/>
          </a:solidFill>
          <a:ln w="12700">
            <a:solidFill>
              <a:schemeClr val="accent6"/>
            </a:solidFill>
            <a:prstDash val="solid"/>
          </a:ln>
        </p:spPr>
      </p:sp>
      <p:pic>
        <p:nvPicPr>
          <p:cNvPr id="11" name="icon FaGlobeAfrica" descr="preencoded.png"/>
          <p:cNvPicPr>
            <a:picLocks noChangeAspect="1"/>
          </p:cNvPicPr>
          <p:nvPr/>
        </p:nvPicPr>
        <p:blipFill>
          <a:blip r:embed="rId4"/>
          <a:stretch>
            <a:fillRect/>
          </a:stretch>
        </p:blipFill>
        <p:spPr>
          <a:xfrm>
            <a:off x="740664" y="3026664"/>
            <a:ext cx="219456" cy="219456"/>
          </a:xfrm>
          <a:prstGeom prst="rect">
            <a:avLst/>
          </a:prstGeom>
        </p:spPr>
      </p:pic>
      <p:sp>
        <p:nvSpPr>
          <p:cNvPr id="12" name="Text 7"/>
          <p:cNvSpPr txBox="1"/>
          <p:nvPr/>
        </p:nvSpPr>
        <p:spPr>
          <a:xfrm>
            <a:off x="1207008" y="2889504"/>
            <a:ext cx="283464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Export</a:t>
            </a:r>
            <a:endParaRPr lang="en-US" sz="1600" dirty="0"/>
          </a:p>
        </p:txBody>
      </p:sp>
      <p:sp>
        <p:nvSpPr>
          <p:cNvPr id="13" name="Text 8"/>
          <p:cNvSpPr txBox="1"/>
          <p:nvPr/>
        </p:nvSpPr>
        <p:spPr>
          <a:xfrm>
            <a:off x="1207008" y="3218688"/>
            <a:ext cx="2834640" cy="768096"/>
          </a:xfrm>
          <a:prstGeom prst="rect">
            <a:avLst/>
          </a:prstGeom>
          <a:noFill/>
          <a:ln/>
        </p:spPr>
        <p:txBody>
          <a:bodyPr wrap="square" lIns="0" tIns="0" rIns="0" bIns="0" rtlCol="0" anchor="t"/>
          <a:lstStyle/>
          <a:p>
            <a:pPr marL="0" indent="0">
              <a:buNone/>
            </a:pPr>
            <a:r>
              <a:rPr lang="en-US" sz="1400" dirty="0">
                <a:solidFill>
                  <a:schemeClr val="tx1"/>
                </a:solidFill>
              </a:rPr>
              <a:t>Sell goods you make or buy locally to a buyer abroad.</a:t>
            </a:r>
            <a:endParaRPr lang="en-US" sz="1400" dirty="0"/>
          </a:p>
        </p:txBody>
      </p:sp>
      <p:sp>
        <p:nvSpPr>
          <p:cNvPr id="14" name="example panel"/>
          <p:cNvSpPr/>
          <p:nvPr/>
        </p:nvSpPr>
        <p:spPr>
          <a:xfrm>
            <a:off x="4526280" y="1188720"/>
            <a:ext cx="4160520" cy="2926080"/>
          </a:xfrm>
          <a:prstGeom prst="roundRect">
            <a:avLst>
              <a:gd name="adj" fmla="val 3125"/>
            </a:avLst>
          </a:prstGeom>
          <a:solidFill>
            <a:srgbClr val="0B1F3A"/>
          </a:solidFill>
          <a:ln w="12700">
            <a:solidFill>
              <a:srgbClr val="0B1F3A"/>
            </a:solidFill>
            <a:prstDash val="solid"/>
          </a:ln>
        </p:spPr>
      </p:sp>
      <p:sp>
        <p:nvSpPr>
          <p:cNvPr id="15" name="Text 10"/>
          <p:cNvSpPr txBox="1"/>
          <p:nvPr/>
        </p:nvSpPr>
        <p:spPr>
          <a:xfrm>
            <a:off x="4754880" y="1325880"/>
            <a:ext cx="374904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ONE SALE, TWO NAMES</a:t>
            </a:r>
            <a:endParaRPr lang="en-US" sz="1200" dirty="0"/>
          </a:p>
        </p:txBody>
      </p:sp>
      <p:sp>
        <p:nvSpPr>
          <p:cNvPr id="16" name="china box"/>
          <p:cNvSpPr/>
          <p:nvPr/>
        </p:nvSpPr>
        <p:spPr>
          <a:xfrm>
            <a:off x="4754880" y="1691640"/>
            <a:ext cx="3703320" cy="640080"/>
          </a:xfrm>
          <a:prstGeom prst="roundRect">
            <a:avLst>
              <a:gd name="adj" fmla="val 11429"/>
            </a:avLst>
          </a:prstGeom>
          <a:solidFill>
            <a:schemeClr val="accent6"/>
          </a:solidFill>
          <a:ln w="12700">
            <a:solidFill>
              <a:schemeClr val="accent6"/>
            </a:solidFill>
            <a:prstDash val="solid"/>
          </a:ln>
        </p:spPr>
      </p:sp>
      <p:sp>
        <p:nvSpPr>
          <p:cNvPr id="17" name="Text 12"/>
          <p:cNvSpPr txBox="1"/>
          <p:nvPr/>
        </p:nvSpPr>
        <p:spPr>
          <a:xfrm>
            <a:off x="4892040" y="1755648"/>
            <a:ext cx="3474720" cy="548640"/>
          </a:xfrm>
          <a:prstGeom prst="rect">
            <a:avLst/>
          </a:prstGeom>
          <a:noFill/>
          <a:ln/>
        </p:spPr>
        <p:txBody>
          <a:bodyPr wrap="square" lIns="0" tIns="0" rIns="0" bIns="0" rtlCol="0" anchor="t"/>
          <a:lstStyle/>
          <a:p>
            <a:pPr marL="0" indent="0">
              <a:buNone/>
            </a:pPr>
            <a:r>
              <a:rPr lang="en-US" sz="1400" b="1" dirty="0">
                <a:solidFill>
                  <a:srgbClr val="FFFFFF"/>
                </a:solidFill>
              </a:rPr>
              <a:t>Guangzhou factory</a:t>
            </a:r>
            <a:endParaRPr lang="en-US" sz="1400" dirty="0"/>
          </a:p>
          <a:p>
            <a:pPr marL="0" indent="0">
              <a:buNone/>
            </a:pPr>
            <a:r>
              <a:rPr lang="en-US" sz="1400" dirty="0">
                <a:solidFill>
                  <a:srgbClr val="FFFFFF"/>
                </a:solidFill>
              </a:rPr>
              <a:t>EXPORT for China</a:t>
            </a:r>
            <a:endParaRPr lang="en-US" sz="1400" dirty="0"/>
          </a:p>
        </p:txBody>
      </p:sp>
      <p:sp>
        <p:nvSpPr>
          <p:cNvPr id="18" name="arrow"/>
          <p:cNvSpPr/>
          <p:nvPr/>
        </p:nvSpPr>
        <p:spPr>
          <a:xfrm>
            <a:off x="6400800" y="2395728"/>
            <a:ext cx="502920" cy="457200"/>
          </a:xfrm>
          <a:prstGeom prst="downArrow">
            <a:avLst/>
          </a:prstGeom>
          <a:solidFill>
            <a:schemeClr val="accent1"/>
          </a:solidFill>
          <a:ln w="12700">
            <a:solidFill>
              <a:schemeClr val="accent1"/>
            </a:solidFill>
            <a:prstDash val="solid"/>
          </a:ln>
        </p:spPr>
      </p:sp>
      <p:sp>
        <p:nvSpPr>
          <p:cNvPr id="19" name="nigeria box"/>
          <p:cNvSpPr/>
          <p:nvPr/>
        </p:nvSpPr>
        <p:spPr>
          <a:xfrm>
            <a:off x="4754880" y="2926080"/>
            <a:ext cx="3703320" cy="640080"/>
          </a:xfrm>
          <a:prstGeom prst="roundRect">
            <a:avLst>
              <a:gd name="adj" fmla="val 11429"/>
            </a:avLst>
          </a:prstGeom>
          <a:solidFill>
            <a:schemeClr val="accent2"/>
          </a:solidFill>
          <a:ln w="12700">
            <a:solidFill>
              <a:schemeClr val="accent2"/>
            </a:solidFill>
            <a:prstDash val="solid"/>
          </a:ln>
        </p:spPr>
      </p:sp>
      <p:sp>
        <p:nvSpPr>
          <p:cNvPr id="20" name="Text 15"/>
          <p:cNvSpPr txBox="1"/>
          <p:nvPr/>
        </p:nvSpPr>
        <p:spPr>
          <a:xfrm>
            <a:off x="4892040" y="2990088"/>
            <a:ext cx="3474720" cy="548640"/>
          </a:xfrm>
          <a:prstGeom prst="rect">
            <a:avLst/>
          </a:prstGeom>
          <a:noFill/>
          <a:ln/>
        </p:spPr>
        <p:txBody>
          <a:bodyPr wrap="square" lIns="0" tIns="0" rIns="0" bIns="0" rtlCol="0" anchor="t"/>
          <a:lstStyle/>
          <a:p>
            <a:pPr marL="0" indent="0">
              <a:buNone/>
            </a:pPr>
            <a:r>
              <a:rPr lang="en-US" sz="1400" b="1" dirty="0">
                <a:solidFill>
                  <a:srgbClr val="FFFFFF"/>
                </a:solidFill>
              </a:rPr>
              <a:t>Lagos trader</a:t>
            </a:r>
            <a:endParaRPr lang="en-US" sz="1400" dirty="0"/>
          </a:p>
          <a:p>
            <a:pPr marL="0" indent="0">
              <a:buNone/>
            </a:pPr>
            <a:r>
              <a:rPr lang="en-US" sz="1400" dirty="0">
                <a:solidFill>
                  <a:srgbClr val="FFFFFF"/>
                </a:solidFill>
              </a:rPr>
              <a:t>IMPORT for Nigeria</a:t>
            </a:r>
            <a:endParaRPr lang="en-US" sz="1400" dirty="0"/>
          </a:p>
        </p:txBody>
      </p:sp>
      <p:sp>
        <p:nvSpPr>
          <p:cNvPr id="21" name="Text 16"/>
          <p:cNvSpPr txBox="1"/>
          <p:nvPr/>
        </p:nvSpPr>
        <p:spPr>
          <a:xfrm>
            <a:off x="4754880" y="3675888"/>
            <a:ext cx="3703320" cy="274320"/>
          </a:xfrm>
          <a:prstGeom prst="rect">
            <a:avLst/>
          </a:prstGeom>
          <a:noFill/>
          <a:ln/>
        </p:spPr>
        <p:txBody>
          <a:bodyPr wrap="square" lIns="0" tIns="0" rIns="0" bIns="0" rtlCol="0" anchor="t"/>
          <a:lstStyle/>
          <a:p>
            <a:pPr marL="0" indent="0">
              <a:buNone/>
            </a:pPr>
            <a:r>
              <a:rPr lang="en-US" sz="1400" i="1" dirty="0">
                <a:solidFill>
                  <a:schemeClr val="accent1"/>
                </a:solidFill>
              </a:rPr>
              <a:t>The gap in price is your opportunity.</a:t>
            </a:r>
            <a:endParaRPr lang="en-US" sz="1400" dirty="0"/>
          </a:p>
        </p:txBody>
      </p:sp>
      <p:sp>
        <p:nvSpPr>
          <p:cNvPr id="22" name="Text 17"/>
          <p:cNvSpPr txBox="1"/>
          <p:nvPr/>
        </p:nvSpPr>
        <p:spPr>
          <a:xfrm>
            <a:off x="457200" y="4297680"/>
            <a:ext cx="8229600" cy="274320"/>
          </a:xfrm>
          <a:prstGeom prst="rect">
            <a:avLst/>
          </a:prstGeom>
          <a:noFill/>
          <a:ln/>
        </p:spPr>
        <p:txBody>
          <a:bodyPr wrap="square" lIns="0" tIns="0" rIns="0" bIns="0" rtlCol="0" anchor="t"/>
          <a:lstStyle/>
          <a:p>
            <a:pPr marL="0" indent="0">
              <a:buNone/>
            </a:pPr>
            <a:r>
              <a:rPr lang="en-US" sz="1400" b="1" dirty="0">
                <a:solidFill>
                  <a:schemeClr val="accent2"/>
                </a:solidFill>
              </a:rPr>
              <a:t>Your job: turn the price gap into profit after every cost in between.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Mini importation versus full trade</a:t>
            </a:r>
            <a:endParaRPr lang="en-US" sz="2800" dirty="0"/>
          </a:p>
        </p:txBody>
      </p:sp>
      <p:sp>
        <p:nvSpPr>
          <p:cNvPr id="4" name="mini panel"/>
          <p:cNvSpPr/>
          <p:nvPr/>
        </p:nvSpPr>
        <p:spPr>
          <a:xfrm>
            <a:off x="457200" y="1188720"/>
            <a:ext cx="4023360" cy="2834640"/>
          </a:xfrm>
          <a:prstGeom prst="roundRect">
            <a:avLst>
              <a:gd name="adj" fmla="val 3226"/>
            </a:avLst>
          </a:prstGeom>
          <a:solidFill>
            <a:schemeClr val="bg2"/>
          </a:solidFill>
          <a:ln w="12700">
            <a:solidFill>
              <a:schemeClr val="bg2"/>
            </a:solidFill>
            <a:prstDash val="solid"/>
          </a:ln>
        </p:spPr>
      </p:sp>
      <p:sp>
        <p:nvSpPr>
          <p:cNvPr id="5" name="icon-circle mini"/>
          <p:cNvSpPr/>
          <p:nvPr/>
        </p:nvSpPr>
        <p:spPr>
          <a:xfrm>
            <a:off x="640080" y="1325880"/>
            <a:ext cx="502920" cy="502920"/>
          </a:xfrm>
          <a:prstGeom prst="ellipse">
            <a:avLst/>
          </a:prstGeom>
          <a:solidFill>
            <a:schemeClr val="accent2"/>
          </a:solidFill>
          <a:ln w="12700">
            <a:solidFill>
              <a:schemeClr val="accent2"/>
            </a:solidFill>
            <a:prstDash val="solid"/>
          </a:ln>
        </p:spPr>
      </p:sp>
      <p:pic>
        <p:nvPicPr>
          <p:cNvPr id="6" name="icon FaBoxOpen" descr="preencoded.png"/>
          <p:cNvPicPr>
            <a:picLocks noChangeAspect="1"/>
          </p:cNvPicPr>
          <p:nvPr/>
        </p:nvPicPr>
        <p:blipFill>
          <a:blip r:embed="rId3"/>
          <a:stretch>
            <a:fillRect/>
          </a:stretch>
        </p:blipFill>
        <p:spPr>
          <a:xfrm>
            <a:off x="770839" y="1456639"/>
            <a:ext cx="241402" cy="241402"/>
          </a:xfrm>
          <a:prstGeom prst="rect">
            <a:avLst/>
          </a:prstGeom>
        </p:spPr>
      </p:pic>
      <p:sp>
        <p:nvSpPr>
          <p:cNvPr id="7" name="Text 3"/>
          <p:cNvSpPr txBox="1"/>
          <p:nvPr/>
        </p:nvSpPr>
        <p:spPr>
          <a:xfrm>
            <a:off x="1280160" y="1417320"/>
            <a:ext cx="301752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Mini importation</a:t>
            </a:r>
            <a:endParaRPr lang="en-US" sz="2000" dirty="0"/>
          </a:p>
        </p:txBody>
      </p:sp>
      <p:sp>
        <p:nvSpPr>
          <p:cNvPr id="8" name="Text 4"/>
          <p:cNvSpPr txBox="1"/>
          <p:nvPr/>
        </p:nvSpPr>
        <p:spPr>
          <a:xfrm>
            <a:off x="685800" y="196596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Dozens to a few hundred units</a:t>
            </a:r>
            <a:endParaRPr lang="en-US" sz="1500" dirty="0"/>
          </a:p>
          <a:p>
            <a:pPr marL="342900" indent="-342900">
              <a:spcAft>
                <a:spcPts val="600"/>
              </a:spcAft>
              <a:buSzPct val="100000"/>
              <a:buChar char="•"/>
            </a:pPr>
            <a:r>
              <a:rPr lang="en-US" sz="1500" dirty="0">
                <a:solidFill>
                  <a:schemeClr val="tx1"/>
                </a:solidFill>
              </a:rPr>
              <a:t>Often air cargo or courier</a:t>
            </a:r>
            <a:endParaRPr lang="en-US" sz="1500" dirty="0"/>
          </a:p>
          <a:p>
            <a:pPr marL="342900" indent="-342900">
              <a:spcAft>
                <a:spcPts val="600"/>
              </a:spcAft>
              <a:buSzPct val="100000"/>
              <a:buChar char="•"/>
            </a:pPr>
            <a:r>
              <a:rPr lang="en-US" sz="1500" dirty="0">
                <a:solidFill>
                  <a:schemeClr val="tx1"/>
                </a:solidFill>
              </a:rPr>
              <a:t>One person or a small team</a:t>
            </a:r>
            <a:endParaRPr lang="en-US" sz="1500" dirty="0"/>
          </a:p>
          <a:p>
            <a:pPr marL="342900" indent="-342900">
              <a:spcAft>
                <a:spcPts val="600"/>
              </a:spcAft>
              <a:buSzPct val="100000"/>
              <a:buChar char="•"/>
            </a:pPr>
            <a:r>
              <a:rPr lang="en-US" sz="1500" dirty="0">
                <a:solidFill>
                  <a:schemeClr val="tx1"/>
                </a:solidFill>
              </a:rPr>
              <a:t>Goods bought for resale</a:t>
            </a:r>
            <a:endParaRPr lang="en-US" sz="1500" dirty="0"/>
          </a:p>
          <a:p>
            <a:pPr marL="342900" indent="-342900">
              <a:spcAft>
                <a:spcPts val="600"/>
              </a:spcAft>
              <a:buSzPct val="100000"/>
              <a:buChar char="•"/>
            </a:pPr>
            <a:r>
              <a:rPr lang="en-US" sz="1500" dirty="0">
                <a:solidFill>
                  <a:schemeClr val="tx1"/>
                </a:solidFill>
              </a:rPr>
              <a:t>Rules still apply in full</a:t>
            </a:r>
            <a:endParaRPr lang="en-US" sz="1500" dirty="0"/>
          </a:p>
        </p:txBody>
      </p:sp>
      <p:sp>
        <p:nvSpPr>
          <p:cNvPr id="9" name="full panel"/>
          <p:cNvSpPr/>
          <p:nvPr/>
        </p:nvSpPr>
        <p:spPr>
          <a:xfrm>
            <a:off x="4663440" y="1188720"/>
            <a:ext cx="4023360" cy="2834640"/>
          </a:xfrm>
          <a:prstGeom prst="roundRect">
            <a:avLst>
              <a:gd name="adj" fmla="val 3226"/>
            </a:avLst>
          </a:prstGeom>
          <a:solidFill>
            <a:srgbClr val="0B1F3A"/>
          </a:solidFill>
          <a:ln w="12700">
            <a:solidFill>
              <a:srgbClr val="0B1F3A"/>
            </a:solidFill>
            <a:prstDash val="solid"/>
          </a:ln>
        </p:spPr>
      </p:sp>
      <p:sp>
        <p:nvSpPr>
          <p:cNvPr id="10" name="icon-circle full"/>
          <p:cNvSpPr/>
          <p:nvPr/>
        </p:nvSpPr>
        <p:spPr>
          <a:xfrm>
            <a:off x="4846320" y="1325880"/>
            <a:ext cx="502920" cy="502920"/>
          </a:xfrm>
          <a:prstGeom prst="ellipse">
            <a:avLst/>
          </a:prstGeom>
          <a:solidFill>
            <a:schemeClr val="accent1"/>
          </a:solidFill>
          <a:ln w="12700">
            <a:solidFill>
              <a:schemeClr val="accent1"/>
            </a:solidFill>
            <a:prstDash val="solid"/>
          </a:ln>
        </p:spPr>
      </p:sp>
      <p:pic>
        <p:nvPicPr>
          <p:cNvPr id="11" name="icon FaShip" descr="preencoded.png"/>
          <p:cNvPicPr>
            <a:picLocks noChangeAspect="1"/>
          </p:cNvPicPr>
          <p:nvPr/>
        </p:nvPicPr>
        <p:blipFill>
          <a:blip r:embed="rId4"/>
          <a:stretch>
            <a:fillRect/>
          </a:stretch>
        </p:blipFill>
        <p:spPr>
          <a:xfrm>
            <a:off x="4977079" y="1456639"/>
            <a:ext cx="241402" cy="241402"/>
          </a:xfrm>
          <a:prstGeom prst="rect">
            <a:avLst/>
          </a:prstGeom>
        </p:spPr>
      </p:pic>
      <p:sp>
        <p:nvSpPr>
          <p:cNvPr id="12" name="Text 7"/>
          <p:cNvSpPr txBox="1"/>
          <p:nvPr/>
        </p:nvSpPr>
        <p:spPr>
          <a:xfrm>
            <a:off x="5486400" y="1417320"/>
            <a:ext cx="3017520" cy="36576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Full trade</a:t>
            </a:r>
            <a:endParaRPr lang="en-US" sz="2000" dirty="0"/>
          </a:p>
        </p:txBody>
      </p:sp>
      <p:sp>
        <p:nvSpPr>
          <p:cNvPr id="13" name="Text 8"/>
          <p:cNvSpPr txBox="1"/>
          <p:nvPr/>
        </p:nvSpPr>
        <p:spPr>
          <a:xfrm>
            <a:off x="4892040" y="1965960"/>
            <a:ext cx="3566160" cy="19202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Container loads (FCL)</a:t>
            </a:r>
            <a:endParaRPr lang="en-US" sz="1500" dirty="0"/>
          </a:p>
          <a:p>
            <a:pPr marL="342900" indent="-342900">
              <a:spcAft>
                <a:spcPts val="600"/>
              </a:spcAft>
              <a:buSzPct val="100000"/>
              <a:buChar char="•"/>
            </a:pPr>
            <a:r>
              <a:rPr lang="en-US" sz="1500" dirty="0">
                <a:solidFill>
                  <a:schemeClr val="bg1"/>
                </a:solidFill>
              </a:rPr>
              <a:t>Mostly sea freight</a:t>
            </a:r>
            <a:endParaRPr lang="en-US" sz="1500" dirty="0"/>
          </a:p>
          <a:p>
            <a:pPr marL="342900" indent="-342900">
              <a:spcAft>
                <a:spcPts val="600"/>
              </a:spcAft>
              <a:buSzPct val="100000"/>
              <a:buChar char="•"/>
            </a:pPr>
            <a:r>
              <a:rPr lang="en-US" sz="1500" dirty="0">
                <a:solidFill>
                  <a:schemeClr val="bg1"/>
                </a:solidFill>
              </a:rPr>
              <a:t>Forwarder and clearing agent team</a:t>
            </a:r>
            <a:endParaRPr lang="en-US" sz="1500" dirty="0"/>
          </a:p>
          <a:p>
            <a:pPr marL="342900" indent="-342900">
              <a:spcAft>
                <a:spcPts val="600"/>
              </a:spcAft>
              <a:buSzPct val="100000"/>
              <a:buChar char="•"/>
            </a:pPr>
            <a:r>
              <a:rPr lang="en-US" sz="1500" dirty="0">
                <a:solidFill>
                  <a:schemeClr val="bg1"/>
                </a:solidFill>
              </a:rPr>
              <a:t>Larger capital and contracts</a:t>
            </a:r>
            <a:endParaRPr lang="en-US" sz="1500" dirty="0"/>
          </a:p>
          <a:p>
            <a:pPr marL="342900" indent="-342900">
              <a:spcAft>
                <a:spcPts val="600"/>
              </a:spcAft>
              <a:buSzPct val="100000"/>
              <a:buChar char="•"/>
            </a:pPr>
            <a:r>
              <a:rPr lang="en-US" sz="1500" dirty="0">
                <a:solidFill>
                  <a:schemeClr val="bg1"/>
                </a:solidFill>
              </a:rPr>
              <a:t>Letters of credit for big orders</a:t>
            </a:r>
            <a:endParaRPr lang="en-US" sz="1500" dirty="0"/>
          </a:p>
        </p:txBody>
      </p:sp>
      <p:sp>
        <p:nvSpPr>
          <p:cNvPr id="14" name="exempt bar"/>
          <p:cNvSpPr/>
          <p:nvPr/>
        </p:nvSpPr>
        <p:spPr>
          <a:xfrm>
            <a:off x="457200" y="4160520"/>
            <a:ext cx="8229600" cy="457200"/>
          </a:xfrm>
          <a:prstGeom prst="roundRect">
            <a:avLst>
              <a:gd name="adj" fmla="val 16000"/>
            </a:avLst>
          </a:prstGeom>
          <a:solidFill>
            <a:schemeClr val="accent1"/>
          </a:solidFill>
          <a:ln w="12700">
            <a:solidFill>
              <a:schemeClr val="accent1"/>
            </a:solidFill>
            <a:prstDash val="solid"/>
          </a:ln>
        </p:spPr>
      </p:sp>
      <p:sp>
        <p:nvSpPr>
          <p:cNvPr id="15" name="Text 10"/>
          <p:cNvSpPr txBox="1"/>
          <p:nvPr/>
        </p:nvSpPr>
        <p:spPr>
          <a:xfrm>
            <a:off x="640080" y="4251960"/>
            <a:ext cx="7863840" cy="274320"/>
          </a:xfrm>
          <a:prstGeom prst="rect">
            <a:avLst/>
          </a:prstGeom>
          <a:noFill/>
          <a:ln/>
        </p:spPr>
        <p:txBody>
          <a:bodyPr wrap="square" lIns="0" tIns="0" rIns="0" bIns="0" rtlCol="0" anchor="t"/>
          <a:lstStyle/>
          <a:p>
            <a:pPr marL="0" indent="0">
              <a:buNone/>
            </a:pPr>
            <a:r>
              <a:rPr lang="en-US" sz="1400" b="1" dirty="0">
                <a:solidFill>
                  <a:srgbClr val="0B1F3A"/>
                </a:solidFill>
              </a:rPr>
              <a:t>Mini does not mean exempt: small commercial imports still need correct declarations.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bg1"/>
                </a:solidFill>
              </a:rPr>
              <a:t>The price on the page is not your cost</a:t>
            </a:r>
            <a:endParaRPr lang="en-US" sz="2800" dirty="0"/>
          </a:p>
        </p:txBody>
      </p:sp>
      <p:sp>
        <p:nvSpPr>
          <p:cNvPr id="4" name="stat card 0"/>
          <p:cNvSpPr/>
          <p:nvPr/>
        </p:nvSpPr>
        <p:spPr>
          <a:xfrm>
            <a:off x="457200" y="1325880"/>
            <a:ext cx="2651760" cy="2377440"/>
          </a:xfrm>
          <a:prstGeom prst="roundRect">
            <a:avLst>
              <a:gd name="adj" fmla="val 3846"/>
            </a:avLst>
          </a:prstGeom>
          <a:solidFill>
            <a:srgbClr val="13315C"/>
          </a:solidFill>
          <a:ln w="12700">
            <a:solidFill>
              <a:srgbClr val="13315C"/>
            </a:solidFill>
            <a:prstDash val="solid"/>
          </a:ln>
        </p:spPr>
      </p:sp>
      <p:sp>
        <p:nvSpPr>
          <p:cNvPr id="5" name="Text 2"/>
          <p:cNvSpPr txBox="1"/>
          <p:nvPr/>
        </p:nvSpPr>
        <p:spPr>
          <a:xfrm>
            <a:off x="548640" y="1645920"/>
            <a:ext cx="2468880" cy="822960"/>
          </a:xfrm>
          <a:prstGeom prst="rect">
            <a:avLst/>
          </a:prstGeom>
          <a:noFill/>
          <a:ln/>
        </p:spPr>
        <p:txBody>
          <a:bodyPr wrap="square" lIns="0" tIns="0" rIns="0" bIns="0" rtlCol="0" anchor="t"/>
          <a:lstStyle/>
          <a:p>
            <a:pPr marL="0" indent="0" algn="ctr">
              <a:buNone/>
            </a:pPr>
            <a:r>
              <a:rPr lang="en-US" sz="4800" b="1" dirty="0">
                <a:solidFill>
                  <a:schemeClr val="accent4"/>
                </a:solidFill>
                <a:latin typeface="Cambria" pitchFamily="34" charset="0"/>
                <a:ea typeface="Cambria" pitchFamily="34" charset="-122"/>
                <a:cs typeface="Cambria" pitchFamily="34" charset="-120"/>
              </a:rPr>
              <a:t>$3.00</a:t>
            </a:r>
            <a:endParaRPr lang="en-US" sz="4800" dirty="0"/>
          </a:p>
        </p:txBody>
      </p:sp>
      <p:sp>
        <p:nvSpPr>
          <p:cNvPr id="6" name="Text 3"/>
          <p:cNvSpPr txBox="1"/>
          <p:nvPr/>
        </p:nvSpPr>
        <p:spPr>
          <a:xfrm>
            <a:off x="640080" y="2697480"/>
            <a:ext cx="2286000" cy="731520"/>
          </a:xfrm>
          <a:prstGeom prst="rect">
            <a:avLst/>
          </a:prstGeom>
          <a:noFill/>
          <a:ln/>
        </p:spPr>
        <p:txBody>
          <a:bodyPr wrap="square" lIns="0" tIns="0" rIns="0" bIns="0" rtlCol="0" anchor="t"/>
          <a:lstStyle/>
          <a:p>
            <a:pPr marL="0" indent="0" algn="ctr">
              <a:buNone/>
            </a:pPr>
            <a:r>
              <a:rPr lang="en-US" sz="1400" dirty="0">
                <a:solidFill>
                  <a:schemeClr val="bg1"/>
                </a:solidFill>
              </a:rPr>
              <a:t>price on the supplier page,</a:t>
            </a:r>
            <a:endParaRPr lang="en-US" sz="1400" dirty="0"/>
          </a:p>
          <a:p>
            <a:pPr marL="0" indent="0" algn="ctr">
              <a:buNone/>
            </a:pPr>
            <a:r>
              <a:rPr lang="en-US" sz="1400" dirty="0">
                <a:solidFill>
                  <a:schemeClr val="bg1"/>
                </a:solidFill>
              </a:rPr>
              <a:t>about ₦4,500 a unit</a:t>
            </a:r>
            <a:endParaRPr lang="en-US" sz="1400" dirty="0"/>
          </a:p>
        </p:txBody>
      </p:sp>
      <p:sp>
        <p:nvSpPr>
          <p:cNvPr id="7" name="stat card 1"/>
          <p:cNvSpPr/>
          <p:nvPr/>
        </p:nvSpPr>
        <p:spPr>
          <a:xfrm>
            <a:off x="3291840" y="1325880"/>
            <a:ext cx="2651760" cy="2377440"/>
          </a:xfrm>
          <a:prstGeom prst="roundRect">
            <a:avLst>
              <a:gd name="adj" fmla="val 3846"/>
            </a:avLst>
          </a:prstGeom>
          <a:solidFill>
            <a:srgbClr val="13315C"/>
          </a:solidFill>
          <a:ln w="12700">
            <a:solidFill>
              <a:srgbClr val="13315C"/>
            </a:solidFill>
            <a:prstDash val="solid"/>
          </a:ln>
        </p:spPr>
      </p:sp>
      <p:sp>
        <p:nvSpPr>
          <p:cNvPr id="8" name="Text 5"/>
          <p:cNvSpPr txBox="1"/>
          <p:nvPr/>
        </p:nvSpPr>
        <p:spPr>
          <a:xfrm>
            <a:off x="3383280" y="1645920"/>
            <a:ext cx="2468880" cy="822960"/>
          </a:xfrm>
          <a:prstGeom prst="rect">
            <a:avLst/>
          </a:prstGeom>
          <a:noFill/>
          <a:ln/>
        </p:spPr>
        <p:txBody>
          <a:bodyPr wrap="square" lIns="0" tIns="0" rIns="0" bIns="0" rtlCol="0" anchor="t"/>
          <a:lstStyle/>
          <a:p>
            <a:pPr marL="0" indent="0" algn="ctr">
              <a:buNone/>
            </a:pPr>
            <a:r>
              <a:rPr lang="en-US" sz="4800" b="1" dirty="0">
                <a:solidFill>
                  <a:schemeClr val="accent1"/>
                </a:solidFill>
                <a:latin typeface="Cambria" pitchFamily="34" charset="0"/>
                <a:ea typeface="Cambria" pitchFamily="34" charset="-122"/>
                <a:cs typeface="Cambria" pitchFamily="34" charset="-120"/>
              </a:rPr>
              <a:t>₦7,420</a:t>
            </a:r>
            <a:endParaRPr lang="en-US" sz="4800" dirty="0"/>
          </a:p>
        </p:txBody>
      </p:sp>
      <p:sp>
        <p:nvSpPr>
          <p:cNvPr id="9" name="Text 6"/>
          <p:cNvSpPr txBox="1"/>
          <p:nvPr/>
        </p:nvSpPr>
        <p:spPr>
          <a:xfrm>
            <a:off x="3474720" y="2697480"/>
            <a:ext cx="2286000" cy="731520"/>
          </a:xfrm>
          <a:prstGeom prst="rect">
            <a:avLst/>
          </a:prstGeom>
          <a:noFill/>
          <a:ln/>
        </p:spPr>
        <p:txBody>
          <a:bodyPr wrap="square" lIns="0" tIns="0" rIns="0" bIns="0" rtlCol="0" anchor="t"/>
          <a:lstStyle/>
          <a:p>
            <a:pPr marL="0" indent="0" algn="ctr">
              <a:buNone/>
            </a:pPr>
            <a:r>
              <a:rPr lang="en-US" sz="1400" dirty="0">
                <a:solidFill>
                  <a:schemeClr val="bg1"/>
                </a:solidFill>
              </a:rPr>
              <a:t>the real cost per unit</a:t>
            </a:r>
            <a:endParaRPr lang="en-US" sz="1400" dirty="0"/>
          </a:p>
          <a:p>
            <a:pPr marL="0" indent="0" algn="ctr">
              <a:buNone/>
            </a:pPr>
            <a:r>
              <a:rPr lang="en-US" sz="1400" dirty="0">
                <a:solidFill>
                  <a:schemeClr val="bg1"/>
                </a:solidFill>
              </a:rPr>
              <a:t>once everything is added</a:t>
            </a:r>
            <a:endParaRPr lang="en-US" sz="1400" dirty="0"/>
          </a:p>
        </p:txBody>
      </p:sp>
      <p:sp>
        <p:nvSpPr>
          <p:cNvPr id="10" name="stat card 2"/>
          <p:cNvSpPr/>
          <p:nvPr/>
        </p:nvSpPr>
        <p:spPr>
          <a:xfrm>
            <a:off x="6126480" y="1325880"/>
            <a:ext cx="2651760" cy="2377440"/>
          </a:xfrm>
          <a:prstGeom prst="roundRect">
            <a:avLst>
              <a:gd name="adj" fmla="val 3846"/>
            </a:avLst>
          </a:prstGeom>
          <a:solidFill>
            <a:srgbClr val="13315C"/>
          </a:solidFill>
          <a:ln w="12700">
            <a:solidFill>
              <a:srgbClr val="13315C"/>
            </a:solidFill>
            <a:prstDash val="solid"/>
          </a:ln>
        </p:spPr>
      </p:sp>
      <p:sp>
        <p:nvSpPr>
          <p:cNvPr id="11" name="Text 8"/>
          <p:cNvSpPr txBox="1"/>
          <p:nvPr/>
        </p:nvSpPr>
        <p:spPr>
          <a:xfrm>
            <a:off x="6217920" y="1645920"/>
            <a:ext cx="2468880" cy="822960"/>
          </a:xfrm>
          <a:prstGeom prst="rect">
            <a:avLst/>
          </a:prstGeom>
          <a:noFill/>
          <a:ln/>
        </p:spPr>
        <p:txBody>
          <a:bodyPr wrap="square" lIns="0" tIns="0" rIns="0" bIns="0" rtlCol="0" anchor="t"/>
          <a:lstStyle/>
          <a:p>
            <a:pPr marL="0" indent="0" algn="ctr">
              <a:buNone/>
            </a:pPr>
            <a:r>
              <a:rPr lang="en-US" sz="4800" b="1" dirty="0">
                <a:solidFill>
                  <a:schemeClr val="accent3"/>
                </a:solidFill>
                <a:latin typeface="Cambria" pitchFamily="34" charset="0"/>
                <a:ea typeface="Cambria" pitchFamily="34" charset="-122"/>
                <a:cs typeface="Cambria" pitchFamily="34" charset="-120"/>
              </a:rPr>
              <a:t>+65%</a:t>
            </a:r>
            <a:endParaRPr lang="en-US" sz="4800" dirty="0"/>
          </a:p>
        </p:txBody>
      </p:sp>
      <p:sp>
        <p:nvSpPr>
          <p:cNvPr id="12" name="Text 9"/>
          <p:cNvSpPr txBox="1"/>
          <p:nvPr/>
        </p:nvSpPr>
        <p:spPr>
          <a:xfrm>
            <a:off x="6309360" y="2697480"/>
            <a:ext cx="2286000" cy="731520"/>
          </a:xfrm>
          <a:prstGeom prst="rect">
            <a:avLst/>
          </a:prstGeom>
          <a:noFill/>
          <a:ln/>
        </p:spPr>
        <p:txBody>
          <a:bodyPr wrap="square" lIns="0" tIns="0" rIns="0" bIns="0" rtlCol="0" anchor="t"/>
          <a:lstStyle/>
          <a:p>
            <a:pPr marL="0" indent="0" algn="ctr">
              <a:buNone/>
            </a:pPr>
            <a:r>
              <a:rPr lang="en-US" sz="1400" dirty="0">
                <a:solidFill>
                  <a:schemeClr val="bg1"/>
                </a:solidFill>
              </a:rPr>
              <a:t>the gap between</a:t>
            </a:r>
            <a:endParaRPr lang="en-US" sz="1400" dirty="0"/>
          </a:p>
          <a:p>
            <a:pPr marL="0" indent="0" algn="ctr">
              <a:buNone/>
            </a:pPr>
            <a:r>
              <a:rPr lang="en-US" sz="1400" dirty="0">
                <a:solidFill>
                  <a:schemeClr val="bg1"/>
                </a:solidFill>
              </a:rPr>
              <a:t>the two numbers</a:t>
            </a:r>
            <a:endParaRPr lang="en-US" sz="1400" dirty="0"/>
          </a:p>
        </p:txBody>
      </p:sp>
      <p:sp>
        <p:nvSpPr>
          <p:cNvPr id="13" name="Text 10"/>
          <p:cNvSpPr txBox="1"/>
          <p:nvPr/>
        </p:nvSpPr>
        <p:spPr>
          <a:xfrm>
            <a:off x="457200" y="3931920"/>
            <a:ext cx="8229600" cy="274320"/>
          </a:xfrm>
          <a:prstGeom prst="rect">
            <a:avLst/>
          </a:prstGeom>
          <a:noFill/>
          <a:ln/>
        </p:spPr>
        <p:txBody>
          <a:bodyPr wrap="square" lIns="0" tIns="0" rIns="0" bIns="0" rtlCol="0" anchor="t"/>
          <a:lstStyle/>
          <a:p>
            <a:pPr marL="0" indent="0">
              <a:buNone/>
            </a:pPr>
            <a:r>
              <a:rPr lang="en-US" sz="1400" dirty="0">
                <a:solidFill>
                  <a:schemeClr val="accent4"/>
                </a:solidFill>
              </a:rPr>
              <a:t>Example: 300 power banks, $3.00 each, air freight, Lagos.</a:t>
            </a:r>
            <a:endParaRPr lang="en-US" sz="1400" dirty="0"/>
          </a:p>
        </p:txBody>
      </p:sp>
      <p:sp>
        <p:nvSpPr>
          <p:cNvPr id="14" name="Text 11"/>
          <p:cNvSpPr txBox="1"/>
          <p:nvPr/>
        </p:nvSpPr>
        <p:spPr>
          <a:xfrm>
            <a:off x="457200" y="4251960"/>
            <a:ext cx="8229600" cy="274320"/>
          </a:xfrm>
          <a:prstGeom prst="rect">
            <a:avLst/>
          </a:prstGeom>
          <a:noFill/>
          <a:ln/>
        </p:spPr>
        <p:txBody>
          <a:bodyPr wrap="square" lIns="0" tIns="0" rIns="0" bIns="0" rtlCol="0" anchor="t"/>
          <a:lstStyle/>
          <a:p>
            <a:pPr marL="0" indent="0">
              <a:buNone/>
            </a:pPr>
            <a:r>
              <a:rPr lang="en-US" sz="1600" b="1" dirty="0">
                <a:solidFill>
                  <a:schemeClr val="accent1"/>
                </a:solidFill>
              </a:rPr>
              <a:t>We build this number up step by step later today.</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The whole journey in ten steps</a:t>
            </a:r>
            <a:endParaRPr lang="en-US" sz="2800" dirty="0"/>
          </a:p>
        </p:txBody>
      </p:sp>
      <p:sp>
        <p:nvSpPr>
          <p:cNvPr id="4" name="journey step 1"/>
          <p:cNvSpPr/>
          <p:nvPr/>
        </p:nvSpPr>
        <p:spPr>
          <a:xfrm>
            <a:off x="457200" y="1143000"/>
            <a:ext cx="1554480" cy="1554480"/>
          </a:xfrm>
          <a:prstGeom prst="roundRect">
            <a:avLst>
              <a:gd name="adj" fmla="val 5882"/>
            </a:avLst>
          </a:prstGeom>
          <a:solidFill>
            <a:schemeClr val="bg2"/>
          </a:solidFill>
          <a:ln w="12700">
            <a:solidFill>
              <a:schemeClr val="bg2"/>
            </a:solidFill>
            <a:prstDash val="solid"/>
          </a:ln>
        </p:spPr>
      </p:sp>
      <p:sp>
        <p:nvSpPr>
          <p:cNvPr id="5" name="step circle"/>
          <p:cNvSpPr/>
          <p:nvPr/>
        </p:nvSpPr>
        <p:spPr>
          <a:xfrm>
            <a:off x="566928" y="1252728"/>
            <a:ext cx="384048" cy="384048"/>
          </a:xfrm>
          <a:prstGeom prst="ellipse">
            <a:avLst/>
          </a:prstGeom>
          <a:solidFill>
            <a:schemeClr val="accent6"/>
          </a:solidFill>
          <a:ln w="12700">
            <a:solidFill>
              <a:srgbClr val="FFFFFF"/>
            </a:solidFill>
            <a:prstDash val="solid"/>
          </a:ln>
        </p:spPr>
      </p:sp>
      <p:sp>
        <p:nvSpPr>
          <p:cNvPr id="6" name="Text 3"/>
          <p:cNvSpPr txBox="1"/>
          <p:nvPr/>
        </p:nvSpPr>
        <p:spPr>
          <a:xfrm>
            <a:off x="566928" y="1252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7" name="Text 4"/>
          <p:cNvSpPr txBox="1"/>
          <p:nvPr/>
        </p:nvSpPr>
        <p:spPr>
          <a:xfrm>
            <a:off x="1005840" y="132588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2</a:t>
            </a:r>
            <a:endParaRPr lang="en-US" sz="1100" dirty="0"/>
          </a:p>
        </p:txBody>
      </p:sp>
      <p:sp>
        <p:nvSpPr>
          <p:cNvPr id="8" name="Text 5"/>
          <p:cNvSpPr txBox="1"/>
          <p:nvPr/>
        </p:nvSpPr>
        <p:spPr>
          <a:xfrm>
            <a:off x="566928" y="176479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Choose a product</a:t>
            </a:r>
            <a:endParaRPr lang="en-US" sz="1400" dirty="0"/>
          </a:p>
        </p:txBody>
      </p:sp>
      <p:sp>
        <p:nvSpPr>
          <p:cNvPr id="9" name="Text 6"/>
          <p:cNvSpPr txBox="1"/>
          <p:nvPr/>
        </p:nvSpPr>
        <p:spPr>
          <a:xfrm>
            <a:off x="566928" y="2240280"/>
            <a:ext cx="1353312" cy="411480"/>
          </a:xfrm>
          <a:prstGeom prst="rect">
            <a:avLst/>
          </a:prstGeom>
          <a:noFill/>
          <a:ln/>
        </p:spPr>
        <p:txBody>
          <a:bodyPr wrap="square" lIns="0" tIns="0" rIns="0" bIns="0" rtlCol="0" anchor="t"/>
          <a:lstStyle/>
          <a:p>
            <a:pPr marL="0" indent="0">
              <a:buNone/>
            </a:pPr>
            <a:r>
              <a:rPr lang="en-US" sz="1200" dirty="0">
                <a:solidFill>
                  <a:schemeClr val="tx1"/>
                </a:solidFill>
              </a:rPr>
              <a:t>Pick what people already buy</a:t>
            </a:r>
            <a:endParaRPr lang="en-US" sz="1200" dirty="0"/>
          </a:p>
        </p:txBody>
      </p:sp>
      <p:sp>
        <p:nvSpPr>
          <p:cNvPr id="10" name="journey step 2"/>
          <p:cNvSpPr/>
          <p:nvPr/>
        </p:nvSpPr>
        <p:spPr>
          <a:xfrm>
            <a:off x="2125980" y="1143000"/>
            <a:ext cx="1554480" cy="1554480"/>
          </a:xfrm>
          <a:prstGeom prst="roundRect">
            <a:avLst>
              <a:gd name="adj" fmla="val 5882"/>
            </a:avLst>
          </a:prstGeom>
          <a:solidFill>
            <a:srgbClr val="0B1F3A"/>
          </a:solidFill>
          <a:ln w="12700">
            <a:solidFill>
              <a:srgbClr val="0B1F3A"/>
            </a:solidFill>
            <a:prstDash val="solid"/>
          </a:ln>
        </p:spPr>
      </p:sp>
      <p:sp>
        <p:nvSpPr>
          <p:cNvPr id="11" name="step circle"/>
          <p:cNvSpPr/>
          <p:nvPr/>
        </p:nvSpPr>
        <p:spPr>
          <a:xfrm>
            <a:off x="2235708" y="1252728"/>
            <a:ext cx="384048" cy="384048"/>
          </a:xfrm>
          <a:prstGeom prst="ellipse">
            <a:avLst/>
          </a:prstGeom>
          <a:solidFill>
            <a:schemeClr val="accent1"/>
          </a:solidFill>
          <a:ln w="12700">
            <a:solidFill>
              <a:srgbClr val="FFFFFF"/>
            </a:solidFill>
            <a:prstDash val="solid"/>
          </a:ln>
        </p:spPr>
      </p:sp>
      <p:sp>
        <p:nvSpPr>
          <p:cNvPr id="12" name="Text 9"/>
          <p:cNvSpPr txBox="1"/>
          <p:nvPr/>
        </p:nvSpPr>
        <p:spPr>
          <a:xfrm>
            <a:off x="2235708" y="1252728"/>
            <a:ext cx="384048" cy="384048"/>
          </a:xfrm>
          <a:prstGeom prst="rect">
            <a:avLst/>
          </a:prstGeom>
          <a:noFill/>
          <a:ln/>
        </p:spPr>
        <p:txBody>
          <a:bodyPr wrap="square" lIns="0" tIns="0" rIns="0" bIns="0" rtlCol="0" anchor="ctr"/>
          <a:lstStyle/>
          <a:p>
            <a:pPr marL="0" indent="0" algn="ctr">
              <a:buNone/>
            </a:pPr>
            <a:r>
              <a:rPr lang="en-US" sz="1500" b="1" dirty="0">
                <a:solidFill>
                  <a:srgbClr val="0B1F3A"/>
                </a:solidFill>
              </a:rPr>
              <a:t>2</a:t>
            </a:r>
            <a:endParaRPr lang="en-US" sz="1500" dirty="0"/>
          </a:p>
        </p:txBody>
      </p:sp>
      <p:sp>
        <p:nvSpPr>
          <p:cNvPr id="13" name="Text 10"/>
          <p:cNvSpPr txBox="1"/>
          <p:nvPr/>
        </p:nvSpPr>
        <p:spPr>
          <a:xfrm>
            <a:off x="2674620" y="1325880"/>
            <a:ext cx="914400" cy="228600"/>
          </a:xfrm>
          <a:prstGeom prst="rect">
            <a:avLst/>
          </a:prstGeom>
          <a:noFill/>
          <a:ln/>
        </p:spPr>
        <p:txBody>
          <a:bodyPr wrap="square" lIns="0" tIns="0" rIns="0" bIns="0" rtlCol="0" anchor="t"/>
          <a:lstStyle/>
          <a:p>
            <a:pPr marL="0" indent="0">
              <a:buNone/>
            </a:pPr>
            <a:r>
              <a:rPr lang="en-US" sz="1100" b="1" dirty="0">
                <a:solidFill>
                  <a:schemeClr val="accent1"/>
                </a:solidFill>
              </a:rPr>
              <a:t>Lesson 2</a:t>
            </a:r>
            <a:endParaRPr lang="en-US" sz="1100" dirty="0"/>
          </a:p>
        </p:txBody>
      </p:sp>
      <p:sp>
        <p:nvSpPr>
          <p:cNvPr id="14" name="Text 11"/>
          <p:cNvSpPr txBox="1"/>
          <p:nvPr/>
        </p:nvSpPr>
        <p:spPr>
          <a:xfrm>
            <a:off x="2235708" y="1764792"/>
            <a:ext cx="1353312"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Check the market</a:t>
            </a:r>
            <a:endParaRPr lang="en-US" sz="1400" dirty="0"/>
          </a:p>
        </p:txBody>
      </p:sp>
      <p:sp>
        <p:nvSpPr>
          <p:cNvPr id="15" name="Text 12"/>
          <p:cNvSpPr txBox="1"/>
          <p:nvPr/>
        </p:nvSpPr>
        <p:spPr>
          <a:xfrm>
            <a:off x="2235708" y="2240280"/>
            <a:ext cx="1353312" cy="411480"/>
          </a:xfrm>
          <a:prstGeom prst="rect">
            <a:avLst/>
          </a:prstGeom>
          <a:noFill/>
          <a:ln/>
        </p:spPr>
        <p:txBody>
          <a:bodyPr wrap="square" lIns="0" tIns="0" rIns="0" bIns="0" rtlCol="0" anchor="t"/>
          <a:lstStyle/>
          <a:p>
            <a:pPr marL="0" indent="0">
              <a:buNone/>
            </a:pPr>
            <a:r>
              <a:rPr lang="en-US" sz="1200" dirty="0">
                <a:solidFill>
                  <a:schemeClr val="accent4"/>
                </a:solidFill>
              </a:rPr>
              <a:t>Demand, competition, margin</a:t>
            </a:r>
            <a:endParaRPr lang="en-US" sz="1200" dirty="0"/>
          </a:p>
        </p:txBody>
      </p:sp>
      <p:sp>
        <p:nvSpPr>
          <p:cNvPr id="16" name="journey step 3"/>
          <p:cNvSpPr/>
          <p:nvPr/>
        </p:nvSpPr>
        <p:spPr>
          <a:xfrm>
            <a:off x="3794760" y="1143000"/>
            <a:ext cx="1554480" cy="1554480"/>
          </a:xfrm>
          <a:prstGeom prst="roundRect">
            <a:avLst>
              <a:gd name="adj" fmla="val 5882"/>
            </a:avLst>
          </a:prstGeom>
          <a:solidFill>
            <a:schemeClr val="bg2"/>
          </a:solidFill>
          <a:ln w="12700">
            <a:solidFill>
              <a:schemeClr val="bg2"/>
            </a:solidFill>
            <a:prstDash val="solid"/>
          </a:ln>
        </p:spPr>
      </p:sp>
      <p:sp>
        <p:nvSpPr>
          <p:cNvPr id="17" name="step circle"/>
          <p:cNvSpPr/>
          <p:nvPr/>
        </p:nvSpPr>
        <p:spPr>
          <a:xfrm>
            <a:off x="3904488" y="1252728"/>
            <a:ext cx="384048" cy="384048"/>
          </a:xfrm>
          <a:prstGeom prst="ellipse">
            <a:avLst/>
          </a:prstGeom>
          <a:solidFill>
            <a:schemeClr val="accent6"/>
          </a:solidFill>
          <a:ln w="12700">
            <a:solidFill>
              <a:srgbClr val="FFFFFF"/>
            </a:solidFill>
            <a:prstDash val="solid"/>
          </a:ln>
        </p:spPr>
      </p:sp>
      <p:sp>
        <p:nvSpPr>
          <p:cNvPr id="18" name="Text 15"/>
          <p:cNvSpPr txBox="1"/>
          <p:nvPr/>
        </p:nvSpPr>
        <p:spPr>
          <a:xfrm>
            <a:off x="3904488" y="1252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9" name="Text 16"/>
          <p:cNvSpPr txBox="1"/>
          <p:nvPr/>
        </p:nvSpPr>
        <p:spPr>
          <a:xfrm>
            <a:off x="4343400" y="132588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3</a:t>
            </a:r>
            <a:endParaRPr lang="en-US" sz="1100" dirty="0"/>
          </a:p>
        </p:txBody>
      </p:sp>
      <p:sp>
        <p:nvSpPr>
          <p:cNvPr id="20" name="Text 17"/>
          <p:cNvSpPr txBox="1"/>
          <p:nvPr/>
        </p:nvSpPr>
        <p:spPr>
          <a:xfrm>
            <a:off x="3904488" y="176479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Find suppliers</a:t>
            </a:r>
            <a:endParaRPr lang="en-US" sz="1400" dirty="0"/>
          </a:p>
        </p:txBody>
      </p:sp>
      <p:sp>
        <p:nvSpPr>
          <p:cNvPr id="21" name="Text 18"/>
          <p:cNvSpPr txBox="1"/>
          <p:nvPr/>
        </p:nvSpPr>
        <p:spPr>
          <a:xfrm>
            <a:off x="3904488" y="2240280"/>
            <a:ext cx="1353312" cy="411480"/>
          </a:xfrm>
          <a:prstGeom prst="rect">
            <a:avLst/>
          </a:prstGeom>
          <a:noFill/>
          <a:ln/>
        </p:spPr>
        <p:txBody>
          <a:bodyPr wrap="square" lIns="0" tIns="0" rIns="0" bIns="0" rtlCol="0" anchor="t"/>
          <a:lstStyle/>
          <a:p>
            <a:pPr marL="0" indent="0">
              <a:buNone/>
            </a:pPr>
            <a:r>
              <a:rPr lang="en-US" sz="1200" dirty="0">
                <a:solidFill>
                  <a:schemeClr val="tx1"/>
                </a:solidFill>
              </a:rPr>
              <a:t>Platforms, markets, agents</a:t>
            </a:r>
            <a:endParaRPr lang="en-US" sz="1200" dirty="0"/>
          </a:p>
        </p:txBody>
      </p:sp>
      <p:sp>
        <p:nvSpPr>
          <p:cNvPr id="22" name="journey step 4"/>
          <p:cNvSpPr/>
          <p:nvPr/>
        </p:nvSpPr>
        <p:spPr>
          <a:xfrm>
            <a:off x="5463540" y="1143000"/>
            <a:ext cx="1554480" cy="1554480"/>
          </a:xfrm>
          <a:prstGeom prst="roundRect">
            <a:avLst>
              <a:gd name="adj" fmla="val 5882"/>
            </a:avLst>
          </a:prstGeom>
          <a:solidFill>
            <a:schemeClr val="bg2"/>
          </a:solidFill>
          <a:ln w="12700">
            <a:solidFill>
              <a:schemeClr val="bg2"/>
            </a:solidFill>
            <a:prstDash val="solid"/>
          </a:ln>
        </p:spPr>
      </p:sp>
      <p:sp>
        <p:nvSpPr>
          <p:cNvPr id="23" name="step circle"/>
          <p:cNvSpPr/>
          <p:nvPr/>
        </p:nvSpPr>
        <p:spPr>
          <a:xfrm>
            <a:off x="5573268" y="1252728"/>
            <a:ext cx="384048" cy="384048"/>
          </a:xfrm>
          <a:prstGeom prst="ellipse">
            <a:avLst/>
          </a:prstGeom>
          <a:solidFill>
            <a:schemeClr val="accent2"/>
          </a:solidFill>
          <a:ln w="12700">
            <a:solidFill>
              <a:srgbClr val="FFFFFF"/>
            </a:solidFill>
            <a:prstDash val="solid"/>
          </a:ln>
        </p:spPr>
      </p:sp>
      <p:sp>
        <p:nvSpPr>
          <p:cNvPr id="24" name="Text 21"/>
          <p:cNvSpPr txBox="1"/>
          <p:nvPr/>
        </p:nvSpPr>
        <p:spPr>
          <a:xfrm>
            <a:off x="5573268" y="1252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25" name="Text 22"/>
          <p:cNvSpPr txBox="1"/>
          <p:nvPr/>
        </p:nvSpPr>
        <p:spPr>
          <a:xfrm>
            <a:off x="6012180" y="132588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4</a:t>
            </a:r>
            <a:endParaRPr lang="en-US" sz="1100" dirty="0"/>
          </a:p>
        </p:txBody>
      </p:sp>
      <p:sp>
        <p:nvSpPr>
          <p:cNvPr id="26" name="Text 23"/>
          <p:cNvSpPr txBox="1"/>
          <p:nvPr/>
        </p:nvSpPr>
        <p:spPr>
          <a:xfrm>
            <a:off x="5573268" y="176479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Verify the supplier</a:t>
            </a:r>
            <a:endParaRPr lang="en-US" sz="1400" dirty="0"/>
          </a:p>
        </p:txBody>
      </p:sp>
      <p:sp>
        <p:nvSpPr>
          <p:cNvPr id="27" name="Text 24"/>
          <p:cNvSpPr txBox="1"/>
          <p:nvPr/>
        </p:nvSpPr>
        <p:spPr>
          <a:xfrm>
            <a:off x="5573268" y="2240280"/>
            <a:ext cx="1353312" cy="411480"/>
          </a:xfrm>
          <a:prstGeom prst="rect">
            <a:avLst/>
          </a:prstGeom>
          <a:noFill/>
          <a:ln/>
        </p:spPr>
        <p:txBody>
          <a:bodyPr wrap="square" lIns="0" tIns="0" rIns="0" bIns="0" rtlCol="0" anchor="t"/>
          <a:lstStyle/>
          <a:p>
            <a:pPr marL="0" indent="0">
              <a:buNone/>
            </a:pPr>
            <a:r>
              <a:rPr lang="en-US" sz="1200" dirty="0">
                <a:solidFill>
                  <a:schemeClr val="tx1"/>
                </a:solidFill>
              </a:rPr>
              <a:t>Scam checks, safe payment</a:t>
            </a:r>
            <a:endParaRPr lang="en-US" sz="1200" dirty="0"/>
          </a:p>
        </p:txBody>
      </p:sp>
      <p:sp>
        <p:nvSpPr>
          <p:cNvPr id="28" name="journey step 5"/>
          <p:cNvSpPr/>
          <p:nvPr/>
        </p:nvSpPr>
        <p:spPr>
          <a:xfrm>
            <a:off x="7132320" y="1143000"/>
            <a:ext cx="1554480" cy="1554480"/>
          </a:xfrm>
          <a:prstGeom prst="roundRect">
            <a:avLst>
              <a:gd name="adj" fmla="val 5882"/>
            </a:avLst>
          </a:prstGeom>
          <a:solidFill>
            <a:schemeClr val="bg2"/>
          </a:solidFill>
          <a:ln w="12700">
            <a:solidFill>
              <a:schemeClr val="bg2"/>
            </a:solidFill>
            <a:prstDash val="solid"/>
          </a:ln>
        </p:spPr>
      </p:sp>
      <p:sp>
        <p:nvSpPr>
          <p:cNvPr id="29" name="step circle"/>
          <p:cNvSpPr/>
          <p:nvPr/>
        </p:nvSpPr>
        <p:spPr>
          <a:xfrm>
            <a:off x="7242048" y="1252728"/>
            <a:ext cx="384048" cy="384048"/>
          </a:xfrm>
          <a:prstGeom prst="ellipse">
            <a:avLst/>
          </a:prstGeom>
          <a:solidFill>
            <a:schemeClr val="accent6"/>
          </a:solidFill>
          <a:ln w="12700">
            <a:solidFill>
              <a:srgbClr val="FFFFFF"/>
            </a:solidFill>
            <a:prstDash val="solid"/>
          </a:ln>
        </p:spPr>
      </p:sp>
      <p:sp>
        <p:nvSpPr>
          <p:cNvPr id="30" name="Text 27"/>
          <p:cNvSpPr txBox="1"/>
          <p:nvPr/>
        </p:nvSpPr>
        <p:spPr>
          <a:xfrm>
            <a:off x="7242048" y="125272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31" name="Text 28"/>
          <p:cNvSpPr txBox="1"/>
          <p:nvPr/>
        </p:nvSpPr>
        <p:spPr>
          <a:xfrm>
            <a:off x="7680960" y="132588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5</a:t>
            </a:r>
            <a:endParaRPr lang="en-US" sz="1100" dirty="0"/>
          </a:p>
        </p:txBody>
      </p:sp>
      <p:sp>
        <p:nvSpPr>
          <p:cNvPr id="32" name="Text 29"/>
          <p:cNvSpPr txBox="1"/>
          <p:nvPr/>
        </p:nvSpPr>
        <p:spPr>
          <a:xfrm>
            <a:off x="7242048" y="176479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Negotiate and sample</a:t>
            </a:r>
            <a:endParaRPr lang="en-US" sz="1400" dirty="0"/>
          </a:p>
        </p:txBody>
      </p:sp>
      <p:sp>
        <p:nvSpPr>
          <p:cNvPr id="33" name="Text 30"/>
          <p:cNvSpPr txBox="1"/>
          <p:nvPr/>
        </p:nvSpPr>
        <p:spPr>
          <a:xfrm>
            <a:off x="7242048" y="2240280"/>
            <a:ext cx="1353312" cy="411480"/>
          </a:xfrm>
          <a:prstGeom prst="rect">
            <a:avLst/>
          </a:prstGeom>
          <a:noFill/>
          <a:ln/>
        </p:spPr>
        <p:txBody>
          <a:bodyPr wrap="square" lIns="0" tIns="0" rIns="0" bIns="0" rtlCol="0" anchor="t"/>
          <a:lstStyle/>
          <a:p>
            <a:pPr marL="0" indent="0">
              <a:buNone/>
            </a:pPr>
            <a:r>
              <a:rPr lang="en-US" sz="1200" dirty="0">
                <a:solidFill>
                  <a:schemeClr val="tx1"/>
                </a:solidFill>
              </a:rPr>
              <a:t>Price, MOQ, sample first</a:t>
            </a:r>
            <a:endParaRPr lang="en-US" sz="1200" dirty="0"/>
          </a:p>
        </p:txBody>
      </p:sp>
      <p:sp>
        <p:nvSpPr>
          <p:cNvPr id="34" name="journey step 6"/>
          <p:cNvSpPr/>
          <p:nvPr/>
        </p:nvSpPr>
        <p:spPr>
          <a:xfrm>
            <a:off x="457200" y="2834640"/>
            <a:ext cx="1554480" cy="1554480"/>
          </a:xfrm>
          <a:prstGeom prst="roundRect">
            <a:avLst>
              <a:gd name="adj" fmla="val 5882"/>
            </a:avLst>
          </a:prstGeom>
          <a:solidFill>
            <a:schemeClr val="bg2"/>
          </a:solidFill>
          <a:ln w="12700">
            <a:solidFill>
              <a:schemeClr val="bg2"/>
            </a:solidFill>
            <a:prstDash val="solid"/>
          </a:ln>
        </p:spPr>
      </p:sp>
      <p:sp>
        <p:nvSpPr>
          <p:cNvPr id="35" name="step circle"/>
          <p:cNvSpPr/>
          <p:nvPr/>
        </p:nvSpPr>
        <p:spPr>
          <a:xfrm>
            <a:off x="566928" y="2944368"/>
            <a:ext cx="384048" cy="384048"/>
          </a:xfrm>
          <a:prstGeom prst="ellipse">
            <a:avLst/>
          </a:prstGeom>
          <a:solidFill>
            <a:schemeClr val="accent2"/>
          </a:solidFill>
          <a:ln w="12700">
            <a:solidFill>
              <a:srgbClr val="FFFFFF"/>
            </a:solidFill>
            <a:prstDash val="solid"/>
          </a:ln>
        </p:spPr>
      </p:sp>
      <p:sp>
        <p:nvSpPr>
          <p:cNvPr id="36" name="Text 33"/>
          <p:cNvSpPr txBox="1"/>
          <p:nvPr/>
        </p:nvSpPr>
        <p:spPr>
          <a:xfrm>
            <a:off x="56692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6</a:t>
            </a:r>
            <a:endParaRPr lang="en-US" sz="1500" dirty="0"/>
          </a:p>
        </p:txBody>
      </p:sp>
      <p:sp>
        <p:nvSpPr>
          <p:cNvPr id="37" name="Text 34"/>
          <p:cNvSpPr txBox="1"/>
          <p:nvPr/>
        </p:nvSpPr>
        <p:spPr>
          <a:xfrm>
            <a:off x="1005840" y="301752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6</a:t>
            </a:r>
            <a:endParaRPr lang="en-US" sz="1100" dirty="0"/>
          </a:p>
        </p:txBody>
      </p:sp>
      <p:sp>
        <p:nvSpPr>
          <p:cNvPr id="38" name="Text 35"/>
          <p:cNvSpPr txBox="1"/>
          <p:nvPr/>
        </p:nvSpPr>
        <p:spPr>
          <a:xfrm>
            <a:off x="566928" y="345643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Ship it</a:t>
            </a:r>
            <a:endParaRPr lang="en-US" sz="1400" dirty="0"/>
          </a:p>
        </p:txBody>
      </p:sp>
      <p:sp>
        <p:nvSpPr>
          <p:cNvPr id="39" name="Text 36"/>
          <p:cNvSpPr txBox="1"/>
          <p:nvPr/>
        </p:nvSpPr>
        <p:spPr>
          <a:xfrm>
            <a:off x="566928" y="3931920"/>
            <a:ext cx="1353312" cy="411480"/>
          </a:xfrm>
          <a:prstGeom prst="rect">
            <a:avLst/>
          </a:prstGeom>
          <a:noFill/>
          <a:ln/>
        </p:spPr>
        <p:txBody>
          <a:bodyPr wrap="square" lIns="0" tIns="0" rIns="0" bIns="0" rtlCol="0" anchor="t"/>
          <a:lstStyle/>
          <a:p>
            <a:pPr marL="0" indent="0">
              <a:buNone/>
            </a:pPr>
            <a:r>
              <a:rPr lang="en-US" sz="1200" dirty="0">
                <a:solidFill>
                  <a:schemeClr val="tx1"/>
                </a:solidFill>
              </a:rPr>
              <a:t>Air or sea, forwarder, insurance</a:t>
            </a:r>
            <a:endParaRPr lang="en-US" sz="1200" dirty="0"/>
          </a:p>
        </p:txBody>
      </p:sp>
      <p:sp>
        <p:nvSpPr>
          <p:cNvPr id="40" name="journey step 7"/>
          <p:cNvSpPr/>
          <p:nvPr/>
        </p:nvSpPr>
        <p:spPr>
          <a:xfrm>
            <a:off x="2125980" y="2834640"/>
            <a:ext cx="1554480" cy="1554480"/>
          </a:xfrm>
          <a:prstGeom prst="roundRect">
            <a:avLst>
              <a:gd name="adj" fmla="val 5882"/>
            </a:avLst>
          </a:prstGeom>
          <a:solidFill>
            <a:schemeClr val="bg2"/>
          </a:solidFill>
          <a:ln w="12700">
            <a:solidFill>
              <a:schemeClr val="bg2"/>
            </a:solidFill>
            <a:prstDash val="solid"/>
          </a:ln>
        </p:spPr>
      </p:sp>
      <p:sp>
        <p:nvSpPr>
          <p:cNvPr id="41" name="step circle"/>
          <p:cNvSpPr/>
          <p:nvPr/>
        </p:nvSpPr>
        <p:spPr>
          <a:xfrm>
            <a:off x="2235708" y="2944368"/>
            <a:ext cx="384048" cy="384048"/>
          </a:xfrm>
          <a:prstGeom prst="ellipse">
            <a:avLst/>
          </a:prstGeom>
          <a:solidFill>
            <a:schemeClr val="accent6"/>
          </a:solidFill>
          <a:ln w="12700">
            <a:solidFill>
              <a:srgbClr val="FFFFFF"/>
            </a:solidFill>
            <a:prstDash val="solid"/>
          </a:ln>
        </p:spPr>
      </p:sp>
      <p:sp>
        <p:nvSpPr>
          <p:cNvPr id="42" name="Text 39"/>
          <p:cNvSpPr txBox="1"/>
          <p:nvPr/>
        </p:nvSpPr>
        <p:spPr>
          <a:xfrm>
            <a:off x="223570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7</a:t>
            </a:r>
            <a:endParaRPr lang="en-US" sz="1500" dirty="0"/>
          </a:p>
        </p:txBody>
      </p:sp>
      <p:sp>
        <p:nvSpPr>
          <p:cNvPr id="43" name="Text 40"/>
          <p:cNvSpPr txBox="1"/>
          <p:nvPr/>
        </p:nvSpPr>
        <p:spPr>
          <a:xfrm>
            <a:off x="2674620" y="301752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Lessons 7-8</a:t>
            </a:r>
            <a:endParaRPr lang="en-US" sz="1100" dirty="0"/>
          </a:p>
        </p:txBody>
      </p:sp>
      <p:sp>
        <p:nvSpPr>
          <p:cNvPr id="44" name="Text 41"/>
          <p:cNvSpPr txBox="1"/>
          <p:nvPr/>
        </p:nvSpPr>
        <p:spPr>
          <a:xfrm>
            <a:off x="2235708" y="345643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Documents and customs</a:t>
            </a:r>
            <a:endParaRPr lang="en-US" sz="1400" dirty="0"/>
          </a:p>
        </p:txBody>
      </p:sp>
      <p:sp>
        <p:nvSpPr>
          <p:cNvPr id="45" name="Text 42"/>
          <p:cNvSpPr txBox="1"/>
          <p:nvPr/>
        </p:nvSpPr>
        <p:spPr>
          <a:xfrm>
            <a:off x="2235708" y="3931920"/>
            <a:ext cx="1353312" cy="411480"/>
          </a:xfrm>
          <a:prstGeom prst="rect">
            <a:avLst/>
          </a:prstGeom>
          <a:noFill/>
          <a:ln/>
        </p:spPr>
        <p:txBody>
          <a:bodyPr wrap="square" lIns="0" tIns="0" rIns="0" bIns="0" rtlCol="0" anchor="t"/>
          <a:lstStyle/>
          <a:p>
            <a:pPr marL="0" indent="0">
              <a:buNone/>
            </a:pPr>
            <a:r>
              <a:rPr lang="en-US" sz="1200" dirty="0">
                <a:solidFill>
                  <a:schemeClr val="tx1"/>
                </a:solidFill>
              </a:rPr>
              <a:t>Invoice, B/L or AWB, HS code</a:t>
            </a:r>
            <a:endParaRPr lang="en-US" sz="1200" dirty="0"/>
          </a:p>
        </p:txBody>
      </p:sp>
      <p:sp>
        <p:nvSpPr>
          <p:cNvPr id="46" name="journey step 8"/>
          <p:cNvSpPr/>
          <p:nvPr/>
        </p:nvSpPr>
        <p:spPr>
          <a:xfrm>
            <a:off x="3794760" y="2834640"/>
            <a:ext cx="1554480" cy="1554480"/>
          </a:xfrm>
          <a:prstGeom prst="roundRect">
            <a:avLst>
              <a:gd name="adj" fmla="val 5882"/>
            </a:avLst>
          </a:prstGeom>
          <a:solidFill>
            <a:srgbClr val="0B1F3A"/>
          </a:solidFill>
          <a:ln w="12700">
            <a:solidFill>
              <a:srgbClr val="0B1F3A"/>
            </a:solidFill>
            <a:prstDash val="solid"/>
          </a:ln>
        </p:spPr>
      </p:sp>
      <p:sp>
        <p:nvSpPr>
          <p:cNvPr id="47" name="step circle"/>
          <p:cNvSpPr/>
          <p:nvPr/>
        </p:nvSpPr>
        <p:spPr>
          <a:xfrm>
            <a:off x="3904488" y="2944368"/>
            <a:ext cx="384048" cy="384048"/>
          </a:xfrm>
          <a:prstGeom prst="ellipse">
            <a:avLst/>
          </a:prstGeom>
          <a:solidFill>
            <a:schemeClr val="accent1"/>
          </a:solidFill>
          <a:ln w="12700">
            <a:solidFill>
              <a:srgbClr val="FFFFFF"/>
            </a:solidFill>
            <a:prstDash val="solid"/>
          </a:ln>
        </p:spPr>
      </p:sp>
      <p:sp>
        <p:nvSpPr>
          <p:cNvPr id="48" name="Text 45"/>
          <p:cNvSpPr txBox="1"/>
          <p:nvPr/>
        </p:nvSpPr>
        <p:spPr>
          <a:xfrm>
            <a:off x="3904488" y="2944368"/>
            <a:ext cx="384048" cy="384048"/>
          </a:xfrm>
          <a:prstGeom prst="rect">
            <a:avLst/>
          </a:prstGeom>
          <a:noFill/>
          <a:ln/>
        </p:spPr>
        <p:txBody>
          <a:bodyPr wrap="square" lIns="0" tIns="0" rIns="0" bIns="0" rtlCol="0" anchor="ctr"/>
          <a:lstStyle/>
          <a:p>
            <a:pPr marL="0" indent="0" algn="ctr">
              <a:buNone/>
            </a:pPr>
            <a:r>
              <a:rPr lang="en-US" sz="1500" b="1" dirty="0">
                <a:solidFill>
                  <a:srgbClr val="0B1F3A"/>
                </a:solidFill>
              </a:rPr>
              <a:t>8</a:t>
            </a:r>
            <a:endParaRPr lang="en-US" sz="1500" dirty="0"/>
          </a:p>
        </p:txBody>
      </p:sp>
      <p:sp>
        <p:nvSpPr>
          <p:cNvPr id="49" name="Text 46"/>
          <p:cNvSpPr txBox="1"/>
          <p:nvPr/>
        </p:nvSpPr>
        <p:spPr>
          <a:xfrm>
            <a:off x="4343400" y="3017520"/>
            <a:ext cx="914400" cy="228600"/>
          </a:xfrm>
          <a:prstGeom prst="rect">
            <a:avLst/>
          </a:prstGeom>
          <a:noFill/>
          <a:ln/>
        </p:spPr>
        <p:txBody>
          <a:bodyPr wrap="square" lIns="0" tIns="0" rIns="0" bIns="0" rtlCol="0" anchor="t"/>
          <a:lstStyle/>
          <a:p>
            <a:pPr marL="0" indent="0">
              <a:buNone/>
            </a:pPr>
            <a:r>
              <a:rPr lang="en-US" sz="1100" b="1" dirty="0">
                <a:solidFill>
                  <a:schemeClr val="accent1"/>
                </a:solidFill>
              </a:rPr>
              <a:t>Lesson 9</a:t>
            </a:r>
            <a:endParaRPr lang="en-US" sz="1100" dirty="0"/>
          </a:p>
        </p:txBody>
      </p:sp>
      <p:sp>
        <p:nvSpPr>
          <p:cNvPr id="50" name="Text 47"/>
          <p:cNvSpPr txBox="1"/>
          <p:nvPr/>
        </p:nvSpPr>
        <p:spPr>
          <a:xfrm>
            <a:off x="3904488" y="3456432"/>
            <a:ext cx="1353312"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Count the real cost</a:t>
            </a:r>
            <a:endParaRPr lang="en-US" sz="1400" dirty="0"/>
          </a:p>
        </p:txBody>
      </p:sp>
      <p:sp>
        <p:nvSpPr>
          <p:cNvPr id="51" name="Text 48"/>
          <p:cNvSpPr txBox="1"/>
          <p:nvPr/>
        </p:nvSpPr>
        <p:spPr>
          <a:xfrm>
            <a:off x="3904488" y="3931920"/>
            <a:ext cx="1353312" cy="411480"/>
          </a:xfrm>
          <a:prstGeom prst="rect">
            <a:avLst/>
          </a:prstGeom>
          <a:noFill/>
          <a:ln/>
        </p:spPr>
        <p:txBody>
          <a:bodyPr wrap="square" lIns="0" tIns="0" rIns="0" bIns="0" rtlCol="0" anchor="t"/>
          <a:lstStyle/>
          <a:p>
            <a:pPr marL="0" indent="0">
              <a:buNone/>
            </a:pPr>
            <a:r>
              <a:rPr lang="en-US" sz="1200" dirty="0">
                <a:solidFill>
                  <a:schemeClr val="accent4"/>
                </a:solidFill>
              </a:rPr>
              <a:t>Landed cost per unit</a:t>
            </a:r>
            <a:endParaRPr lang="en-US" sz="1200" dirty="0"/>
          </a:p>
        </p:txBody>
      </p:sp>
      <p:sp>
        <p:nvSpPr>
          <p:cNvPr id="52" name="journey step 9"/>
          <p:cNvSpPr/>
          <p:nvPr/>
        </p:nvSpPr>
        <p:spPr>
          <a:xfrm>
            <a:off x="5463540" y="2834640"/>
            <a:ext cx="1554480" cy="1554480"/>
          </a:xfrm>
          <a:prstGeom prst="roundRect">
            <a:avLst>
              <a:gd name="adj" fmla="val 5882"/>
            </a:avLst>
          </a:prstGeom>
          <a:solidFill>
            <a:schemeClr val="bg2"/>
          </a:solidFill>
          <a:ln w="12700">
            <a:solidFill>
              <a:schemeClr val="bg2"/>
            </a:solidFill>
            <a:prstDash val="solid"/>
          </a:ln>
        </p:spPr>
      </p:sp>
      <p:sp>
        <p:nvSpPr>
          <p:cNvPr id="53" name="step circle"/>
          <p:cNvSpPr/>
          <p:nvPr/>
        </p:nvSpPr>
        <p:spPr>
          <a:xfrm>
            <a:off x="5573268" y="2944368"/>
            <a:ext cx="384048" cy="384048"/>
          </a:xfrm>
          <a:prstGeom prst="ellipse">
            <a:avLst/>
          </a:prstGeom>
          <a:solidFill>
            <a:schemeClr val="accent6"/>
          </a:solidFill>
          <a:ln w="12700">
            <a:solidFill>
              <a:srgbClr val="FFFFFF"/>
            </a:solidFill>
            <a:prstDash val="solid"/>
          </a:ln>
        </p:spPr>
      </p:sp>
      <p:sp>
        <p:nvSpPr>
          <p:cNvPr id="54" name="Text 51"/>
          <p:cNvSpPr txBox="1"/>
          <p:nvPr/>
        </p:nvSpPr>
        <p:spPr>
          <a:xfrm>
            <a:off x="557326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9</a:t>
            </a:r>
            <a:endParaRPr lang="en-US" sz="1500" dirty="0"/>
          </a:p>
        </p:txBody>
      </p:sp>
      <p:sp>
        <p:nvSpPr>
          <p:cNvPr id="55" name="Text 52"/>
          <p:cNvSpPr txBox="1"/>
          <p:nvPr/>
        </p:nvSpPr>
        <p:spPr>
          <a:xfrm>
            <a:off x="6012180" y="301752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9</a:t>
            </a:r>
            <a:endParaRPr lang="en-US" sz="1100" dirty="0"/>
          </a:p>
        </p:txBody>
      </p:sp>
      <p:sp>
        <p:nvSpPr>
          <p:cNvPr id="56" name="Text 53"/>
          <p:cNvSpPr txBox="1"/>
          <p:nvPr/>
        </p:nvSpPr>
        <p:spPr>
          <a:xfrm>
            <a:off x="5573268" y="345643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Price it</a:t>
            </a:r>
            <a:endParaRPr lang="en-US" sz="1400" dirty="0"/>
          </a:p>
        </p:txBody>
      </p:sp>
      <p:sp>
        <p:nvSpPr>
          <p:cNvPr id="57" name="Text 54"/>
          <p:cNvSpPr txBox="1"/>
          <p:nvPr/>
        </p:nvSpPr>
        <p:spPr>
          <a:xfrm>
            <a:off x="5573268" y="3931920"/>
            <a:ext cx="1353312" cy="411480"/>
          </a:xfrm>
          <a:prstGeom prst="rect">
            <a:avLst/>
          </a:prstGeom>
          <a:noFill/>
          <a:ln/>
        </p:spPr>
        <p:txBody>
          <a:bodyPr wrap="square" lIns="0" tIns="0" rIns="0" bIns="0" rtlCol="0" anchor="t"/>
          <a:lstStyle/>
          <a:p>
            <a:pPr marL="0" indent="0">
              <a:buNone/>
            </a:pPr>
            <a:r>
              <a:rPr lang="en-US" sz="1200" dirty="0">
                <a:solidFill>
                  <a:schemeClr val="tx1"/>
                </a:solidFill>
              </a:rPr>
              <a:t>Price for your target margin</a:t>
            </a:r>
            <a:endParaRPr lang="en-US" sz="1200" dirty="0"/>
          </a:p>
        </p:txBody>
      </p:sp>
      <p:sp>
        <p:nvSpPr>
          <p:cNvPr id="58" name="journey step 10"/>
          <p:cNvSpPr/>
          <p:nvPr/>
        </p:nvSpPr>
        <p:spPr>
          <a:xfrm>
            <a:off x="7132320" y="2834640"/>
            <a:ext cx="1554480" cy="1554480"/>
          </a:xfrm>
          <a:prstGeom prst="roundRect">
            <a:avLst>
              <a:gd name="adj" fmla="val 5882"/>
            </a:avLst>
          </a:prstGeom>
          <a:solidFill>
            <a:schemeClr val="bg2"/>
          </a:solidFill>
          <a:ln w="12700">
            <a:solidFill>
              <a:schemeClr val="bg2"/>
            </a:solidFill>
            <a:prstDash val="solid"/>
          </a:ln>
        </p:spPr>
      </p:sp>
      <p:sp>
        <p:nvSpPr>
          <p:cNvPr id="59" name="step circle"/>
          <p:cNvSpPr/>
          <p:nvPr/>
        </p:nvSpPr>
        <p:spPr>
          <a:xfrm>
            <a:off x="7242048" y="2944368"/>
            <a:ext cx="384048" cy="384048"/>
          </a:xfrm>
          <a:prstGeom prst="ellipse">
            <a:avLst/>
          </a:prstGeom>
          <a:solidFill>
            <a:schemeClr val="accent2"/>
          </a:solidFill>
          <a:ln w="12700">
            <a:solidFill>
              <a:srgbClr val="FFFFFF"/>
            </a:solidFill>
            <a:prstDash val="solid"/>
          </a:ln>
        </p:spPr>
      </p:sp>
      <p:sp>
        <p:nvSpPr>
          <p:cNvPr id="60" name="Text 57"/>
          <p:cNvSpPr txBox="1"/>
          <p:nvPr/>
        </p:nvSpPr>
        <p:spPr>
          <a:xfrm>
            <a:off x="724204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rPr>
              <a:t>10</a:t>
            </a:r>
            <a:endParaRPr lang="en-US" sz="1500" dirty="0"/>
          </a:p>
        </p:txBody>
      </p:sp>
      <p:sp>
        <p:nvSpPr>
          <p:cNvPr id="61" name="Text 58"/>
          <p:cNvSpPr txBox="1"/>
          <p:nvPr/>
        </p:nvSpPr>
        <p:spPr>
          <a:xfrm>
            <a:off x="7680960" y="3017520"/>
            <a:ext cx="914400" cy="228600"/>
          </a:xfrm>
          <a:prstGeom prst="rect">
            <a:avLst/>
          </a:prstGeom>
          <a:noFill/>
          <a:ln/>
        </p:spPr>
        <p:txBody>
          <a:bodyPr wrap="square" lIns="0" tIns="0" rIns="0" bIns="0" rtlCol="0" anchor="t"/>
          <a:lstStyle/>
          <a:p>
            <a:pPr marL="0" indent="0">
              <a:buNone/>
            </a:pPr>
            <a:r>
              <a:rPr lang="en-US" sz="1100" b="1" dirty="0">
                <a:solidFill>
                  <a:schemeClr val="accent2"/>
                </a:solidFill>
              </a:rPr>
              <a:t>Lesson 10</a:t>
            </a:r>
            <a:endParaRPr lang="en-US" sz="1100" dirty="0"/>
          </a:p>
        </p:txBody>
      </p:sp>
      <p:sp>
        <p:nvSpPr>
          <p:cNvPr id="62" name="Text 59"/>
          <p:cNvSpPr txBox="1"/>
          <p:nvPr/>
        </p:nvSpPr>
        <p:spPr>
          <a:xfrm>
            <a:off x="7242048" y="3456432"/>
            <a:ext cx="1353312" cy="457200"/>
          </a:xfrm>
          <a:prstGeom prst="rect">
            <a:avLst/>
          </a:prstGeom>
          <a:noFill/>
          <a:ln/>
        </p:spPr>
        <p:txBody>
          <a:bodyPr wrap="square" lIns="0" tIns="0" rIns="0" bIns="0" rtlCol="0" anchor="t"/>
          <a:lstStyle/>
          <a:p>
            <a:pPr marL="0" indent="0">
              <a:buNone/>
            </a:pPr>
            <a:r>
              <a:rPr lang="en-US" sz="1400" b="1" dirty="0">
                <a:solidFill>
                  <a:schemeClr val="tx1"/>
                </a:solidFill>
                <a:latin typeface="Cambria" pitchFamily="34" charset="0"/>
                <a:ea typeface="Cambria" pitchFamily="34" charset="-122"/>
                <a:cs typeface="Cambria" pitchFamily="34" charset="-120"/>
              </a:rPr>
              <a:t>Sell and reorder</a:t>
            </a:r>
            <a:endParaRPr lang="en-US" sz="1400" dirty="0"/>
          </a:p>
        </p:txBody>
      </p:sp>
      <p:sp>
        <p:nvSpPr>
          <p:cNvPr id="63" name="Text 60"/>
          <p:cNvSpPr txBox="1"/>
          <p:nvPr/>
        </p:nvSpPr>
        <p:spPr>
          <a:xfrm>
            <a:off x="7242048" y="3931920"/>
            <a:ext cx="1353312" cy="411480"/>
          </a:xfrm>
          <a:prstGeom prst="rect">
            <a:avLst/>
          </a:prstGeom>
          <a:noFill/>
          <a:ln/>
        </p:spPr>
        <p:txBody>
          <a:bodyPr wrap="square" lIns="0" tIns="0" rIns="0" bIns="0" rtlCol="0" anchor="t"/>
          <a:lstStyle/>
          <a:p>
            <a:pPr marL="0" indent="0">
              <a:buNone/>
            </a:pPr>
            <a:r>
              <a:rPr lang="en-US" sz="1200" dirty="0">
                <a:solidFill>
                  <a:schemeClr val="tx1"/>
                </a:solidFill>
              </a:rPr>
              <a:t>Channels, stock, cash flow</a:t>
            </a:r>
            <a:endParaRPr lang="en-US" sz="1200" dirty="0"/>
          </a:p>
        </p:txBody>
      </p:sp>
      <p:sp>
        <p:nvSpPr>
          <p:cNvPr id="64" name="Text 61"/>
          <p:cNvSpPr txBox="1"/>
          <p:nvPr/>
        </p:nvSpPr>
        <p:spPr>
          <a:xfrm>
            <a:off x="457200" y="4526280"/>
            <a:ext cx="8229600" cy="228600"/>
          </a:xfrm>
          <a:prstGeom prst="rect">
            <a:avLst/>
          </a:prstGeom>
          <a:noFill/>
          <a:ln/>
        </p:spPr>
        <p:txBody>
          <a:bodyPr wrap="square" lIns="0" tIns="0" rIns="0" bIns="0" rtlCol="0" anchor="t"/>
          <a:lstStyle/>
          <a:p>
            <a:pPr marL="0" indent="0">
              <a:buNone/>
            </a:pPr>
            <a:r>
              <a:rPr lang="en-US" sz="1300" b="1" dirty="0">
                <a:solidFill>
                  <a:schemeClr val="accent2"/>
                </a:solidFill>
              </a:rPr>
              <a:t>Dark boxes protect your money: do the numbers before you spend, test small before you go big.</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Steps 1 and 2: choose and test the market</a:t>
            </a:r>
            <a:endParaRPr lang="en-US" sz="2800" dirty="0"/>
          </a:p>
        </p:txBody>
      </p:sp>
      <p:sp>
        <p:nvSpPr>
          <p:cNvPr id="4" name="card Demand"/>
          <p:cNvSpPr/>
          <p:nvPr/>
        </p:nvSpPr>
        <p:spPr>
          <a:xfrm>
            <a:off x="457200" y="1188720"/>
            <a:ext cx="2651760" cy="1508760"/>
          </a:xfrm>
          <a:prstGeom prst="roundRect">
            <a:avLst>
              <a:gd name="adj" fmla="val 6061"/>
            </a:avLst>
          </a:prstGeom>
          <a:solidFill>
            <a:schemeClr val="bg2"/>
          </a:solidFill>
          <a:ln w="12700">
            <a:solidFill>
              <a:schemeClr val="bg2"/>
            </a:solidFill>
            <a:prstDash val="solid"/>
          </a:ln>
        </p:spPr>
      </p:sp>
      <p:sp>
        <p:nvSpPr>
          <p:cNvPr id="5" name="icon-circle Demand"/>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ChartLine" descr="preencoded.png"/>
          <p:cNvPicPr>
            <a:picLocks noChangeAspect="1"/>
          </p:cNvPicPr>
          <p:nvPr/>
        </p:nvPicPr>
        <p:blipFill>
          <a:blip r:embed="rId3"/>
          <a:stretch>
            <a:fillRect/>
          </a:stretch>
        </p:blipFill>
        <p:spPr>
          <a:xfrm>
            <a:off x="740664" y="1472184"/>
            <a:ext cx="219456" cy="219456"/>
          </a:xfrm>
          <a:prstGeom prst="rect">
            <a:avLst/>
          </a:prstGeom>
        </p:spPr>
      </p:pic>
      <p:sp>
        <p:nvSpPr>
          <p:cNvPr id="7" name="Text 3"/>
          <p:cNvSpPr txBox="1"/>
          <p:nvPr/>
        </p:nvSpPr>
        <p:spPr>
          <a:xfrm>
            <a:off x="1207008" y="1335024"/>
            <a:ext cx="17373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Demand</a:t>
            </a:r>
            <a:endParaRPr lang="en-US" sz="1600" dirty="0"/>
          </a:p>
        </p:txBody>
      </p:sp>
      <p:sp>
        <p:nvSpPr>
          <p:cNvPr id="8" name="Text 4"/>
          <p:cNvSpPr txBox="1"/>
          <p:nvPr/>
        </p:nvSpPr>
        <p:spPr>
          <a:xfrm>
            <a:off x="1207008" y="1664208"/>
            <a:ext cx="1737360" cy="905256"/>
          </a:xfrm>
          <a:prstGeom prst="rect">
            <a:avLst/>
          </a:prstGeom>
          <a:noFill/>
          <a:ln/>
        </p:spPr>
        <p:txBody>
          <a:bodyPr wrap="square" lIns="0" tIns="0" rIns="0" bIns="0" rtlCol="0" anchor="t"/>
          <a:lstStyle/>
          <a:p>
            <a:pPr marL="0" indent="0">
              <a:buNone/>
            </a:pPr>
            <a:r>
              <a:rPr lang="en-US" sz="1400" dirty="0">
                <a:solidFill>
                  <a:schemeClr val="tx1"/>
                </a:solidFill>
              </a:rPr>
              <a:t>Are people already buying it again and again?</a:t>
            </a:r>
            <a:endParaRPr lang="en-US" sz="1400" dirty="0"/>
          </a:p>
        </p:txBody>
      </p:sp>
      <p:sp>
        <p:nvSpPr>
          <p:cNvPr id="9" name="card Gap"/>
          <p:cNvSpPr/>
          <p:nvPr/>
        </p:nvSpPr>
        <p:spPr>
          <a:xfrm>
            <a:off x="3291840" y="1188720"/>
            <a:ext cx="2651760" cy="1508760"/>
          </a:xfrm>
          <a:prstGeom prst="roundRect">
            <a:avLst>
              <a:gd name="adj" fmla="val 6061"/>
            </a:avLst>
          </a:prstGeom>
          <a:solidFill>
            <a:schemeClr val="bg2"/>
          </a:solidFill>
          <a:ln w="12700">
            <a:solidFill>
              <a:schemeClr val="bg2"/>
            </a:solidFill>
            <a:prstDash val="solid"/>
          </a:ln>
        </p:spPr>
      </p:sp>
      <p:sp>
        <p:nvSpPr>
          <p:cNvPr id="10" name="icon-circle Gap"/>
          <p:cNvSpPr/>
          <p:nvPr/>
        </p:nvSpPr>
        <p:spPr>
          <a:xfrm>
            <a:off x="3456432" y="1353312"/>
            <a:ext cx="457200" cy="457200"/>
          </a:xfrm>
          <a:prstGeom prst="ellipse">
            <a:avLst/>
          </a:prstGeom>
          <a:solidFill>
            <a:schemeClr val="accent6"/>
          </a:solidFill>
          <a:ln w="12700">
            <a:solidFill>
              <a:schemeClr val="accent6"/>
            </a:solidFill>
            <a:prstDash val="solid"/>
          </a:ln>
        </p:spPr>
      </p:sp>
      <p:pic>
        <p:nvPicPr>
          <p:cNvPr id="11" name="icon FaSearch" descr="preencoded.png"/>
          <p:cNvPicPr>
            <a:picLocks noChangeAspect="1"/>
          </p:cNvPicPr>
          <p:nvPr/>
        </p:nvPicPr>
        <p:blipFill>
          <a:blip r:embed="rId4"/>
          <a:stretch>
            <a:fillRect/>
          </a:stretch>
        </p:blipFill>
        <p:spPr>
          <a:xfrm>
            <a:off x="3575304" y="1472184"/>
            <a:ext cx="219456" cy="219456"/>
          </a:xfrm>
          <a:prstGeom prst="rect">
            <a:avLst/>
          </a:prstGeom>
        </p:spPr>
      </p:pic>
      <p:sp>
        <p:nvSpPr>
          <p:cNvPr id="12" name="Text 7"/>
          <p:cNvSpPr txBox="1"/>
          <p:nvPr/>
        </p:nvSpPr>
        <p:spPr>
          <a:xfrm>
            <a:off x="4041648" y="1335024"/>
            <a:ext cx="17373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Gap</a:t>
            </a:r>
            <a:endParaRPr lang="en-US" sz="1600" dirty="0"/>
          </a:p>
        </p:txBody>
      </p:sp>
      <p:sp>
        <p:nvSpPr>
          <p:cNvPr id="13" name="Text 8"/>
          <p:cNvSpPr txBox="1"/>
          <p:nvPr/>
        </p:nvSpPr>
        <p:spPr>
          <a:xfrm>
            <a:off x="4041648" y="1664208"/>
            <a:ext cx="1737360" cy="905256"/>
          </a:xfrm>
          <a:prstGeom prst="rect">
            <a:avLst/>
          </a:prstGeom>
          <a:noFill/>
          <a:ln/>
        </p:spPr>
        <p:txBody>
          <a:bodyPr wrap="square" lIns="0" tIns="0" rIns="0" bIns="0" rtlCol="0" anchor="t"/>
          <a:lstStyle/>
          <a:p>
            <a:pPr marL="0" indent="0">
              <a:buNone/>
            </a:pPr>
            <a:r>
              <a:rPr lang="en-US" sz="1400" dirty="0">
                <a:solidFill>
                  <a:schemeClr val="tx1"/>
                </a:solidFill>
              </a:rPr>
              <a:t>Is it overpriced, hard to find or badly presented locally?</a:t>
            </a:r>
            <a:endParaRPr lang="en-US" sz="1400" dirty="0"/>
          </a:p>
        </p:txBody>
      </p:sp>
      <p:sp>
        <p:nvSpPr>
          <p:cNvPr id="14" name="card Margin"/>
          <p:cNvSpPr/>
          <p:nvPr/>
        </p:nvSpPr>
        <p:spPr>
          <a:xfrm>
            <a:off x="6126480" y="1188720"/>
            <a:ext cx="2651760" cy="1508760"/>
          </a:xfrm>
          <a:prstGeom prst="roundRect">
            <a:avLst>
              <a:gd name="adj" fmla="val 6061"/>
            </a:avLst>
          </a:prstGeom>
          <a:solidFill>
            <a:schemeClr val="bg2"/>
          </a:solidFill>
          <a:ln w="12700">
            <a:solidFill>
              <a:schemeClr val="bg2"/>
            </a:solidFill>
            <a:prstDash val="solid"/>
          </a:ln>
        </p:spPr>
      </p:sp>
      <p:sp>
        <p:nvSpPr>
          <p:cNvPr id="15" name="icon-circle Margin"/>
          <p:cNvSpPr/>
          <p:nvPr/>
        </p:nvSpPr>
        <p:spPr>
          <a:xfrm>
            <a:off x="6291072" y="1353312"/>
            <a:ext cx="457200" cy="457200"/>
          </a:xfrm>
          <a:prstGeom prst="ellipse">
            <a:avLst/>
          </a:prstGeom>
          <a:solidFill>
            <a:schemeClr val="accent3"/>
          </a:solidFill>
          <a:ln w="12700">
            <a:solidFill>
              <a:schemeClr val="accent3"/>
            </a:solidFill>
            <a:prstDash val="solid"/>
          </a:ln>
        </p:spPr>
      </p:sp>
      <p:pic>
        <p:nvPicPr>
          <p:cNvPr id="16" name="icon FaMoneyBillWave" descr="preencoded.png"/>
          <p:cNvPicPr>
            <a:picLocks noChangeAspect="1"/>
          </p:cNvPicPr>
          <p:nvPr/>
        </p:nvPicPr>
        <p:blipFill>
          <a:blip r:embed="rId5"/>
          <a:stretch>
            <a:fillRect/>
          </a:stretch>
        </p:blipFill>
        <p:spPr>
          <a:xfrm>
            <a:off x="6409944" y="1472184"/>
            <a:ext cx="219456" cy="219456"/>
          </a:xfrm>
          <a:prstGeom prst="rect">
            <a:avLst/>
          </a:prstGeom>
        </p:spPr>
      </p:pic>
      <p:sp>
        <p:nvSpPr>
          <p:cNvPr id="17" name="Text 11"/>
          <p:cNvSpPr txBox="1"/>
          <p:nvPr/>
        </p:nvSpPr>
        <p:spPr>
          <a:xfrm>
            <a:off x="6876288" y="1335024"/>
            <a:ext cx="17373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Margin</a:t>
            </a:r>
            <a:endParaRPr lang="en-US" sz="1600" dirty="0"/>
          </a:p>
        </p:txBody>
      </p:sp>
      <p:sp>
        <p:nvSpPr>
          <p:cNvPr id="18" name="Text 12"/>
          <p:cNvSpPr txBox="1"/>
          <p:nvPr/>
        </p:nvSpPr>
        <p:spPr>
          <a:xfrm>
            <a:off x="6876288" y="1664208"/>
            <a:ext cx="1737360" cy="905256"/>
          </a:xfrm>
          <a:prstGeom prst="rect">
            <a:avLst/>
          </a:prstGeom>
          <a:noFill/>
          <a:ln/>
        </p:spPr>
        <p:txBody>
          <a:bodyPr wrap="square" lIns="0" tIns="0" rIns="0" bIns="0" rtlCol="0" anchor="t"/>
          <a:lstStyle/>
          <a:p>
            <a:pPr marL="0" indent="0">
              <a:buNone/>
            </a:pPr>
            <a:r>
              <a:rPr lang="en-US" sz="1400" dirty="0">
                <a:solidFill>
                  <a:schemeClr val="tx1"/>
                </a:solidFill>
              </a:rPr>
              <a:t>After every cost, is the profit worth the risk?</a:t>
            </a:r>
            <a:endParaRPr lang="en-US" sz="1400" dirty="0"/>
          </a:p>
        </p:txBody>
      </p:sp>
      <p:sp>
        <p:nvSpPr>
          <p:cNvPr id="19" name="tests panel"/>
          <p:cNvSpPr/>
          <p:nvPr/>
        </p:nvSpPr>
        <p:spPr>
          <a:xfrm>
            <a:off x="457200" y="2880360"/>
            <a:ext cx="8229600" cy="1691640"/>
          </a:xfrm>
          <a:prstGeom prst="roundRect">
            <a:avLst>
              <a:gd name="adj" fmla="val 5405"/>
            </a:avLst>
          </a:prstGeom>
          <a:solidFill>
            <a:srgbClr val="0B1F3A"/>
          </a:solidFill>
          <a:ln w="12700">
            <a:solidFill>
              <a:srgbClr val="0B1F3A"/>
            </a:solidFill>
            <a:prstDash val="solid"/>
          </a:ln>
        </p:spPr>
      </p:sp>
      <p:sp>
        <p:nvSpPr>
          <p:cNvPr id="20" name="Text 14"/>
          <p:cNvSpPr txBox="1"/>
          <p:nvPr/>
        </p:nvSpPr>
        <p:spPr>
          <a:xfrm>
            <a:off x="685800" y="3017520"/>
            <a:ext cx="777240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FOUR QUICK TESTS BEFORE YOU SPEND</a:t>
            </a:r>
            <a:endParaRPr lang="en-US" sz="1200" dirty="0"/>
          </a:p>
        </p:txBody>
      </p:sp>
      <p:sp>
        <p:nvSpPr>
          <p:cNvPr id="21" name="Text 15"/>
          <p:cNvSpPr txBox="1"/>
          <p:nvPr/>
        </p:nvSpPr>
        <p:spPr>
          <a:xfrm>
            <a:off x="685800" y="3383280"/>
            <a:ext cx="7772400" cy="10972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Search it on Jumia, Jiji, Instagram and Google</a:t>
            </a:r>
            <a:endParaRPr lang="en-US" sz="1400" dirty="0"/>
          </a:p>
          <a:p>
            <a:pPr marL="342900" indent="-342900">
              <a:spcAft>
                <a:spcPts val="300"/>
              </a:spcAft>
              <a:buSzPct val="100000"/>
              <a:buChar char="•"/>
            </a:pPr>
            <a:r>
              <a:rPr lang="en-US" sz="1400" dirty="0">
                <a:solidFill>
                  <a:schemeClr val="bg1"/>
                </a:solidFill>
              </a:rPr>
              <a:t>Read competitor reviews: repeated complaints are your gap</a:t>
            </a:r>
            <a:endParaRPr lang="en-US" sz="1400" dirty="0"/>
          </a:p>
          <a:p>
            <a:pPr marL="342900" indent="-342900">
              <a:spcAft>
                <a:spcPts val="300"/>
              </a:spcAft>
              <a:buSzPct val="100000"/>
              <a:buChar char="•"/>
            </a:pPr>
            <a:r>
              <a:rPr lang="en-US" sz="1400" dirty="0">
                <a:solidFill>
                  <a:schemeClr val="bg1"/>
                </a:solidFill>
              </a:rPr>
              <a:t>Ask ten possible customers what they would pay</a:t>
            </a:r>
            <a:endParaRPr lang="en-US" sz="1400" dirty="0"/>
          </a:p>
          <a:p>
            <a:pPr marL="342900" indent="-342900">
              <a:spcAft>
                <a:spcPts val="300"/>
              </a:spcAft>
              <a:buSzPct val="100000"/>
              <a:buChar char="•"/>
            </a:pPr>
            <a:r>
              <a:rPr lang="en-US" sz="1400" dirty="0">
                <a:solidFill>
                  <a:schemeClr val="bg1"/>
                </a:solidFill>
              </a:rPr>
              <a:t>Pre-sell with supplier sample photos and collect deposits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Pick small, light and legal</a:t>
            </a:r>
            <a:endParaRPr lang="en-US" sz="2800" dirty="0"/>
          </a:p>
        </p:txBody>
      </p:sp>
      <p:sp>
        <p:nvSpPr>
          <p:cNvPr id="4" name="good panel"/>
          <p:cNvSpPr/>
          <p:nvPr/>
        </p:nvSpPr>
        <p:spPr>
          <a:xfrm>
            <a:off x="457200" y="1188720"/>
            <a:ext cx="4023360" cy="2743200"/>
          </a:xfrm>
          <a:prstGeom prst="roundRect">
            <a:avLst>
              <a:gd name="adj" fmla="val 3333"/>
            </a:avLst>
          </a:prstGeom>
          <a:solidFill>
            <a:schemeClr val="bg2"/>
          </a:solidFill>
          <a:ln w="12700">
            <a:solidFill>
              <a:schemeClr val="bg2"/>
            </a:solidFill>
            <a:prstDash val="solid"/>
          </a:ln>
        </p:spPr>
      </p:sp>
      <p:sp>
        <p:nvSpPr>
          <p:cNvPr id="5" name="icon-circle good"/>
          <p:cNvSpPr/>
          <p:nvPr/>
        </p:nvSpPr>
        <p:spPr>
          <a:xfrm>
            <a:off x="640080" y="1325880"/>
            <a:ext cx="457200" cy="457200"/>
          </a:xfrm>
          <a:prstGeom prst="ellipse">
            <a:avLst/>
          </a:prstGeom>
          <a:solidFill>
            <a:schemeClr val="accent5"/>
          </a:solidFill>
          <a:ln w="12700">
            <a:solidFill>
              <a:schemeClr val="accent5"/>
            </a:solidFill>
            <a:prstDash val="solid"/>
          </a:ln>
        </p:spPr>
      </p:sp>
      <p:pic>
        <p:nvPicPr>
          <p:cNvPr id="6" name="icon FaCheckCircle" descr="preencoded.png"/>
          <p:cNvPicPr>
            <a:picLocks noChangeAspect="1"/>
          </p:cNvPicPr>
          <p:nvPr/>
        </p:nvPicPr>
        <p:blipFill>
          <a:blip r:embed="rId3"/>
          <a:stretch>
            <a:fillRect/>
          </a:stretch>
        </p:blipFill>
        <p:spPr>
          <a:xfrm>
            <a:off x="758952" y="1444752"/>
            <a:ext cx="219456" cy="219456"/>
          </a:xfrm>
          <a:prstGeom prst="rect">
            <a:avLst/>
          </a:prstGeom>
        </p:spPr>
      </p:pic>
      <p:sp>
        <p:nvSpPr>
          <p:cNvPr id="7" name="Text 3"/>
          <p:cNvSpPr txBox="1"/>
          <p:nvPr/>
        </p:nvSpPr>
        <p:spPr>
          <a:xfrm>
            <a:off x="1234440" y="1371600"/>
            <a:ext cx="31089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A good first product</a:t>
            </a:r>
            <a:endParaRPr lang="en-US" sz="1800" dirty="0"/>
          </a:p>
        </p:txBody>
      </p:sp>
      <p:sp>
        <p:nvSpPr>
          <p:cNvPr id="8" name="Text 4"/>
          <p:cNvSpPr txBox="1"/>
          <p:nvPr/>
        </p:nvSpPr>
        <p:spPr>
          <a:xfrm>
            <a:off x="685800" y="1920240"/>
            <a:ext cx="3611880" cy="1920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Small and light, cheap to ship</a:t>
            </a:r>
            <a:endParaRPr lang="en-US" sz="1500" dirty="0"/>
          </a:p>
          <a:p>
            <a:pPr marL="342900" indent="-342900">
              <a:spcAft>
                <a:spcPts val="400"/>
              </a:spcAft>
              <a:buSzPct val="100000"/>
              <a:buChar char="•"/>
            </a:pPr>
            <a:r>
              <a:rPr lang="en-US" sz="1500" dirty="0">
                <a:solidFill>
                  <a:schemeClr val="tx1"/>
                </a:solidFill>
              </a:rPr>
              <a:t>Durable, survives the journey</a:t>
            </a:r>
            <a:endParaRPr lang="en-US" sz="1500" dirty="0"/>
          </a:p>
          <a:p>
            <a:pPr marL="342900" indent="-342900">
              <a:spcAft>
                <a:spcPts val="400"/>
              </a:spcAft>
              <a:buSzPct val="100000"/>
              <a:buChar char="•"/>
            </a:pPr>
            <a:r>
              <a:rPr lang="en-US" sz="1500" dirty="0">
                <a:solidFill>
                  <a:schemeClr val="tx1"/>
                </a:solidFill>
              </a:rPr>
              <a:t>Already selling near you</a:t>
            </a:r>
            <a:endParaRPr lang="en-US" sz="1500" dirty="0"/>
          </a:p>
          <a:p>
            <a:pPr marL="342900" indent="-342900">
              <a:spcAft>
                <a:spcPts val="400"/>
              </a:spcAft>
              <a:buSzPct val="100000"/>
              <a:buChar char="•"/>
            </a:pPr>
            <a:r>
              <a:rPr lang="en-US" sz="1500" dirty="0">
                <a:solidFill>
                  <a:schemeClr val="tx1"/>
                </a:solidFill>
              </a:rPr>
              <a:t>Not heavily regulated</a:t>
            </a:r>
            <a:endParaRPr lang="en-US" sz="1500" dirty="0"/>
          </a:p>
          <a:p>
            <a:pPr marL="342900" indent="-342900">
              <a:spcAft>
                <a:spcPts val="400"/>
              </a:spcAft>
              <a:buSzPct val="100000"/>
              <a:buChar char="•"/>
            </a:pPr>
            <a:r>
              <a:rPr lang="en-US" sz="1500" dirty="0">
                <a:solidFill>
                  <a:schemeClr val="tx1"/>
                </a:solidFill>
              </a:rPr>
              <a:t>Margin you can prove on paper</a:t>
            </a:r>
            <a:endParaRPr lang="en-US" sz="1500" dirty="0"/>
          </a:p>
        </p:txBody>
      </p:sp>
      <p:sp>
        <p:nvSpPr>
          <p:cNvPr id="9" name="avoid panel"/>
          <p:cNvSpPr/>
          <p:nvPr/>
        </p:nvSpPr>
        <p:spPr>
          <a:xfrm>
            <a:off x="4663440" y="1188720"/>
            <a:ext cx="4023360" cy="2743200"/>
          </a:xfrm>
          <a:prstGeom prst="roundRect">
            <a:avLst>
              <a:gd name="adj" fmla="val 3333"/>
            </a:avLst>
          </a:prstGeom>
          <a:solidFill>
            <a:srgbClr val="FBEAE6"/>
          </a:solidFill>
          <a:ln w="12700">
            <a:solidFill>
              <a:srgbClr val="FBEAE6"/>
            </a:solidFill>
            <a:prstDash val="solid"/>
          </a:ln>
        </p:spPr>
      </p:sp>
      <p:sp>
        <p:nvSpPr>
          <p:cNvPr id="10" name="icon-circle avoid"/>
          <p:cNvSpPr/>
          <p:nvPr/>
        </p:nvSpPr>
        <p:spPr>
          <a:xfrm>
            <a:off x="4846320" y="1325880"/>
            <a:ext cx="457200" cy="457200"/>
          </a:xfrm>
          <a:prstGeom prst="ellipse">
            <a:avLst/>
          </a:prstGeom>
          <a:solidFill>
            <a:schemeClr val="accent3"/>
          </a:solidFill>
          <a:ln w="12700">
            <a:solidFill>
              <a:schemeClr val="accent3"/>
            </a:solidFill>
            <a:prstDash val="solid"/>
          </a:ln>
        </p:spPr>
      </p:sp>
      <p:pic>
        <p:nvPicPr>
          <p:cNvPr id="11" name="icon FaExclamationTriangle" descr="preencoded.png"/>
          <p:cNvPicPr>
            <a:picLocks noChangeAspect="1"/>
          </p:cNvPicPr>
          <p:nvPr/>
        </p:nvPicPr>
        <p:blipFill>
          <a:blip r:embed="rId4"/>
          <a:stretch>
            <a:fillRect/>
          </a:stretch>
        </p:blipFill>
        <p:spPr>
          <a:xfrm>
            <a:off x="4965192" y="1444752"/>
            <a:ext cx="219456" cy="219456"/>
          </a:xfrm>
          <a:prstGeom prst="rect">
            <a:avLst/>
          </a:prstGeom>
        </p:spPr>
      </p:pic>
      <p:sp>
        <p:nvSpPr>
          <p:cNvPr id="12" name="Text 7"/>
          <p:cNvSpPr txBox="1"/>
          <p:nvPr/>
        </p:nvSpPr>
        <p:spPr>
          <a:xfrm>
            <a:off x="5440680" y="1371600"/>
            <a:ext cx="3108960" cy="36576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Check before you buy</a:t>
            </a:r>
            <a:endParaRPr lang="en-US" sz="1800" dirty="0"/>
          </a:p>
        </p:txBody>
      </p:sp>
      <p:sp>
        <p:nvSpPr>
          <p:cNvPr id="13" name="Text 8"/>
          <p:cNvSpPr txBox="1"/>
          <p:nvPr/>
        </p:nvSpPr>
        <p:spPr>
          <a:xfrm>
            <a:off x="4892040" y="1920240"/>
            <a:ext cx="3611880" cy="192024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Banned or restricted goods</a:t>
            </a:r>
            <a:endParaRPr lang="en-US" sz="1500" dirty="0"/>
          </a:p>
          <a:p>
            <a:pPr marL="342900" indent="-342900">
              <a:spcAft>
                <a:spcPts val="400"/>
              </a:spcAft>
              <a:buSzPct val="100000"/>
              <a:buChar char="•"/>
            </a:pPr>
            <a:r>
              <a:rPr lang="en-US" sz="1500" dirty="0">
                <a:solidFill>
                  <a:schemeClr val="tx1"/>
                </a:solidFill>
              </a:rPr>
              <a:t>Food, drugs, cosmetics: NAFDAC</a:t>
            </a:r>
            <a:endParaRPr lang="en-US" sz="1500" dirty="0"/>
          </a:p>
          <a:p>
            <a:pPr marL="342900" indent="-342900">
              <a:spcAft>
                <a:spcPts val="400"/>
              </a:spcAft>
              <a:buSzPct val="100000"/>
              <a:buChar char="•"/>
            </a:pPr>
            <a:r>
              <a:rPr lang="en-US" sz="1500" dirty="0">
                <a:solidFill>
                  <a:schemeClr val="tx1"/>
                </a:solidFill>
              </a:rPr>
              <a:t>Electrical goods: SON standards</a:t>
            </a:r>
            <a:endParaRPr lang="en-US" sz="1500" dirty="0"/>
          </a:p>
          <a:p>
            <a:pPr marL="342900" indent="-342900">
              <a:spcAft>
                <a:spcPts val="400"/>
              </a:spcAft>
              <a:buSzPct val="100000"/>
              <a:buChar char="•"/>
            </a:pPr>
            <a:r>
              <a:rPr lang="en-US" sz="1500" dirty="0">
                <a:solidFill>
                  <a:schemeClr val="tx1"/>
                </a:solidFill>
              </a:rPr>
              <a:t>Fake brands (replicas): seizure</a:t>
            </a:r>
            <a:endParaRPr lang="en-US" sz="1500" dirty="0"/>
          </a:p>
          <a:p>
            <a:pPr marL="342900" indent="-342900">
              <a:spcAft>
                <a:spcPts val="400"/>
              </a:spcAft>
              <a:buSzPct val="100000"/>
              <a:buChar char="•"/>
            </a:pPr>
            <a:r>
              <a:rPr lang="en-US" sz="1500" dirty="0">
                <a:solidFill>
                  <a:schemeClr val="tx1"/>
                </a:solidFill>
              </a:rPr>
              <a:t>Batteries, liquids: shipping limits</a:t>
            </a:r>
            <a:endParaRPr lang="en-US" sz="1500" dirty="0"/>
          </a:p>
        </p:txBody>
      </p:sp>
      <p:sp>
        <p:nvSpPr>
          <p:cNvPr id="14" name="battery tip"/>
          <p:cNvSpPr/>
          <p:nvPr/>
        </p:nvSpPr>
        <p:spPr>
          <a:xfrm>
            <a:off x="457200" y="4114800"/>
            <a:ext cx="8229600" cy="457200"/>
          </a:xfrm>
          <a:prstGeom prst="roundRect">
            <a:avLst>
              <a:gd name="adj" fmla="val 16000"/>
            </a:avLst>
          </a:prstGeom>
          <a:solidFill>
            <a:srgbClr val="0B1F3A"/>
          </a:solidFill>
          <a:ln w="12700">
            <a:solidFill>
              <a:srgbClr val="0B1F3A"/>
            </a:solidFill>
            <a:prstDash val="solid"/>
          </a:ln>
        </p:spPr>
      </p:sp>
      <p:sp>
        <p:nvSpPr>
          <p:cNvPr id="15" name="Text 10"/>
          <p:cNvSpPr txBox="1"/>
          <p:nvPr/>
        </p:nvSpPr>
        <p:spPr>
          <a:xfrm>
            <a:off x="640080" y="4206240"/>
            <a:ext cx="7863840" cy="274320"/>
          </a:xfrm>
          <a:prstGeom prst="rect">
            <a:avLst/>
          </a:prstGeom>
          <a:noFill/>
          <a:ln/>
        </p:spPr>
        <p:txBody>
          <a:bodyPr wrap="square" lIns="0" tIns="0" rIns="0" bIns="0" rtlCol="0" anchor="t"/>
          <a:lstStyle/>
          <a:p>
            <a:pPr marL="0" indent="0">
              <a:buNone/>
            </a:pPr>
            <a:r>
              <a:rPr lang="en-US" sz="1400" b="1" dirty="0">
                <a:solidFill>
                  <a:schemeClr val="accent1"/>
                </a:solidFill>
              </a:rPr>
              <a:t>Tunde's power banks: </a:t>
            </a:r>
            <a:r>
              <a:rPr lang="en-US" sz="1400" dirty="0">
                <a:solidFill>
                  <a:schemeClr val="bg1"/>
                </a:solidFill>
              </a:rPr>
              <a:t>lithium batteries have airline limits. Ask the forwarder first.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3: where to find suppliers</a:t>
            </a:r>
            <a:endParaRPr lang="en-US" sz="2800" dirty="0"/>
          </a:p>
        </p:txBody>
      </p:sp>
      <p:pic>
        <p:nvPicPr>
          <p:cNvPr id="4" name="Yiwu International Trade Market, China" descr="Yiwu International Trade Market, China"/>
          <p:cNvPicPr>
            <a:picLocks noChangeAspect="1"/>
          </p:cNvPicPr>
          <p:nvPr/>
        </p:nvPicPr>
        <p:blipFill>
          <a:blip r:embed="rId3"/>
          <a:stretch>
            <a:fillRect/>
          </a:stretch>
        </p:blipFill>
        <p:spPr>
          <a:xfrm>
            <a:off x="5577840" y="1188720"/>
            <a:ext cx="3108960" cy="3017520"/>
          </a:xfrm>
          <a:prstGeom prst="rect">
            <a:avLst/>
          </a:prstGeom>
        </p:spPr>
      </p:pic>
      <p:sp>
        <p:nvSpPr>
          <p:cNvPr id="5" name="Text 1"/>
          <p:cNvSpPr txBox="1"/>
          <p:nvPr/>
        </p:nvSpPr>
        <p:spPr>
          <a:xfrm>
            <a:off x="5577840" y="4251960"/>
            <a:ext cx="3108960" cy="201168"/>
          </a:xfrm>
          <a:prstGeom prst="rect">
            <a:avLst/>
          </a:prstGeom>
          <a:noFill/>
          <a:ln/>
        </p:spPr>
        <p:txBody>
          <a:bodyPr wrap="square" lIns="0" tIns="0" rIns="0" bIns="0" rtlCol="0" anchor="t"/>
          <a:lstStyle/>
          <a:p>
            <a:pPr marL="0" indent="0">
              <a:buNone/>
            </a:pPr>
            <a:r>
              <a:rPr lang="en-US" sz="1000" i="1" dirty="0">
                <a:solidFill>
                  <a:schemeClr val="accent4"/>
                </a:solidFill>
              </a:rPr>
              <a:t>Yiwu market. Whisper of the heart, CC BY-SA 4.0</a:t>
            </a:r>
            <a:endParaRPr lang="en-US" sz="1000" dirty="0"/>
          </a:p>
        </p:txBody>
      </p:sp>
      <p:sp>
        <p:nvSpPr>
          <p:cNvPr id="6" name="row 0"/>
          <p:cNvSpPr/>
          <p:nvPr/>
        </p:nvSpPr>
        <p:spPr>
          <a:xfrm>
            <a:off x="457200" y="1188720"/>
            <a:ext cx="4846320" cy="4572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594360" y="129844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Alibaba.com</a:t>
            </a:r>
            <a:endParaRPr lang="en-US" sz="1400" dirty="0"/>
          </a:p>
        </p:txBody>
      </p:sp>
      <p:sp>
        <p:nvSpPr>
          <p:cNvPr id="8" name="Text 4"/>
          <p:cNvSpPr txBox="1"/>
          <p:nvPr/>
        </p:nvSpPr>
        <p:spPr>
          <a:xfrm>
            <a:off x="2926080" y="129844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Wholesale and customising</a:t>
            </a:r>
            <a:endParaRPr lang="en-US" sz="1200" dirty="0"/>
          </a:p>
        </p:txBody>
      </p:sp>
      <p:sp>
        <p:nvSpPr>
          <p:cNvPr id="9" name="row 1"/>
          <p:cNvSpPr/>
          <p:nvPr/>
        </p:nvSpPr>
        <p:spPr>
          <a:xfrm>
            <a:off x="457200" y="1737360"/>
            <a:ext cx="4846320" cy="457200"/>
          </a:xfrm>
          <a:prstGeom prst="roundRect">
            <a:avLst>
              <a:gd name="adj" fmla="val 12000"/>
            </a:avLst>
          </a:prstGeom>
          <a:solidFill>
            <a:srgbClr val="FFFFFF"/>
          </a:solidFill>
          <a:ln w="12700">
            <a:solidFill>
              <a:srgbClr val="FFFFFF"/>
            </a:solidFill>
            <a:prstDash val="solid"/>
          </a:ln>
        </p:spPr>
      </p:sp>
      <p:sp>
        <p:nvSpPr>
          <p:cNvPr id="10" name="Text 6"/>
          <p:cNvSpPr txBox="1"/>
          <p:nvPr/>
        </p:nvSpPr>
        <p:spPr>
          <a:xfrm>
            <a:off x="594360" y="184708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1688.com</a:t>
            </a:r>
            <a:endParaRPr lang="en-US" sz="1400" dirty="0"/>
          </a:p>
        </p:txBody>
      </p:sp>
      <p:sp>
        <p:nvSpPr>
          <p:cNvPr id="11" name="Text 7"/>
          <p:cNvSpPr txBox="1"/>
          <p:nvPr/>
        </p:nvSpPr>
        <p:spPr>
          <a:xfrm>
            <a:off x="2926080" y="184708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Lowest prices, needs an agent</a:t>
            </a:r>
            <a:endParaRPr lang="en-US" sz="1200" dirty="0"/>
          </a:p>
        </p:txBody>
      </p:sp>
      <p:sp>
        <p:nvSpPr>
          <p:cNvPr id="12" name="row 2"/>
          <p:cNvSpPr/>
          <p:nvPr/>
        </p:nvSpPr>
        <p:spPr>
          <a:xfrm>
            <a:off x="457200" y="2286000"/>
            <a:ext cx="4846320" cy="457200"/>
          </a:xfrm>
          <a:prstGeom prst="roundRect">
            <a:avLst>
              <a:gd name="adj" fmla="val 12000"/>
            </a:avLst>
          </a:prstGeom>
          <a:solidFill>
            <a:schemeClr val="bg2"/>
          </a:solidFill>
          <a:ln w="12700">
            <a:solidFill>
              <a:schemeClr val="bg2"/>
            </a:solidFill>
            <a:prstDash val="solid"/>
          </a:ln>
        </p:spPr>
      </p:sp>
      <p:sp>
        <p:nvSpPr>
          <p:cNvPr id="13" name="Text 9"/>
          <p:cNvSpPr txBox="1"/>
          <p:nvPr/>
        </p:nvSpPr>
        <p:spPr>
          <a:xfrm>
            <a:off x="594360" y="239572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AliExpress</a:t>
            </a:r>
            <a:endParaRPr lang="en-US" sz="1400" dirty="0"/>
          </a:p>
        </p:txBody>
      </p:sp>
      <p:sp>
        <p:nvSpPr>
          <p:cNvPr id="14" name="Text 10"/>
          <p:cNvSpPr txBox="1"/>
          <p:nvPr/>
        </p:nvSpPr>
        <p:spPr>
          <a:xfrm>
            <a:off x="2926080" y="239572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Very small test orders</a:t>
            </a:r>
            <a:endParaRPr lang="en-US" sz="1200" dirty="0"/>
          </a:p>
        </p:txBody>
      </p:sp>
      <p:sp>
        <p:nvSpPr>
          <p:cNvPr id="15" name="row 3"/>
          <p:cNvSpPr/>
          <p:nvPr/>
        </p:nvSpPr>
        <p:spPr>
          <a:xfrm>
            <a:off x="457200" y="2834640"/>
            <a:ext cx="4846320" cy="457200"/>
          </a:xfrm>
          <a:prstGeom prst="roundRect">
            <a:avLst>
              <a:gd name="adj" fmla="val 12000"/>
            </a:avLst>
          </a:prstGeom>
          <a:solidFill>
            <a:srgbClr val="FFFFFF"/>
          </a:solidFill>
          <a:ln w="12700">
            <a:solidFill>
              <a:srgbClr val="FFFFFF"/>
            </a:solidFill>
            <a:prstDash val="solid"/>
          </a:ln>
        </p:spPr>
      </p:sp>
      <p:sp>
        <p:nvSpPr>
          <p:cNvPr id="16" name="Text 12"/>
          <p:cNvSpPr txBox="1"/>
          <p:nvPr/>
        </p:nvSpPr>
        <p:spPr>
          <a:xfrm>
            <a:off x="594360" y="294436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Other B2B sites</a:t>
            </a:r>
            <a:endParaRPr lang="en-US" sz="1400" dirty="0"/>
          </a:p>
        </p:txBody>
      </p:sp>
      <p:sp>
        <p:nvSpPr>
          <p:cNvPr id="17" name="Text 13"/>
          <p:cNvSpPr txBox="1"/>
          <p:nvPr/>
        </p:nvSpPr>
        <p:spPr>
          <a:xfrm>
            <a:off x="2926080" y="294436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Made-in-China, Global Sources</a:t>
            </a:r>
            <a:endParaRPr lang="en-US" sz="1200" dirty="0"/>
          </a:p>
        </p:txBody>
      </p:sp>
      <p:sp>
        <p:nvSpPr>
          <p:cNvPr id="18" name="row 4"/>
          <p:cNvSpPr/>
          <p:nvPr/>
        </p:nvSpPr>
        <p:spPr>
          <a:xfrm>
            <a:off x="457200" y="3383280"/>
            <a:ext cx="4846320" cy="457200"/>
          </a:xfrm>
          <a:prstGeom prst="roundRect">
            <a:avLst>
              <a:gd name="adj" fmla="val 12000"/>
            </a:avLst>
          </a:prstGeom>
          <a:solidFill>
            <a:schemeClr val="bg2"/>
          </a:solidFill>
          <a:ln w="12700">
            <a:solidFill>
              <a:schemeClr val="bg2"/>
            </a:solidFill>
            <a:prstDash val="solid"/>
          </a:ln>
        </p:spPr>
      </p:sp>
      <p:sp>
        <p:nvSpPr>
          <p:cNvPr id="19" name="Text 15"/>
          <p:cNvSpPr txBox="1"/>
          <p:nvPr/>
        </p:nvSpPr>
        <p:spPr>
          <a:xfrm>
            <a:off x="594360" y="349300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Markets and trade fairs</a:t>
            </a:r>
            <a:endParaRPr lang="en-US" sz="1400" dirty="0"/>
          </a:p>
        </p:txBody>
      </p:sp>
      <p:sp>
        <p:nvSpPr>
          <p:cNvPr id="20" name="Text 16"/>
          <p:cNvSpPr txBox="1"/>
          <p:nvPr/>
        </p:nvSpPr>
        <p:spPr>
          <a:xfrm>
            <a:off x="2926080" y="349300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See and touch the goods</a:t>
            </a:r>
            <a:endParaRPr lang="en-US" sz="1200" dirty="0"/>
          </a:p>
        </p:txBody>
      </p:sp>
      <p:sp>
        <p:nvSpPr>
          <p:cNvPr id="21" name="row 5"/>
          <p:cNvSpPr/>
          <p:nvPr/>
        </p:nvSpPr>
        <p:spPr>
          <a:xfrm>
            <a:off x="457200" y="3931920"/>
            <a:ext cx="4846320" cy="457200"/>
          </a:xfrm>
          <a:prstGeom prst="roundRect">
            <a:avLst>
              <a:gd name="adj" fmla="val 12000"/>
            </a:avLst>
          </a:prstGeom>
          <a:solidFill>
            <a:srgbClr val="FFFFFF"/>
          </a:solidFill>
          <a:ln w="12700">
            <a:solidFill>
              <a:srgbClr val="FFFFFF"/>
            </a:solidFill>
            <a:prstDash val="solid"/>
          </a:ln>
        </p:spPr>
      </p:sp>
      <p:sp>
        <p:nvSpPr>
          <p:cNvPr id="22" name="Text 18"/>
          <p:cNvSpPr txBox="1"/>
          <p:nvPr/>
        </p:nvSpPr>
        <p:spPr>
          <a:xfrm>
            <a:off x="594360" y="4041648"/>
            <a:ext cx="2377440" cy="274320"/>
          </a:xfrm>
          <a:prstGeom prst="rect">
            <a:avLst/>
          </a:prstGeom>
          <a:noFill/>
          <a:ln/>
        </p:spPr>
        <p:txBody>
          <a:bodyPr wrap="square" lIns="0" tIns="0" rIns="0" bIns="0" rtlCol="0" anchor="ctr"/>
          <a:lstStyle/>
          <a:p>
            <a:pPr marL="0" indent="0">
              <a:buNone/>
            </a:pPr>
            <a:r>
              <a:rPr lang="en-US" sz="1400" b="1" dirty="0">
                <a:solidFill>
                  <a:schemeClr val="tx1"/>
                </a:solidFill>
              </a:rPr>
              <a:t>Sourcing agents</a:t>
            </a:r>
            <a:endParaRPr lang="en-US" sz="1400" dirty="0"/>
          </a:p>
        </p:txBody>
      </p:sp>
      <p:sp>
        <p:nvSpPr>
          <p:cNvPr id="23" name="Text 19"/>
          <p:cNvSpPr txBox="1"/>
          <p:nvPr/>
        </p:nvSpPr>
        <p:spPr>
          <a:xfrm>
            <a:off x="2926080" y="4041648"/>
            <a:ext cx="2331720" cy="274320"/>
          </a:xfrm>
          <a:prstGeom prst="rect">
            <a:avLst/>
          </a:prstGeom>
          <a:noFill/>
          <a:ln/>
        </p:spPr>
        <p:txBody>
          <a:bodyPr wrap="square" lIns="0" tIns="0" rIns="0" bIns="0" rtlCol="0" anchor="ctr"/>
          <a:lstStyle/>
          <a:p>
            <a:pPr marL="0" indent="0">
              <a:buNone/>
            </a:pPr>
            <a:r>
              <a:rPr lang="en-US" sz="1200" dirty="0">
                <a:solidFill>
                  <a:schemeClr val="accent2"/>
                </a:solidFill>
              </a:rPr>
              <a:t>Help for beginners, for a fee</a:t>
            </a:r>
            <a:endParaRPr lang="en-US" sz="1200" dirty="0"/>
          </a:p>
        </p:txBody>
      </p:sp>
      <p:sp>
        <p:nvSpPr>
          <p:cNvPr id="24" name="Text 20"/>
          <p:cNvSpPr txBox="1"/>
          <p:nvPr/>
        </p:nvSpPr>
        <p:spPr>
          <a:xfrm>
            <a:off x="457200" y="4526280"/>
            <a:ext cx="7315200" cy="228600"/>
          </a:xfrm>
          <a:prstGeom prst="rect">
            <a:avLst/>
          </a:prstGeom>
          <a:noFill/>
          <a:ln/>
        </p:spPr>
        <p:txBody>
          <a:bodyPr wrap="square" lIns="0" tIns="0" rIns="0" bIns="0" rtlCol="0" anchor="t"/>
          <a:lstStyle/>
          <a:p>
            <a:pPr marL="0" indent="0">
              <a:buNone/>
            </a:pPr>
            <a:r>
              <a:rPr lang="en-US" sz="1400" b="1" dirty="0">
                <a:solidFill>
                  <a:schemeClr val="accent6"/>
                </a:solidFill>
              </a:rPr>
              <a:t>Shortlist 3 to 5 suppliers. Send each the same enquiry.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Reading a supplier listing</a:t>
            </a:r>
            <a:endParaRPr lang="en-US" sz="2800" dirty="0"/>
          </a:p>
        </p:txBody>
      </p:sp>
      <p:sp>
        <p:nvSpPr>
          <p:cNvPr id="4" name="mock listing"/>
          <p:cNvSpPr/>
          <p:nvPr/>
        </p:nvSpPr>
        <p:spPr>
          <a:xfrm>
            <a:off x="457200" y="1188720"/>
            <a:ext cx="4023360" cy="3383280"/>
          </a:xfrm>
          <a:prstGeom prst="roundRect">
            <a:avLst>
              <a:gd name="adj" fmla="val 2703"/>
            </a:avLst>
          </a:prstGeom>
          <a:solidFill>
            <a:srgbClr val="FFFFFF"/>
          </a:solidFill>
          <a:ln w="15875">
            <a:solidFill>
              <a:srgbClr val="9FB4CC"/>
            </a:solidFill>
            <a:prstDash val="solid"/>
          </a:ln>
        </p:spPr>
      </p:sp>
      <p:sp>
        <p:nvSpPr>
          <p:cNvPr id="5" name="photo box"/>
          <p:cNvSpPr/>
          <p:nvPr/>
        </p:nvSpPr>
        <p:spPr>
          <a:xfrm>
            <a:off x="594360" y="1325880"/>
            <a:ext cx="1097280" cy="1005840"/>
          </a:xfrm>
          <a:prstGeom prst="roundRect">
            <a:avLst>
              <a:gd name="adj" fmla="val 5455"/>
            </a:avLst>
          </a:prstGeom>
          <a:solidFill>
            <a:srgbClr val="F6EBD3"/>
          </a:solidFill>
          <a:ln w="12700">
            <a:solidFill>
              <a:srgbClr val="F6EBD3"/>
            </a:solidFill>
            <a:prstDash val="solid"/>
          </a:ln>
        </p:spPr>
      </p:sp>
      <p:sp>
        <p:nvSpPr>
          <p:cNvPr id="6" name="Text 3"/>
          <p:cNvSpPr txBox="1"/>
          <p:nvPr/>
        </p:nvSpPr>
        <p:spPr>
          <a:xfrm>
            <a:off x="594360" y="1691640"/>
            <a:ext cx="1097280" cy="274320"/>
          </a:xfrm>
          <a:prstGeom prst="rect">
            <a:avLst/>
          </a:prstGeom>
          <a:noFill/>
          <a:ln/>
        </p:spPr>
        <p:txBody>
          <a:bodyPr wrap="square" lIns="0" tIns="0" rIns="0" bIns="0" rtlCol="0" anchor="t"/>
          <a:lstStyle/>
          <a:p>
            <a:pPr marL="0" indent="0" algn="ctr">
              <a:buNone/>
            </a:pPr>
            <a:r>
              <a:rPr lang="en-US" sz="1200" b="1" dirty="0">
                <a:solidFill>
                  <a:schemeClr val="accent6"/>
                </a:solidFill>
              </a:rPr>
              <a:t>Photos</a:t>
            </a:r>
            <a:endParaRPr lang="en-US" sz="1200" dirty="0"/>
          </a:p>
        </p:txBody>
      </p:sp>
      <p:sp>
        <p:nvSpPr>
          <p:cNvPr id="7" name="Text 4"/>
          <p:cNvSpPr txBox="1"/>
          <p:nvPr/>
        </p:nvSpPr>
        <p:spPr>
          <a:xfrm>
            <a:off x="1828800" y="1325880"/>
            <a:ext cx="2103120" cy="411480"/>
          </a:xfrm>
          <a:prstGeom prst="rect">
            <a:avLst/>
          </a:prstGeom>
          <a:noFill/>
          <a:ln/>
        </p:spPr>
        <p:txBody>
          <a:bodyPr wrap="square" lIns="0" tIns="0" rIns="0" bIns="0" rtlCol="0" anchor="t"/>
          <a:lstStyle/>
          <a:p>
            <a:pPr marL="0" indent="0">
              <a:buNone/>
            </a:pPr>
            <a:r>
              <a:rPr lang="en-US" sz="1300" b="1" dirty="0">
                <a:solidFill>
                  <a:schemeClr val="tx1"/>
                </a:solidFill>
              </a:rPr>
              <a:t>Wireless earbuds, Bluetooth 5.3</a:t>
            </a:r>
            <a:endParaRPr lang="en-US" sz="1300" dirty="0"/>
          </a:p>
        </p:txBody>
      </p:sp>
      <p:sp>
        <p:nvSpPr>
          <p:cNvPr id="8" name="tier box"/>
          <p:cNvSpPr/>
          <p:nvPr/>
        </p:nvSpPr>
        <p:spPr>
          <a:xfrm>
            <a:off x="1828800" y="1783080"/>
            <a:ext cx="2103120" cy="640080"/>
          </a:xfrm>
          <a:prstGeom prst="roundRect">
            <a:avLst>
              <a:gd name="adj" fmla="val 7143"/>
            </a:avLst>
          </a:prstGeom>
          <a:solidFill>
            <a:srgbClr val="EEF1F5"/>
          </a:solidFill>
          <a:ln w="12700">
            <a:solidFill>
              <a:srgbClr val="EEF1F5"/>
            </a:solidFill>
            <a:prstDash val="solid"/>
          </a:ln>
        </p:spPr>
      </p:sp>
      <p:sp>
        <p:nvSpPr>
          <p:cNvPr id="9" name="Text 6"/>
          <p:cNvSpPr txBox="1"/>
          <p:nvPr/>
        </p:nvSpPr>
        <p:spPr>
          <a:xfrm>
            <a:off x="1920240" y="1819656"/>
            <a:ext cx="1280160" cy="182880"/>
          </a:xfrm>
          <a:prstGeom prst="rect">
            <a:avLst/>
          </a:prstGeom>
          <a:noFill/>
          <a:ln/>
        </p:spPr>
        <p:txBody>
          <a:bodyPr wrap="square" lIns="0" tIns="0" rIns="0" bIns="0" rtlCol="0" anchor="t"/>
          <a:lstStyle/>
          <a:p>
            <a:pPr marL="0" indent="0">
              <a:buNone/>
            </a:pPr>
            <a:r>
              <a:rPr lang="en-US" sz="1100" dirty="0">
                <a:solidFill>
                  <a:schemeClr val="tx1"/>
                </a:solidFill>
              </a:rPr>
              <a:t>1-99 pcs</a:t>
            </a:r>
            <a:endParaRPr lang="en-US" sz="1100" dirty="0"/>
          </a:p>
        </p:txBody>
      </p:sp>
      <p:sp>
        <p:nvSpPr>
          <p:cNvPr id="10" name="Text 7"/>
          <p:cNvSpPr txBox="1"/>
          <p:nvPr/>
        </p:nvSpPr>
        <p:spPr>
          <a:xfrm>
            <a:off x="3200400" y="1819656"/>
            <a:ext cx="640080" cy="182880"/>
          </a:xfrm>
          <a:prstGeom prst="rect">
            <a:avLst/>
          </a:prstGeom>
          <a:noFill/>
          <a:ln/>
        </p:spPr>
        <p:txBody>
          <a:bodyPr wrap="square" lIns="0" tIns="0" rIns="0" bIns="0" rtlCol="0" anchor="t"/>
          <a:lstStyle/>
          <a:p>
            <a:pPr marL="0" indent="0" algn="r">
              <a:buNone/>
            </a:pPr>
            <a:r>
              <a:rPr lang="en-US" sz="1100" b="1" dirty="0">
                <a:solidFill>
                  <a:schemeClr val="tx1"/>
                </a:solidFill>
              </a:rPr>
              <a:t>$6.80</a:t>
            </a:r>
            <a:endParaRPr lang="en-US" sz="1100" dirty="0"/>
          </a:p>
        </p:txBody>
      </p:sp>
      <p:sp>
        <p:nvSpPr>
          <p:cNvPr id="11" name="Text 8"/>
          <p:cNvSpPr txBox="1"/>
          <p:nvPr/>
        </p:nvSpPr>
        <p:spPr>
          <a:xfrm>
            <a:off x="1920240" y="2011680"/>
            <a:ext cx="1280160" cy="182880"/>
          </a:xfrm>
          <a:prstGeom prst="rect">
            <a:avLst/>
          </a:prstGeom>
          <a:noFill/>
          <a:ln/>
        </p:spPr>
        <p:txBody>
          <a:bodyPr wrap="square" lIns="0" tIns="0" rIns="0" bIns="0" rtlCol="0" anchor="t"/>
          <a:lstStyle/>
          <a:p>
            <a:pPr marL="0" indent="0">
              <a:buNone/>
            </a:pPr>
            <a:r>
              <a:rPr lang="en-US" sz="1100" dirty="0">
                <a:solidFill>
                  <a:schemeClr val="tx1"/>
                </a:solidFill>
              </a:rPr>
              <a:t>100-499 pcs</a:t>
            </a:r>
            <a:endParaRPr lang="en-US" sz="1100" dirty="0"/>
          </a:p>
        </p:txBody>
      </p:sp>
      <p:sp>
        <p:nvSpPr>
          <p:cNvPr id="12" name="Text 9"/>
          <p:cNvSpPr txBox="1"/>
          <p:nvPr/>
        </p:nvSpPr>
        <p:spPr>
          <a:xfrm>
            <a:off x="3200400" y="2011680"/>
            <a:ext cx="640080" cy="182880"/>
          </a:xfrm>
          <a:prstGeom prst="rect">
            <a:avLst/>
          </a:prstGeom>
          <a:noFill/>
          <a:ln/>
        </p:spPr>
        <p:txBody>
          <a:bodyPr wrap="square" lIns="0" tIns="0" rIns="0" bIns="0" rtlCol="0" anchor="t"/>
          <a:lstStyle/>
          <a:p>
            <a:pPr marL="0" indent="0" algn="r">
              <a:buNone/>
            </a:pPr>
            <a:r>
              <a:rPr lang="en-US" sz="1100" b="1" dirty="0">
                <a:solidFill>
                  <a:schemeClr val="tx1"/>
                </a:solidFill>
              </a:rPr>
              <a:t>$5.90</a:t>
            </a:r>
            <a:endParaRPr lang="en-US" sz="1100" dirty="0"/>
          </a:p>
        </p:txBody>
      </p:sp>
      <p:sp>
        <p:nvSpPr>
          <p:cNvPr id="13" name="Text 10"/>
          <p:cNvSpPr txBox="1"/>
          <p:nvPr/>
        </p:nvSpPr>
        <p:spPr>
          <a:xfrm>
            <a:off x="1920240" y="2203704"/>
            <a:ext cx="1280160" cy="182880"/>
          </a:xfrm>
          <a:prstGeom prst="rect">
            <a:avLst/>
          </a:prstGeom>
          <a:noFill/>
          <a:ln/>
        </p:spPr>
        <p:txBody>
          <a:bodyPr wrap="square" lIns="0" tIns="0" rIns="0" bIns="0" rtlCol="0" anchor="t"/>
          <a:lstStyle/>
          <a:p>
            <a:pPr marL="0" indent="0">
              <a:buNone/>
            </a:pPr>
            <a:r>
              <a:rPr lang="en-US" sz="1100" dirty="0">
                <a:solidFill>
                  <a:schemeClr val="tx1"/>
                </a:solidFill>
              </a:rPr>
              <a:t>500+ pcs</a:t>
            </a:r>
            <a:endParaRPr lang="en-US" sz="1100" dirty="0"/>
          </a:p>
        </p:txBody>
      </p:sp>
      <p:sp>
        <p:nvSpPr>
          <p:cNvPr id="14" name="Text 11"/>
          <p:cNvSpPr txBox="1"/>
          <p:nvPr/>
        </p:nvSpPr>
        <p:spPr>
          <a:xfrm>
            <a:off x="3200400" y="2203704"/>
            <a:ext cx="640080" cy="182880"/>
          </a:xfrm>
          <a:prstGeom prst="rect">
            <a:avLst/>
          </a:prstGeom>
          <a:noFill/>
          <a:ln/>
        </p:spPr>
        <p:txBody>
          <a:bodyPr wrap="square" lIns="0" tIns="0" rIns="0" bIns="0" rtlCol="0" anchor="t"/>
          <a:lstStyle/>
          <a:p>
            <a:pPr marL="0" indent="0" algn="r">
              <a:buNone/>
            </a:pPr>
            <a:r>
              <a:rPr lang="en-US" sz="1100" b="1" dirty="0">
                <a:solidFill>
                  <a:schemeClr val="tx1"/>
                </a:solidFill>
              </a:rPr>
              <a:t>$5.20</a:t>
            </a:r>
            <a:endParaRPr lang="en-US" sz="1100" dirty="0"/>
          </a:p>
        </p:txBody>
      </p:sp>
      <p:sp>
        <p:nvSpPr>
          <p:cNvPr id="15" name="Text 12"/>
          <p:cNvSpPr txBox="1"/>
          <p:nvPr/>
        </p:nvSpPr>
        <p:spPr>
          <a:xfrm>
            <a:off x="594360" y="2560320"/>
            <a:ext cx="3291840" cy="274320"/>
          </a:xfrm>
          <a:prstGeom prst="rect">
            <a:avLst/>
          </a:prstGeom>
          <a:noFill/>
          <a:ln/>
        </p:spPr>
        <p:txBody>
          <a:bodyPr wrap="square" lIns="0" tIns="0" rIns="0" bIns="0" rtlCol="0" anchor="t"/>
          <a:lstStyle/>
          <a:p>
            <a:pPr marL="0" indent="0">
              <a:buNone/>
            </a:pPr>
            <a:r>
              <a:rPr lang="en-US" sz="1400" b="1" dirty="0">
                <a:solidFill>
                  <a:schemeClr val="tx1"/>
                </a:solidFill>
              </a:rPr>
              <a:t>Minimum order: 100 pieces</a:t>
            </a:r>
            <a:endParaRPr lang="en-US" sz="1400" dirty="0"/>
          </a:p>
        </p:txBody>
      </p:sp>
      <p:sp>
        <p:nvSpPr>
          <p:cNvPr id="16" name="Text 13"/>
          <p:cNvSpPr txBox="1"/>
          <p:nvPr/>
        </p:nvSpPr>
        <p:spPr>
          <a:xfrm>
            <a:off x="594360" y="2926080"/>
            <a:ext cx="3383280" cy="457200"/>
          </a:xfrm>
          <a:prstGeom prst="rect">
            <a:avLst/>
          </a:prstGeom>
          <a:noFill/>
          <a:ln/>
        </p:spPr>
        <p:txBody>
          <a:bodyPr wrap="square" lIns="0" tIns="0" rIns="0" bIns="0" rtlCol="0" anchor="t"/>
          <a:lstStyle/>
          <a:p>
            <a:pPr marL="0" indent="0">
              <a:buNone/>
            </a:pPr>
            <a:r>
              <a:rPr lang="en-US" sz="1200" b="1" dirty="0">
                <a:solidFill>
                  <a:schemeClr val="tx1"/>
                </a:solidFill>
              </a:rPr>
              <a:t>Shenzhen Example Electronics Co.</a:t>
            </a:r>
            <a:endParaRPr lang="en-US" sz="1200" dirty="0"/>
          </a:p>
          <a:p>
            <a:pPr marL="0" indent="0">
              <a:buNone/>
            </a:pPr>
            <a:r>
              <a:rPr lang="en-US" sz="1200" dirty="0">
                <a:solidFill>
                  <a:schemeClr val="accent4"/>
                </a:solidFill>
              </a:rPr>
              <a:t>Manufacturer | 8 years | Verified</a:t>
            </a:r>
            <a:endParaRPr lang="en-US" sz="1200" dirty="0"/>
          </a:p>
        </p:txBody>
      </p:sp>
      <p:sp>
        <p:nvSpPr>
          <p:cNvPr id="17" name="Text 14"/>
          <p:cNvSpPr txBox="1"/>
          <p:nvPr/>
        </p:nvSpPr>
        <p:spPr>
          <a:xfrm>
            <a:off x="594360" y="3474720"/>
            <a:ext cx="3383280" cy="274320"/>
          </a:xfrm>
          <a:prstGeom prst="rect">
            <a:avLst/>
          </a:prstGeom>
          <a:noFill/>
          <a:ln/>
        </p:spPr>
        <p:txBody>
          <a:bodyPr wrap="square" lIns="0" tIns="0" rIns="0" bIns="0" rtlCol="0" anchor="t"/>
          <a:lstStyle/>
          <a:p>
            <a:pPr marL="0" indent="0">
              <a:buNone/>
            </a:pPr>
            <a:r>
              <a:rPr lang="en-US" sz="1200" dirty="0">
                <a:solidFill>
                  <a:schemeClr val="tx1"/>
                </a:solidFill>
              </a:rPr>
              <a:t>Samples available | Logo printing</a:t>
            </a:r>
            <a:endParaRPr lang="en-US" sz="1200" dirty="0"/>
          </a:p>
        </p:txBody>
      </p:sp>
      <p:sp>
        <p:nvSpPr>
          <p:cNvPr id="18" name="Text 15"/>
          <p:cNvSpPr txBox="1"/>
          <p:nvPr/>
        </p:nvSpPr>
        <p:spPr>
          <a:xfrm>
            <a:off x="594360" y="3749040"/>
            <a:ext cx="3383280" cy="274320"/>
          </a:xfrm>
          <a:prstGeom prst="rect">
            <a:avLst/>
          </a:prstGeom>
          <a:noFill/>
          <a:ln/>
        </p:spPr>
        <p:txBody>
          <a:bodyPr wrap="square" lIns="0" tIns="0" rIns="0" bIns="0" rtlCol="0" anchor="t"/>
          <a:lstStyle/>
          <a:p>
            <a:pPr marL="0" indent="0">
              <a:buNone/>
            </a:pPr>
            <a:r>
              <a:rPr lang="en-US" sz="1200" dirty="0">
                <a:solidFill>
                  <a:schemeClr val="tx1"/>
                </a:solidFill>
              </a:rPr>
              <a:t>Order protection: payment held</a:t>
            </a:r>
            <a:endParaRPr lang="en-US" sz="1200" dirty="0"/>
          </a:p>
        </p:txBody>
      </p:sp>
      <p:sp>
        <p:nvSpPr>
          <p:cNvPr id="19" name="contact button"/>
          <p:cNvSpPr/>
          <p:nvPr/>
        </p:nvSpPr>
        <p:spPr>
          <a:xfrm>
            <a:off x="594360" y="4114800"/>
            <a:ext cx="3383280" cy="347472"/>
          </a:xfrm>
          <a:prstGeom prst="roundRect">
            <a:avLst>
              <a:gd name="adj" fmla="val 15789"/>
            </a:avLst>
          </a:prstGeom>
          <a:solidFill>
            <a:schemeClr val="accent5"/>
          </a:solidFill>
          <a:ln w="12700">
            <a:solidFill>
              <a:schemeClr val="accent5"/>
            </a:solidFill>
            <a:prstDash val="solid"/>
          </a:ln>
        </p:spPr>
      </p:sp>
      <p:sp>
        <p:nvSpPr>
          <p:cNvPr id="20" name="Text 17"/>
          <p:cNvSpPr txBox="1"/>
          <p:nvPr/>
        </p:nvSpPr>
        <p:spPr>
          <a:xfrm>
            <a:off x="594360" y="4114800"/>
            <a:ext cx="3383280" cy="347472"/>
          </a:xfrm>
          <a:prstGeom prst="rect">
            <a:avLst/>
          </a:prstGeom>
          <a:noFill/>
          <a:ln/>
        </p:spPr>
        <p:txBody>
          <a:bodyPr wrap="square" lIns="0" tIns="0" rIns="0" bIns="0" rtlCol="0" anchor="ctr"/>
          <a:lstStyle/>
          <a:p>
            <a:pPr marL="0" indent="0" algn="ctr">
              <a:buNone/>
            </a:pPr>
            <a:r>
              <a:rPr lang="en-US" sz="1300" b="1" dirty="0">
                <a:solidFill>
                  <a:srgbClr val="FFFFFF"/>
                </a:solidFill>
              </a:rPr>
              <a:t>Contact supplier</a:t>
            </a:r>
            <a:endParaRPr lang="en-US" sz="1300" dirty="0"/>
          </a:p>
        </p:txBody>
      </p:sp>
      <p:sp>
        <p:nvSpPr>
          <p:cNvPr id="21" name="marker 1"/>
          <p:cNvSpPr/>
          <p:nvPr/>
        </p:nvSpPr>
        <p:spPr>
          <a:xfrm>
            <a:off x="4069080" y="1371600"/>
            <a:ext cx="256032" cy="256032"/>
          </a:xfrm>
          <a:prstGeom prst="ellipse">
            <a:avLst/>
          </a:prstGeom>
          <a:solidFill>
            <a:schemeClr val="accent6"/>
          </a:solidFill>
          <a:ln w="12700">
            <a:solidFill>
              <a:schemeClr val="accent6"/>
            </a:solidFill>
            <a:prstDash val="solid"/>
          </a:ln>
        </p:spPr>
      </p:sp>
      <p:sp>
        <p:nvSpPr>
          <p:cNvPr id="22" name="Text 19"/>
          <p:cNvSpPr txBox="1"/>
          <p:nvPr/>
        </p:nvSpPr>
        <p:spPr>
          <a:xfrm>
            <a:off x="4069080" y="13716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3" name="marker 2"/>
          <p:cNvSpPr/>
          <p:nvPr/>
        </p:nvSpPr>
        <p:spPr>
          <a:xfrm>
            <a:off x="4069080" y="1828800"/>
            <a:ext cx="256032" cy="256032"/>
          </a:xfrm>
          <a:prstGeom prst="ellipse">
            <a:avLst/>
          </a:prstGeom>
          <a:solidFill>
            <a:schemeClr val="accent6"/>
          </a:solidFill>
          <a:ln w="12700">
            <a:solidFill>
              <a:schemeClr val="accent6"/>
            </a:solidFill>
            <a:prstDash val="solid"/>
          </a:ln>
        </p:spPr>
      </p:sp>
      <p:sp>
        <p:nvSpPr>
          <p:cNvPr id="24" name="Text 21"/>
          <p:cNvSpPr txBox="1"/>
          <p:nvPr/>
        </p:nvSpPr>
        <p:spPr>
          <a:xfrm>
            <a:off x="4069080" y="182880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5" name="marker 3"/>
          <p:cNvSpPr/>
          <p:nvPr/>
        </p:nvSpPr>
        <p:spPr>
          <a:xfrm>
            <a:off x="4069080" y="2606040"/>
            <a:ext cx="256032" cy="256032"/>
          </a:xfrm>
          <a:prstGeom prst="ellipse">
            <a:avLst/>
          </a:prstGeom>
          <a:solidFill>
            <a:schemeClr val="accent6"/>
          </a:solidFill>
          <a:ln w="12700">
            <a:solidFill>
              <a:schemeClr val="accent6"/>
            </a:solidFill>
            <a:prstDash val="solid"/>
          </a:ln>
        </p:spPr>
      </p:sp>
      <p:sp>
        <p:nvSpPr>
          <p:cNvPr id="26" name="Text 23"/>
          <p:cNvSpPr txBox="1"/>
          <p:nvPr/>
        </p:nvSpPr>
        <p:spPr>
          <a:xfrm>
            <a:off x="4069080" y="260604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7" name="marker 4"/>
          <p:cNvSpPr/>
          <p:nvPr/>
        </p:nvSpPr>
        <p:spPr>
          <a:xfrm>
            <a:off x="4069080" y="3017520"/>
            <a:ext cx="256032" cy="256032"/>
          </a:xfrm>
          <a:prstGeom prst="ellipse">
            <a:avLst/>
          </a:prstGeom>
          <a:solidFill>
            <a:schemeClr val="accent6"/>
          </a:solidFill>
          <a:ln w="12700">
            <a:solidFill>
              <a:schemeClr val="accent6"/>
            </a:solidFill>
            <a:prstDash val="solid"/>
          </a:ln>
        </p:spPr>
      </p:sp>
      <p:sp>
        <p:nvSpPr>
          <p:cNvPr id="28" name="Text 25"/>
          <p:cNvSpPr txBox="1"/>
          <p:nvPr/>
        </p:nvSpPr>
        <p:spPr>
          <a:xfrm>
            <a:off x="4069080" y="3017520"/>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9" name="marker 5"/>
          <p:cNvSpPr/>
          <p:nvPr/>
        </p:nvSpPr>
        <p:spPr>
          <a:xfrm>
            <a:off x="4069080" y="3456432"/>
            <a:ext cx="256032" cy="256032"/>
          </a:xfrm>
          <a:prstGeom prst="ellipse">
            <a:avLst/>
          </a:prstGeom>
          <a:solidFill>
            <a:schemeClr val="accent6"/>
          </a:solidFill>
          <a:ln w="12700">
            <a:solidFill>
              <a:schemeClr val="accent6"/>
            </a:solidFill>
            <a:prstDash val="solid"/>
          </a:ln>
        </p:spPr>
      </p:sp>
      <p:sp>
        <p:nvSpPr>
          <p:cNvPr id="30" name="Text 27"/>
          <p:cNvSpPr txBox="1"/>
          <p:nvPr/>
        </p:nvSpPr>
        <p:spPr>
          <a:xfrm>
            <a:off x="4069080" y="3456432"/>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1" name="marker 6"/>
          <p:cNvSpPr/>
          <p:nvPr/>
        </p:nvSpPr>
        <p:spPr>
          <a:xfrm>
            <a:off x="4069080" y="3767328"/>
            <a:ext cx="256032" cy="256032"/>
          </a:xfrm>
          <a:prstGeom prst="ellipse">
            <a:avLst/>
          </a:prstGeom>
          <a:solidFill>
            <a:schemeClr val="accent6"/>
          </a:solidFill>
          <a:ln w="12700">
            <a:solidFill>
              <a:schemeClr val="accent6"/>
            </a:solidFill>
            <a:prstDash val="solid"/>
          </a:ln>
        </p:spPr>
      </p:sp>
      <p:sp>
        <p:nvSpPr>
          <p:cNvPr id="32" name="Text 29"/>
          <p:cNvSpPr txBox="1"/>
          <p:nvPr/>
        </p:nvSpPr>
        <p:spPr>
          <a:xfrm>
            <a:off x="4069080" y="3767328"/>
            <a:ext cx="274320" cy="274320"/>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3" name="note num"/>
          <p:cNvSpPr/>
          <p:nvPr/>
        </p:nvSpPr>
        <p:spPr>
          <a:xfrm>
            <a:off x="4754880" y="1261872"/>
            <a:ext cx="329184" cy="329184"/>
          </a:xfrm>
          <a:prstGeom prst="ellipse">
            <a:avLst/>
          </a:prstGeom>
          <a:solidFill>
            <a:schemeClr val="accent6"/>
          </a:solidFill>
          <a:ln w="12700">
            <a:solidFill>
              <a:schemeClr val="accent6"/>
            </a:solidFill>
            <a:prstDash val="solid"/>
          </a:ln>
        </p:spPr>
      </p:sp>
      <p:sp>
        <p:nvSpPr>
          <p:cNvPr id="34" name="Text 31"/>
          <p:cNvSpPr txBox="1"/>
          <p:nvPr/>
        </p:nvSpPr>
        <p:spPr>
          <a:xfrm>
            <a:off x="4754880" y="126187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35" name="Text 32"/>
          <p:cNvSpPr txBox="1"/>
          <p:nvPr/>
        </p:nvSpPr>
        <p:spPr>
          <a:xfrm>
            <a:off x="5257800" y="1207008"/>
            <a:ext cx="3429000" cy="475488"/>
          </a:xfrm>
          <a:prstGeom prst="rect">
            <a:avLst/>
          </a:prstGeom>
          <a:noFill/>
          <a:ln/>
        </p:spPr>
        <p:txBody>
          <a:bodyPr wrap="square" lIns="0" tIns="0" rIns="0" bIns="0" rtlCol="0" anchor="t"/>
          <a:lstStyle/>
          <a:p>
            <a:pPr marL="0" indent="0">
              <a:buNone/>
            </a:pPr>
            <a:r>
              <a:rPr lang="en-US" sz="1400" b="1" dirty="0">
                <a:solidFill>
                  <a:schemeClr val="tx1"/>
                </a:solidFill>
              </a:rPr>
              <a:t>Title and photos</a:t>
            </a:r>
            <a:endParaRPr lang="en-US" sz="1400" dirty="0"/>
          </a:p>
          <a:p>
            <a:pPr marL="0" indent="0">
              <a:buNone/>
            </a:pPr>
            <a:r>
              <a:rPr lang="en-US" sz="1200" dirty="0">
                <a:solidFill>
                  <a:schemeClr val="accent2"/>
                </a:solidFill>
              </a:rPr>
              <a:t>Do they match? Ask for real photos.</a:t>
            </a:r>
            <a:endParaRPr lang="en-US" sz="1400" dirty="0"/>
          </a:p>
        </p:txBody>
      </p:sp>
      <p:sp>
        <p:nvSpPr>
          <p:cNvPr id="36" name="note num"/>
          <p:cNvSpPr/>
          <p:nvPr/>
        </p:nvSpPr>
        <p:spPr>
          <a:xfrm>
            <a:off x="4754880" y="1828800"/>
            <a:ext cx="329184" cy="329184"/>
          </a:xfrm>
          <a:prstGeom prst="ellipse">
            <a:avLst/>
          </a:prstGeom>
          <a:solidFill>
            <a:schemeClr val="accent6"/>
          </a:solidFill>
          <a:ln w="12700">
            <a:solidFill>
              <a:schemeClr val="accent6"/>
            </a:solidFill>
            <a:prstDash val="solid"/>
          </a:ln>
        </p:spPr>
      </p:sp>
      <p:sp>
        <p:nvSpPr>
          <p:cNvPr id="37" name="Text 34"/>
          <p:cNvSpPr txBox="1"/>
          <p:nvPr/>
        </p:nvSpPr>
        <p:spPr>
          <a:xfrm>
            <a:off x="4754880" y="18288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38" name="Text 35"/>
          <p:cNvSpPr txBox="1"/>
          <p:nvPr/>
        </p:nvSpPr>
        <p:spPr>
          <a:xfrm>
            <a:off x="5257800" y="1773936"/>
            <a:ext cx="3429000" cy="475488"/>
          </a:xfrm>
          <a:prstGeom prst="rect">
            <a:avLst/>
          </a:prstGeom>
          <a:noFill/>
          <a:ln/>
        </p:spPr>
        <p:txBody>
          <a:bodyPr wrap="square" lIns="0" tIns="0" rIns="0" bIns="0" rtlCol="0" anchor="t"/>
          <a:lstStyle/>
          <a:p>
            <a:pPr marL="0" indent="0">
              <a:buNone/>
            </a:pPr>
            <a:r>
              <a:rPr lang="en-US" sz="1400" b="1" dirty="0">
                <a:solidFill>
                  <a:schemeClr val="tx1"/>
                </a:solidFill>
              </a:rPr>
              <a:t>Price tiers</a:t>
            </a:r>
            <a:endParaRPr lang="en-US" sz="1400" dirty="0"/>
          </a:p>
          <a:p>
            <a:pPr marL="0" indent="0">
              <a:buNone/>
            </a:pPr>
            <a:r>
              <a:rPr lang="en-US" sz="1200" dirty="0">
                <a:solidFill>
                  <a:schemeClr val="accent2"/>
                </a:solidFill>
              </a:rPr>
              <a:t>Price falls as you buy more. Plan your tier.</a:t>
            </a:r>
            <a:endParaRPr lang="en-US" sz="1400" dirty="0"/>
          </a:p>
        </p:txBody>
      </p:sp>
      <p:sp>
        <p:nvSpPr>
          <p:cNvPr id="39" name="note num"/>
          <p:cNvSpPr/>
          <p:nvPr/>
        </p:nvSpPr>
        <p:spPr>
          <a:xfrm>
            <a:off x="4754880" y="2395728"/>
            <a:ext cx="329184" cy="329184"/>
          </a:xfrm>
          <a:prstGeom prst="ellipse">
            <a:avLst/>
          </a:prstGeom>
          <a:solidFill>
            <a:schemeClr val="accent6"/>
          </a:solidFill>
          <a:ln w="12700">
            <a:solidFill>
              <a:schemeClr val="accent6"/>
            </a:solidFill>
            <a:prstDash val="solid"/>
          </a:ln>
        </p:spPr>
      </p:sp>
      <p:sp>
        <p:nvSpPr>
          <p:cNvPr id="40" name="Text 37"/>
          <p:cNvSpPr txBox="1"/>
          <p:nvPr/>
        </p:nvSpPr>
        <p:spPr>
          <a:xfrm>
            <a:off x="4754880" y="239572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41" name="Text 38"/>
          <p:cNvSpPr txBox="1"/>
          <p:nvPr/>
        </p:nvSpPr>
        <p:spPr>
          <a:xfrm>
            <a:off x="5257800" y="2340864"/>
            <a:ext cx="3429000" cy="475488"/>
          </a:xfrm>
          <a:prstGeom prst="rect">
            <a:avLst/>
          </a:prstGeom>
          <a:noFill/>
          <a:ln/>
        </p:spPr>
        <p:txBody>
          <a:bodyPr wrap="square" lIns="0" tIns="0" rIns="0" bIns="0" rtlCol="0" anchor="t"/>
          <a:lstStyle/>
          <a:p>
            <a:pPr marL="0" indent="0">
              <a:buNone/>
            </a:pPr>
            <a:r>
              <a:rPr lang="en-US" sz="1400" b="1" dirty="0">
                <a:solidFill>
                  <a:schemeClr val="tx1"/>
                </a:solidFill>
              </a:rPr>
              <a:t>Minimum order</a:t>
            </a:r>
            <a:endParaRPr lang="en-US" sz="1400" dirty="0"/>
          </a:p>
          <a:p>
            <a:pPr marL="0" indent="0">
              <a:buNone/>
            </a:pPr>
            <a:r>
              <a:rPr lang="en-US" sz="1200" dirty="0">
                <a:solidFill>
                  <a:schemeClr val="accent2"/>
                </a:solidFill>
              </a:rPr>
              <a:t>Does your first order fit your budget?</a:t>
            </a:r>
            <a:endParaRPr lang="en-US" sz="1400" dirty="0"/>
          </a:p>
        </p:txBody>
      </p:sp>
      <p:sp>
        <p:nvSpPr>
          <p:cNvPr id="42" name="note num"/>
          <p:cNvSpPr/>
          <p:nvPr/>
        </p:nvSpPr>
        <p:spPr>
          <a:xfrm>
            <a:off x="4754880" y="2962656"/>
            <a:ext cx="329184" cy="329184"/>
          </a:xfrm>
          <a:prstGeom prst="ellipse">
            <a:avLst/>
          </a:prstGeom>
          <a:solidFill>
            <a:schemeClr val="accent6"/>
          </a:solidFill>
          <a:ln w="12700">
            <a:solidFill>
              <a:schemeClr val="accent6"/>
            </a:solidFill>
            <a:prstDash val="solid"/>
          </a:ln>
        </p:spPr>
      </p:sp>
      <p:sp>
        <p:nvSpPr>
          <p:cNvPr id="43" name="Text 40"/>
          <p:cNvSpPr txBox="1"/>
          <p:nvPr/>
        </p:nvSpPr>
        <p:spPr>
          <a:xfrm>
            <a:off x="4754880" y="29626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44" name="Text 41"/>
          <p:cNvSpPr txBox="1"/>
          <p:nvPr/>
        </p:nvSpPr>
        <p:spPr>
          <a:xfrm>
            <a:off x="5257800" y="2907792"/>
            <a:ext cx="3429000" cy="475488"/>
          </a:xfrm>
          <a:prstGeom prst="rect">
            <a:avLst/>
          </a:prstGeom>
          <a:noFill/>
          <a:ln/>
        </p:spPr>
        <p:txBody>
          <a:bodyPr wrap="square" lIns="0" tIns="0" rIns="0" bIns="0" rtlCol="0" anchor="t"/>
          <a:lstStyle/>
          <a:p>
            <a:pPr marL="0" indent="0">
              <a:buNone/>
            </a:pPr>
            <a:r>
              <a:rPr lang="en-US" sz="1400" b="1" dirty="0">
                <a:solidFill>
                  <a:schemeClr val="tx1"/>
                </a:solidFill>
              </a:rPr>
              <a:t>Who is selling</a:t>
            </a:r>
            <a:endParaRPr lang="en-US" sz="1400" dirty="0"/>
          </a:p>
          <a:p>
            <a:pPr marL="0" indent="0">
              <a:buNone/>
            </a:pPr>
            <a:r>
              <a:rPr lang="en-US" sz="1200" dirty="0">
                <a:solidFill>
                  <a:schemeClr val="accent2"/>
                </a:solidFill>
              </a:rPr>
              <a:t>Factory or trader? Badges help, not proof.</a:t>
            </a:r>
            <a:endParaRPr lang="en-US" sz="1400" dirty="0"/>
          </a:p>
        </p:txBody>
      </p:sp>
      <p:sp>
        <p:nvSpPr>
          <p:cNvPr id="45" name="note num"/>
          <p:cNvSpPr/>
          <p:nvPr/>
        </p:nvSpPr>
        <p:spPr>
          <a:xfrm>
            <a:off x="4754880" y="3529584"/>
            <a:ext cx="329184" cy="329184"/>
          </a:xfrm>
          <a:prstGeom prst="ellipse">
            <a:avLst/>
          </a:prstGeom>
          <a:solidFill>
            <a:schemeClr val="accent6"/>
          </a:solidFill>
          <a:ln w="12700">
            <a:solidFill>
              <a:schemeClr val="accent6"/>
            </a:solidFill>
            <a:prstDash val="solid"/>
          </a:ln>
        </p:spPr>
      </p:sp>
      <p:sp>
        <p:nvSpPr>
          <p:cNvPr id="46" name="Text 43"/>
          <p:cNvSpPr txBox="1"/>
          <p:nvPr/>
        </p:nvSpPr>
        <p:spPr>
          <a:xfrm>
            <a:off x="4754880" y="352958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47" name="Text 44"/>
          <p:cNvSpPr txBox="1"/>
          <p:nvPr/>
        </p:nvSpPr>
        <p:spPr>
          <a:xfrm>
            <a:off x="5257800" y="3474720"/>
            <a:ext cx="3429000" cy="475488"/>
          </a:xfrm>
          <a:prstGeom prst="rect">
            <a:avLst/>
          </a:prstGeom>
          <a:noFill/>
          <a:ln/>
        </p:spPr>
        <p:txBody>
          <a:bodyPr wrap="square" lIns="0" tIns="0" rIns="0" bIns="0" rtlCol="0" anchor="t"/>
          <a:lstStyle/>
          <a:p>
            <a:pPr marL="0" indent="0">
              <a:buNone/>
            </a:pPr>
            <a:r>
              <a:rPr lang="en-US" sz="1400" b="1" dirty="0">
                <a:solidFill>
                  <a:schemeClr val="tx1"/>
                </a:solidFill>
              </a:rPr>
              <a:t>Samples</a:t>
            </a:r>
            <a:endParaRPr lang="en-US" sz="1400" dirty="0"/>
          </a:p>
          <a:p>
            <a:pPr marL="0" indent="0">
              <a:buNone/>
            </a:pPr>
            <a:r>
              <a:rPr lang="en-US" sz="1200" dirty="0">
                <a:solidFill>
                  <a:schemeClr val="accent2"/>
                </a:solidFill>
              </a:rPr>
              <a:t>Order one before the bulk order.</a:t>
            </a:r>
            <a:endParaRPr lang="en-US" sz="1400" dirty="0"/>
          </a:p>
        </p:txBody>
      </p:sp>
      <p:sp>
        <p:nvSpPr>
          <p:cNvPr id="48" name="note num"/>
          <p:cNvSpPr/>
          <p:nvPr/>
        </p:nvSpPr>
        <p:spPr>
          <a:xfrm>
            <a:off x="4754880" y="4096512"/>
            <a:ext cx="329184" cy="329184"/>
          </a:xfrm>
          <a:prstGeom prst="ellipse">
            <a:avLst/>
          </a:prstGeom>
          <a:solidFill>
            <a:schemeClr val="accent6"/>
          </a:solidFill>
          <a:ln w="12700">
            <a:solidFill>
              <a:schemeClr val="accent6"/>
            </a:solidFill>
            <a:prstDash val="solid"/>
          </a:ln>
        </p:spPr>
      </p:sp>
      <p:sp>
        <p:nvSpPr>
          <p:cNvPr id="49" name="Text 46"/>
          <p:cNvSpPr txBox="1"/>
          <p:nvPr/>
        </p:nvSpPr>
        <p:spPr>
          <a:xfrm>
            <a:off x="4754880" y="409651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50" name="Text 47"/>
          <p:cNvSpPr txBox="1"/>
          <p:nvPr/>
        </p:nvSpPr>
        <p:spPr>
          <a:xfrm>
            <a:off x="5257800" y="4041648"/>
            <a:ext cx="3429000" cy="475488"/>
          </a:xfrm>
          <a:prstGeom prst="rect">
            <a:avLst/>
          </a:prstGeom>
          <a:noFill/>
          <a:ln/>
        </p:spPr>
        <p:txBody>
          <a:bodyPr wrap="square" lIns="0" tIns="0" rIns="0" bIns="0" rtlCol="0" anchor="t"/>
          <a:lstStyle/>
          <a:p>
            <a:pPr marL="0" indent="0">
              <a:buNone/>
            </a:pPr>
            <a:r>
              <a:rPr lang="en-US" sz="1400" b="1" dirty="0">
                <a:solidFill>
                  <a:schemeClr val="tx1"/>
                </a:solidFill>
              </a:rPr>
              <a:t>Payment protection</a:t>
            </a:r>
            <a:endParaRPr lang="en-US" sz="1400" dirty="0"/>
          </a:p>
          <a:p>
            <a:pPr marL="0" indent="0">
              <a:buNone/>
            </a:pPr>
            <a:r>
              <a:rPr lang="en-US" sz="1200" dirty="0">
                <a:solidFill>
                  <a:schemeClr val="accent2"/>
                </a:solidFill>
              </a:rPr>
              <a:t>Pay via the platform: held until delivery.</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4: verify before you pay</a:t>
            </a:r>
            <a:endParaRPr lang="en-US" sz="2800" dirty="0"/>
          </a:p>
        </p:txBody>
      </p:sp>
      <p:sp>
        <p:nvSpPr>
          <p:cNvPr id="4" name="Text 1"/>
          <p:cNvSpPr txBox="1"/>
          <p:nvPr/>
        </p:nvSpPr>
        <p:spPr>
          <a:xfrm>
            <a:off x="457200" y="1188720"/>
            <a:ext cx="3657600" cy="228600"/>
          </a:xfrm>
          <a:prstGeom prst="rect">
            <a:avLst/>
          </a:prstGeom>
          <a:noFill/>
          <a:ln/>
        </p:spPr>
        <p:txBody>
          <a:bodyPr wrap="square" lIns="0" tIns="0" rIns="0" bIns="0" rtlCol="0" anchor="t"/>
          <a:lstStyle/>
          <a:p>
            <a:pPr marL="0" indent="0">
              <a:buNone/>
            </a:pPr>
            <a:r>
              <a:rPr lang="en-US" sz="1200" b="1" kern="0" spc="200" dirty="0">
                <a:solidFill>
                  <a:schemeClr val="accent3"/>
                </a:solidFill>
              </a:rPr>
              <a:t>RED FLAGS</a:t>
            </a:r>
            <a:endParaRPr lang="en-US" sz="1200" dirty="0"/>
          </a:p>
        </p:txBody>
      </p:sp>
      <p:sp>
        <p:nvSpPr>
          <p:cNvPr id="5" name="flag 0"/>
          <p:cNvSpPr/>
          <p:nvPr/>
        </p:nvSpPr>
        <p:spPr>
          <a:xfrm>
            <a:off x="457200" y="1508760"/>
            <a:ext cx="4023360" cy="640080"/>
          </a:xfrm>
          <a:prstGeom prst="roundRect">
            <a:avLst>
              <a:gd name="adj" fmla="val 11429"/>
            </a:avLst>
          </a:prstGeom>
          <a:solidFill>
            <a:srgbClr val="FBEAE6"/>
          </a:solidFill>
          <a:ln w="12700">
            <a:solidFill>
              <a:srgbClr val="FBEAE6"/>
            </a:solidFill>
            <a:prstDash val="solid"/>
          </a:ln>
        </p:spPr>
      </p:sp>
      <p:pic>
        <p:nvPicPr>
          <p:cNvPr id="6" name="warn icon" descr="warning"/>
          <p:cNvPicPr>
            <a:picLocks noChangeAspect="1"/>
          </p:cNvPicPr>
          <p:nvPr/>
        </p:nvPicPr>
        <p:blipFill>
          <a:blip r:embed="rId3"/>
          <a:stretch>
            <a:fillRect/>
          </a:stretch>
        </p:blipFill>
        <p:spPr>
          <a:xfrm>
            <a:off x="594360" y="1664208"/>
            <a:ext cx="329184" cy="329184"/>
          </a:xfrm>
          <a:prstGeom prst="rect">
            <a:avLst/>
          </a:prstGeom>
        </p:spPr>
      </p:pic>
      <p:sp>
        <p:nvSpPr>
          <p:cNvPr id="7" name="Text 3"/>
          <p:cNvSpPr txBox="1"/>
          <p:nvPr/>
        </p:nvSpPr>
        <p:spPr>
          <a:xfrm>
            <a:off x="1051560" y="1581912"/>
            <a:ext cx="3337560" cy="502920"/>
          </a:xfrm>
          <a:prstGeom prst="rect">
            <a:avLst/>
          </a:prstGeom>
          <a:noFill/>
          <a:ln/>
        </p:spPr>
        <p:txBody>
          <a:bodyPr wrap="square" lIns="0" tIns="0" rIns="0" bIns="0" rtlCol="0" anchor="t"/>
          <a:lstStyle/>
          <a:p>
            <a:pPr marL="0" indent="0">
              <a:buNone/>
            </a:pPr>
            <a:r>
              <a:rPr lang="en-US" sz="1300" b="1" dirty="0">
                <a:solidFill>
                  <a:schemeClr val="tx1"/>
                </a:solidFill>
              </a:rPr>
              <a:t>Price far below every other quote</a:t>
            </a:r>
            <a:endParaRPr lang="en-US" sz="1300" dirty="0"/>
          </a:p>
          <a:p>
            <a:pPr marL="0" indent="0">
              <a:buNone/>
            </a:pPr>
            <a:r>
              <a:rPr lang="en-US" sz="1300" dirty="0">
                <a:solidFill>
                  <a:schemeClr val="accent3"/>
                </a:solidFill>
              </a:rPr>
              <a:t>Bait price</a:t>
            </a:r>
            <a:endParaRPr lang="en-US" sz="1300" dirty="0"/>
          </a:p>
        </p:txBody>
      </p:sp>
      <p:sp>
        <p:nvSpPr>
          <p:cNvPr id="8" name="flag 1"/>
          <p:cNvSpPr/>
          <p:nvPr/>
        </p:nvSpPr>
        <p:spPr>
          <a:xfrm>
            <a:off x="457200" y="2240280"/>
            <a:ext cx="4023360" cy="640080"/>
          </a:xfrm>
          <a:prstGeom prst="roundRect">
            <a:avLst>
              <a:gd name="adj" fmla="val 11429"/>
            </a:avLst>
          </a:prstGeom>
          <a:solidFill>
            <a:srgbClr val="FBEAE6"/>
          </a:solidFill>
          <a:ln w="12700">
            <a:solidFill>
              <a:srgbClr val="FBEAE6"/>
            </a:solidFill>
            <a:prstDash val="solid"/>
          </a:ln>
        </p:spPr>
      </p:sp>
      <p:pic>
        <p:nvPicPr>
          <p:cNvPr id="9" name="warn icon" descr="warning"/>
          <p:cNvPicPr>
            <a:picLocks noChangeAspect="1"/>
          </p:cNvPicPr>
          <p:nvPr/>
        </p:nvPicPr>
        <p:blipFill>
          <a:blip r:embed="rId3"/>
          <a:stretch>
            <a:fillRect/>
          </a:stretch>
        </p:blipFill>
        <p:spPr>
          <a:xfrm>
            <a:off x="594360" y="2395728"/>
            <a:ext cx="329184" cy="329184"/>
          </a:xfrm>
          <a:prstGeom prst="rect">
            <a:avLst/>
          </a:prstGeom>
        </p:spPr>
      </p:pic>
      <p:sp>
        <p:nvSpPr>
          <p:cNvPr id="10" name="Text 5"/>
          <p:cNvSpPr txBox="1"/>
          <p:nvPr/>
        </p:nvSpPr>
        <p:spPr>
          <a:xfrm>
            <a:off x="1051560" y="2313432"/>
            <a:ext cx="3337560" cy="502920"/>
          </a:xfrm>
          <a:prstGeom prst="rect">
            <a:avLst/>
          </a:prstGeom>
          <a:noFill/>
          <a:ln/>
        </p:spPr>
        <p:txBody>
          <a:bodyPr wrap="square" lIns="0" tIns="0" rIns="0" bIns="0" rtlCol="0" anchor="t"/>
          <a:lstStyle/>
          <a:p>
            <a:pPr marL="0" indent="0">
              <a:buNone/>
            </a:pPr>
            <a:r>
              <a:rPr lang="en-US" sz="1300" b="1" dirty="0">
                <a:solidFill>
                  <a:schemeClr val="tx1"/>
                </a:solidFill>
              </a:rPr>
              <a:t>New bank account after weeks of emails</a:t>
            </a:r>
            <a:endParaRPr lang="en-US" sz="1300" dirty="0"/>
          </a:p>
          <a:p>
            <a:pPr marL="0" indent="0">
              <a:buNone/>
            </a:pPr>
            <a:r>
              <a:rPr lang="en-US" sz="1300" dirty="0">
                <a:solidFill>
                  <a:schemeClr val="accent3"/>
                </a:solidFill>
              </a:rPr>
              <a:t>Hijacked email</a:t>
            </a:r>
            <a:endParaRPr lang="en-US" sz="1300" dirty="0"/>
          </a:p>
        </p:txBody>
      </p:sp>
      <p:sp>
        <p:nvSpPr>
          <p:cNvPr id="11" name="flag 2"/>
          <p:cNvSpPr/>
          <p:nvPr/>
        </p:nvSpPr>
        <p:spPr>
          <a:xfrm>
            <a:off x="457200" y="2971800"/>
            <a:ext cx="4023360" cy="640080"/>
          </a:xfrm>
          <a:prstGeom prst="roundRect">
            <a:avLst>
              <a:gd name="adj" fmla="val 11429"/>
            </a:avLst>
          </a:prstGeom>
          <a:solidFill>
            <a:srgbClr val="FBEAE6"/>
          </a:solidFill>
          <a:ln w="12700">
            <a:solidFill>
              <a:srgbClr val="FBEAE6"/>
            </a:solidFill>
            <a:prstDash val="solid"/>
          </a:ln>
        </p:spPr>
      </p:sp>
      <p:pic>
        <p:nvPicPr>
          <p:cNvPr id="12" name="warn icon" descr="warning"/>
          <p:cNvPicPr>
            <a:picLocks noChangeAspect="1"/>
          </p:cNvPicPr>
          <p:nvPr/>
        </p:nvPicPr>
        <p:blipFill>
          <a:blip r:embed="rId3"/>
          <a:stretch>
            <a:fillRect/>
          </a:stretch>
        </p:blipFill>
        <p:spPr>
          <a:xfrm>
            <a:off x="594360" y="3127248"/>
            <a:ext cx="329184" cy="329184"/>
          </a:xfrm>
          <a:prstGeom prst="rect">
            <a:avLst/>
          </a:prstGeom>
        </p:spPr>
      </p:pic>
      <p:sp>
        <p:nvSpPr>
          <p:cNvPr id="13" name="Text 7"/>
          <p:cNvSpPr txBox="1"/>
          <p:nvPr/>
        </p:nvSpPr>
        <p:spPr>
          <a:xfrm>
            <a:off x="1051560" y="3044952"/>
            <a:ext cx="3337560" cy="502920"/>
          </a:xfrm>
          <a:prstGeom prst="rect">
            <a:avLst/>
          </a:prstGeom>
          <a:noFill/>
          <a:ln/>
        </p:spPr>
        <p:txBody>
          <a:bodyPr wrap="square" lIns="0" tIns="0" rIns="0" bIns="0" rtlCol="0" anchor="t"/>
          <a:lstStyle/>
          <a:p>
            <a:pPr marL="0" indent="0">
              <a:buNone/>
            </a:pPr>
            <a:r>
              <a:rPr lang="en-US" sz="1300" b="1" dirty="0">
                <a:solidFill>
                  <a:schemeClr val="tx1"/>
                </a:solidFill>
              </a:rPr>
              <a:t>Personal account for a company</a:t>
            </a:r>
            <a:endParaRPr lang="en-US" sz="1300" dirty="0"/>
          </a:p>
          <a:p>
            <a:pPr marL="0" indent="0">
              <a:buNone/>
            </a:pPr>
            <a:r>
              <a:rPr lang="en-US" sz="1300" dirty="0">
                <a:solidFill>
                  <a:schemeClr val="accent3"/>
                </a:solidFill>
              </a:rPr>
              <a:t>No protection</a:t>
            </a:r>
            <a:endParaRPr lang="en-US" sz="1300" dirty="0"/>
          </a:p>
        </p:txBody>
      </p:sp>
      <p:sp>
        <p:nvSpPr>
          <p:cNvPr id="14" name="flag 3"/>
          <p:cNvSpPr/>
          <p:nvPr/>
        </p:nvSpPr>
        <p:spPr>
          <a:xfrm>
            <a:off x="457200" y="3703320"/>
            <a:ext cx="4023360" cy="640080"/>
          </a:xfrm>
          <a:prstGeom prst="roundRect">
            <a:avLst>
              <a:gd name="adj" fmla="val 11429"/>
            </a:avLst>
          </a:prstGeom>
          <a:solidFill>
            <a:srgbClr val="FBEAE6"/>
          </a:solidFill>
          <a:ln w="12700">
            <a:solidFill>
              <a:srgbClr val="FBEAE6"/>
            </a:solidFill>
            <a:prstDash val="solid"/>
          </a:ln>
        </p:spPr>
      </p:sp>
      <p:pic>
        <p:nvPicPr>
          <p:cNvPr id="15" name="warn icon" descr="warning"/>
          <p:cNvPicPr>
            <a:picLocks noChangeAspect="1"/>
          </p:cNvPicPr>
          <p:nvPr/>
        </p:nvPicPr>
        <p:blipFill>
          <a:blip r:embed="rId3"/>
          <a:stretch>
            <a:fillRect/>
          </a:stretch>
        </p:blipFill>
        <p:spPr>
          <a:xfrm>
            <a:off x="594360" y="3858768"/>
            <a:ext cx="329184" cy="329184"/>
          </a:xfrm>
          <a:prstGeom prst="rect">
            <a:avLst/>
          </a:prstGeom>
        </p:spPr>
      </p:pic>
      <p:sp>
        <p:nvSpPr>
          <p:cNvPr id="16" name="Text 9"/>
          <p:cNvSpPr txBox="1"/>
          <p:nvPr/>
        </p:nvSpPr>
        <p:spPr>
          <a:xfrm>
            <a:off x="1051560" y="3776472"/>
            <a:ext cx="3337560" cy="502920"/>
          </a:xfrm>
          <a:prstGeom prst="rect">
            <a:avLst/>
          </a:prstGeom>
          <a:noFill/>
          <a:ln/>
        </p:spPr>
        <p:txBody>
          <a:bodyPr wrap="square" lIns="0" tIns="0" rIns="0" bIns="0" rtlCol="0" anchor="t"/>
          <a:lstStyle/>
          <a:p>
            <a:pPr marL="0" indent="0">
              <a:buNone/>
            </a:pPr>
            <a:r>
              <a:rPr lang="en-US" sz="1300" b="1" dirty="0">
                <a:solidFill>
                  <a:schemeClr val="tx1"/>
                </a:solidFill>
              </a:rPr>
              <a:t>No live video of the factory</a:t>
            </a:r>
            <a:endParaRPr lang="en-US" sz="1300" dirty="0"/>
          </a:p>
          <a:p>
            <a:pPr marL="0" indent="0">
              <a:buNone/>
            </a:pPr>
            <a:r>
              <a:rPr lang="en-US" sz="1300" dirty="0">
                <a:solidFill>
                  <a:schemeClr val="accent3"/>
                </a:solidFill>
              </a:rPr>
              <a:t>Probably not a factory</a:t>
            </a:r>
            <a:endParaRPr lang="en-US" sz="1300" dirty="0"/>
          </a:p>
        </p:txBody>
      </p:sp>
      <p:sp>
        <p:nvSpPr>
          <p:cNvPr id="17" name="Text 10"/>
          <p:cNvSpPr txBox="1"/>
          <p:nvPr/>
        </p:nvSpPr>
        <p:spPr>
          <a:xfrm>
            <a:off x="4663440" y="1188720"/>
            <a:ext cx="3657600" cy="228600"/>
          </a:xfrm>
          <a:prstGeom prst="rect">
            <a:avLst/>
          </a:prstGeom>
          <a:noFill/>
          <a:ln/>
        </p:spPr>
        <p:txBody>
          <a:bodyPr wrap="square" lIns="0" tIns="0" rIns="0" bIns="0" rtlCol="0" anchor="t"/>
          <a:lstStyle/>
          <a:p>
            <a:pPr marL="0" indent="0">
              <a:buNone/>
            </a:pPr>
            <a:r>
              <a:rPr lang="en-US" sz="1200" b="1" kern="0" spc="200" dirty="0">
                <a:solidFill>
                  <a:schemeClr val="accent5"/>
                </a:solidFill>
              </a:rPr>
              <a:t>SAFE HABITS</a:t>
            </a:r>
            <a:endParaRPr lang="en-US" sz="1200" dirty="0"/>
          </a:p>
        </p:txBody>
      </p:sp>
      <p:sp>
        <p:nvSpPr>
          <p:cNvPr id="18" name="safe 0"/>
          <p:cNvSpPr/>
          <p:nvPr/>
        </p:nvSpPr>
        <p:spPr>
          <a:xfrm>
            <a:off x="4663440" y="1508760"/>
            <a:ext cx="4023360" cy="640080"/>
          </a:xfrm>
          <a:prstGeom prst="roundRect">
            <a:avLst>
              <a:gd name="adj" fmla="val 11429"/>
            </a:avLst>
          </a:prstGeom>
          <a:solidFill>
            <a:srgbClr val="E3F1E8"/>
          </a:solidFill>
          <a:ln w="12700">
            <a:solidFill>
              <a:srgbClr val="E3F1E8"/>
            </a:solidFill>
            <a:prstDash val="solid"/>
          </a:ln>
        </p:spPr>
      </p:sp>
      <p:pic>
        <p:nvPicPr>
          <p:cNvPr id="19" name="check icon" descr="check"/>
          <p:cNvPicPr>
            <a:picLocks noChangeAspect="1"/>
          </p:cNvPicPr>
          <p:nvPr/>
        </p:nvPicPr>
        <p:blipFill>
          <a:blip r:embed="rId4"/>
          <a:stretch>
            <a:fillRect/>
          </a:stretch>
        </p:blipFill>
        <p:spPr>
          <a:xfrm>
            <a:off x="4800600" y="1664208"/>
            <a:ext cx="329184" cy="329184"/>
          </a:xfrm>
          <a:prstGeom prst="rect">
            <a:avLst/>
          </a:prstGeom>
        </p:spPr>
      </p:pic>
      <p:sp>
        <p:nvSpPr>
          <p:cNvPr id="20" name="Text 12"/>
          <p:cNvSpPr txBox="1"/>
          <p:nvPr/>
        </p:nvSpPr>
        <p:spPr>
          <a:xfrm>
            <a:off x="5257800" y="1581912"/>
            <a:ext cx="3337560" cy="502920"/>
          </a:xfrm>
          <a:prstGeom prst="rect">
            <a:avLst/>
          </a:prstGeom>
          <a:noFill/>
          <a:ln/>
        </p:spPr>
        <p:txBody>
          <a:bodyPr wrap="square" lIns="0" tIns="0" rIns="0" bIns="0" rtlCol="0" anchor="t"/>
          <a:lstStyle/>
          <a:p>
            <a:pPr marL="0" indent="0">
              <a:buNone/>
            </a:pPr>
            <a:r>
              <a:rPr lang="en-US" sz="1300" b="1" dirty="0">
                <a:solidFill>
                  <a:schemeClr val="tx1"/>
                </a:solidFill>
              </a:rPr>
              <a:t>Pay through the platform</a:t>
            </a:r>
            <a:endParaRPr lang="en-US" sz="1300" dirty="0"/>
          </a:p>
          <a:p>
            <a:pPr marL="0" indent="0">
              <a:buNone/>
            </a:pPr>
            <a:r>
              <a:rPr lang="en-US" sz="1300" dirty="0">
                <a:solidFill>
                  <a:schemeClr val="accent5"/>
                </a:solidFill>
              </a:rPr>
              <a:t>Trade Assurance or escrow holds your money</a:t>
            </a:r>
            <a:endParaRPr lang="en-US" sz="1300" dirty="0"/>
          </a:p>
        </p:txBody>
      </p:sp>
      <p:sp>
        <p:nvSpPr>
          <p:cNvPr id="21" name="safe 1"/>
          <p:cNvSpPr/>
          <p:nvPr/>
        </p:nvSpPr>
        <p:spPr>
          <a:xfrm>
            <a:off x="4663440" y="2240280"/>
            <a:ext cx="4023360" cy="640080"/>
          </a:xfrm>
          <a:prstGeom prst="roundRect">
            <a:avLst>
              <a:gd name="adj" fmla="val 11429"/>
            </a:avLst>
          </a:prstGeom>
          <a:solidFill>
            <a:srgbClr val="E3F1E8"/>
          </a:solidFill>
          <a:ln w="12700">
            <a:solidFill>
              <a:srgbClr val="E3F1E8"/>
            </a:solidFill>
            <a:prstDash val="solid"/>
          </a:ln>
        </p:spPr>
      </p:sp>
      <p:pic>
        <p:nvPicPr>
          <p:cNvPr id="22" name="check icon" descr="check"/>
          <p:cNvPicPr>
            <a:picLocks noChangeAspect="1"/>
          </p:cNvPicPr>
          <p:nvPr/>
        </p:nvPicPr>
        <p:blipFill>
          <a:blip r:embed="rId4"/>
          <a:stretch>
            <a:fillRect/>
          </a:stretch>
        </p:blipFill>
        <p:spPr>
          <a:xfrm>
            <a:off x="4800600" y="2395728"/>
            <a:ext cx="329184" cy="329184"/>
          </a:xfrm>
          <a:prstGeom prst="rect">
            <a:avLst/>
          </a:prstGeom>
        </p:spPr>
      </p:pic>
      <p:sp>
        <p:nvSpPr>
          <p:cNvPr id="23" name="Text 14"/>
          <p:cNvSpPr txBox="1"/>
          <p:nvPr/>
        </p:nvSpPr>
        <p:spPr>
          <a:xfrm>
            <a:off x="5257800" y="2313432"/>
            <a:ext cx="3337560" cy="502920"/>
          </a:xfrm>
          <a:prstGeom prst="rect">
            <a:avLst/>
          </a:prstGeom>
          <a:noFill/>
          <a:ln/>
        </p:spPr>
        <p:txBody>
          <a:bodyPr wrap="square" lIns="0" tIns="0" rIns="0" bIns="0" rtlCol="0" anchor="t"/>
          <a:lstStyle/>
          <a:p>
            <a:pPr marL="0" indent="0">
              <a:buNone/>
            </a:pPr>
            <a:r>
              <a:rPr lang="en-US" sz="1300" b="1" dirty="0">
                <a:solidFill>
                  <a:schemeClr val="tx1"/>
                </a:solidFill>
              </a:rPr>
              <a:t>Ask for a live video call</a:t>
            </a:r>
            <a:endParaRPr lang="en-US" sz="1300" dirty="0"/>
          </a:p>
          <a:p>
            <a:pPr marL="0" indent="0">
              <a:buNone/>
            </a:pPr>
            <a:r>
              <a:rPr lang="en-US" sz="1300" dirty="0">
                <a:solidFill>
                  <a:schemeClr val="accent5"/>
                </a:solidFill>
              </a:rPr>
              <a:t>Factory floor, stock, production line</a:t>
            </a:r>
            <a:endParaRPr lang="en-US" sz="1300" dirty="0"/>
          </a:p>
        </p:txBody>
      </p:sp>
      <p:sp>
        <p:nvSpPr>
          <p:cNvPr id="24" name="safe 2"/>
          <p:cNvSpPr/>
          <p:nvPr/>
        </p:nvSpPr>
        <p:spPr>
          <a:xfrm>
            <a:off x="4663440" y="2971800"/>
            <a:ext cx="4023360" cy="640080"/>
          </a:xfrm>
          <a:prstGeom prst="roundRect">
            <a:avLst>
              <a:gd name="adj" fmla="val 11429"/>
            </a:avLst>
          </a:prstGeom>
          <a:solidFill>
            <a:srgbClr val="E3F1E8"/>
          </a:solidFill>
          <a:ln w="12700">
            <a:solidFill>
              <a:srgbClr val="E3F1E8"/>
            </a:solidFill>
            <a:prstDash val="solid"/>
          </a:ln>
        </p:spPr>
      </p:sp>
      <p:pic>
        <p:nvPicPr>
          <p:cNvPr id="25" name="check icon" descr="check"/>
          <p:cNvPicPr>
            <a:picLocks noChangeAspect="1"/>
          </p:cNvPicPr>
          <p:nvPr/>
        </p:nvPicPr>
        <p:blipFill>
          <a:blip r:embed="rId4"/>
          <a:stretch>
            <a:fillRect/>
          </a:stretch>
        </p:blipFill>
        <p:spPr>
          <a:xfrm>
            <a:off x="4800600" y="3127248"/>
            <a:ext cx="329184" cy="329184"/>
          </a:xfrm>
          <a:prstGeom prst="rect">
            <a:avLst/>
          </a:prstGeom>
        </p:spPr>
      </p:pic>
      <p:sp>
        <p:nvSpPr>
          <p:cNvPr id="26" name="Text 16"/>
          <p:cNvSpPr txBox="1"/>
          <p:nvPr/>
        </p:nvSpPr>
        <p:spPr>
          <a:xfrm>
            <a:off x="5257800" y="3044952"/>
            <a:ext cx="3337560" cy="502920"/>
          </a:xfrm>
          <a:prstGeom prst="rect">
            <a:avLst/>
          </a:prstGeom>
          <a:noFill/>
          <a:ln/>
        </p:spPr>
        <p:txBody>
          <a:bodyPr wrap="square" lIns="0" tIns="0" rIns="0" bIns="0" rtlCol="0" anchor="t"/>
          <a:lstStyle/>
          <a:p>
            <a:pPr marL="0" indent="0">
              <a:buNone/>
            </a:pPr>
            <a:r>
              <a:rPr lang="en-US" sz="1300" b="1" dirty="0">
                <a:solidFill>
                  <a:schemeClr val="tx1"/>
                </a:solidFill>
              </a:rPr>
              <a:t>Match every name</a:t>
            </a:r>
            <a:endParaRPr lang="en-US" sz="1300" dirty="0"/>
          </a:p>
          <a:p>
            <a:pPr marL="0" indent="0">
              <a:buNone/>
            </a:pPr>
            <a:r>
              <a:rPr lang="en-US" sz="1300" dirty="0">
                <a:solidFill>
                  <a:schemeClr val="accent5"/>
                </a:solidFill>
              </a:rPr>
              <a:t>Licence, invoice and bank account holder</a:t>
            </a:r>
            <a:endParaRPr lang="en-US" sz="1300" dirty="0"/>
          </a:p>
        </p:txBody>
      </p:sp>
      <p:sp>
        <p:nvSpPr>
          <p:cNvPr id="27" name="safe 3"/>
          <p:cNvSpPr/>
          <p:nvPr/>
        </p:nvSpPr>
        <p:spPr>
          <a:xfrm>
            <a:off x="4663440" y="3703320"/>
            <a:ext cx="4023360" cy="640080"/>
          </a:xfrm>
          <a:prstGeom prst="roundRect">
            <a:avLst>
              <a:gd name="adj" fmla="val 11429"/>
            </a:avLst>
          </a:prstGeom>
          <a:solidFill>
            <a:srgbClr val="E3F1E8"/>
          </a:solidFill>
          <a:ln w="12700">
            <a:solidFill>
              <a:srgbClr val="E3F1E8"/>
            </a:solidFill>
            <a:prstDash val="solid"/>
          </a:ln>
        </p:spPr>
      </p:sp>
      <p:pic>
        <p:nvPicPr>
          <p:cNvPr id="28" name="check icon" descr="check"/>
          <p:cNvPicPr>
            <a:picLocks noChangeAspect="1"/>
          </p:cNvPicPr>
          <p:nvPr/>
        </p:nvPicPr>
        <p:blipFill>
          <a:blip r:embed="rId4"/>
          <a:stretch>
            <a:fillRect/>
          </a:stretch>
        </p:blipFill>
        <p:spPr>
          <a:xfrm>
            <a:off x="4800600" y="3858768"/>
            <a:ext cx="329184" cy="329184"/>
          </a:xfrm>
          <a:prstGeom prst="rect">
            <a:avLst/>
          </a:prstGeom>
        </p:spPr>
      </p:pic>
      <p:sp>
        <p:nvSpPr>
          <p:cNvPr id="29" name="Text 18"/>
          <p:cNvSpPr txBox="1"/>
          <p:nvPr/>
        </p:nvSpPr>
        <p:spPr>
          <a:xfrm>
            <a:off x="5257800" y="3776472"/>
            <a:ext cx="3337560" cy="502920"/>
          </a:xfrm>
          <a:prstGeom prst="rect">
            <a:avLst/>
          </a:prstGeom>
          <a:noFill/>
          <a:ln/>
        </p:spPr>
        <p:txBody>
          <a:bodyPr wrap="square" lIns="0" tIns="0" rIns="0" bIns="0" rtlCol="0" anchor="t"/>
          <a:lstStyle/>
          <a:p>
            <a:pPr marL="0" indent="0">
              <a:buNone/>
            </a:pPr>
            <a:r>
              <a:rPr lang="en-US" sz="1300" b="1" dirty="0">
                <a:solidFill>
                  <a:schemeClr val="tx1"/>
                </a:solidFill>
              </a:rPr>
              <a:t>Pay a deposit, not everything</a:t>
            </a:r>
            <a:endParaRPr lang="en-US" sz="1300" dirty="0"/>
          </a:p>
          <a:p>
            <a:pPr marL="0" indent="0">
              <a:buNone/>
            </a:pPr>
            <a:r>
              <a:rPr lang="en-US" sz="1300" dirty="0">
                <a:solidFill>
                  <a:schemeClr val="accent5"/>
                </a:solidFill>
              </a:rPr>
              <a:t>Often 30%, balance after inspection</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5: negotiate, then test a sample</a:t>
            </a:r>
            <a:endParaRPr lang="en-US" sz="2800" dirty="0"/>
          </a:p>
        </p:txBody>
      </p:sp>
      <p:sp>
        <p:nvSpPr>
          <p:cNvPr id="4" name="card Ask for tier prices"/>
          <p:cNvSpPr/>
          <p:nvPr/>
        </p:nvSpPr>
        <p:spPr>
          <a:xfrm>
            <a:off x="457200" y="1188720"/>
            <a:ext cx="4023360" cy="1280160"/>
          </a:xfrm>
          <a:prstGeom prst="roundRect">
            <a:avLst>
              <a:gd name="adj" fmla="val 7143"/>
            </a:avLst>
          </a:prstGeom>
          <a:solidFill>
            <a:schemeClr val="bg2"/>
          </a:solidFill>
          <a:ln w="12700">
            <a:solidFill>
              <a:schemeClr val="bg2"/>
            </a:solidFill>
            <a:prstDash val="solid"/>
          </a:ln>
        </p:spPr>
      </p:sp>
      <p:sp>
        <p:nvSpPr>
          <p:cNvPr id="5" name="icon-circle Ask for tier prices"/>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Handshake" descr="preencoded.png"/>
          <p:cNvPicPr>
            <a:picLocks noChangeAspect="1"/>
          </p:cNvPicPr>
          <p:nvPr/>
        </p:nvPicPr>
        <p:blipFill>
          <a:blip r:embed="rId3"/>
          <a:stretch>
            <a:fillRect/>
          </a:stretch>
        </p:blipFill>
        <p:spPr>
          <a:xfrm>
            <a:off x="740664" y="1472184"/>
            <a:ext cx="219456" cy="219456"/>
          </a:xfrm>
          <a:prstGeom prst="rect">
            <a:avLst/>
          </a:prstGeom>
        </p:spPr>
      </p:pic>
      <p:sp>
        <p:nvSpPr>
          <p:cNvPr id="7" name="Text 3"/>
          <p:cNvSpPr txBox="1"/>
          <p:nvPr/>
        </p:nvSpPr>
        <p:spPr>
          <a:xfrm>
            <a:off x="1207008" y="133502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Ask for tier prices</a:t>
            </a:r>
            <a:endParaRPr lang="en-US" sz="1600" dirty="0"/>
          </a:p>
        </p:txBody>
      </p:sp>
      <p:sp>
        <p:nvSpPr>
          <p:cNvPr id="8" name="Text 4"/>
          <p:cNvSpPr txBox="1"/>
          <p:nvPr/>
        </p:nvSpPr>
        <p:spPr>
          <a:xfrm>
            <a:off x="1207008" y="1664208"/>
            <a:ext cx="3108960" cy="676656"/>
          </a:xfrm>
          <a:prstGeom prst="rect">
            <a:avLst/>
          </a:prstGeom>
          <a:noFill/>
          <a:ln/>
        </p:spPr>
        <p:txBody>
          <a:bodyPr wrap="square" lIns="0" tIns="0" rIns="0" bIns="0" rtlCol="0" anchor="t"/>
          <a:lstStyle/>
          <a:p>
            <a:pPr marL="0" indent="0">
              <a:buNone/>
            </a:pPr>
            <a:r>
              <a:rPr lang="en-US" sz="1400" dirty="0">
                <a:solidFill>
                  <a:schemeClr val="tx1"/>
                </a:solidFill>
              </a:rPr>
              <a:t>What is the price at 300, 500 and 1,000 units?</a:t>
            </a:r>
            <a:endParaRPr lang="en-US" sz="1400" dirty="0"/>
          </a:p>
        </p:txBody>
      </p:sp>
      <p:sp>
        <p:nvSpPr>
          <p:cNvPr id="9" name="card Show you will reorder"/>
          <p:cNvSpPr/>
          <p:nvPr/>
        </p:nvSpPr>
        <p:spPr>
          <a:xfrm>
            <a:off x="4663440" y="1188720"/>
            <a:ext cx="4023360" cy="1280160"/>
          </a:xfrm>
          <a:prstGeom prst="roundRect">
            <a:avLst>
              <a:gd name="adj" fmla="val 7143"/>
            </a:avLst>
          </a:prstGeom>
          <a:solidFill>
            <a:schemeClr val="bg2"/>
          </a:solidFill>
          <a:ln w="12700">
            <a:solidFill>
              <a:schemeClr val="bg2"/>
            </a:solidFill>
            <a:prstDash val="solid"/>
          </a:ln>
        </p:spPr>
      </p:sp>
      <p:sp>
        <p:nvSpPr>
          <p:cNvPr id="10" name="icon-circle Show you will reorder"/>
          <p:cNvSpPr/>
          <p:nvPr/>
        </p:nvSpPr>
        <p:spPr>
          <a:xfrm>
            <a:off x="4828032" y="1353312"/>
            <a:ext cx="457200" cy="457200"/>
          </a:xfrm>
          <a:prstGeom prst="ellipse">
            <a:avLst/>
          </a:prstGeom>
          <a:solidFill>
            <a:schemeClr val="accent6"/>
          </a:solidFill>
          <a:ln w="12700">
            <a:solidFill>
              <a:schemeClr val="accent6"/>
            </a:solidFill>
            <a:prstDash val="solid"/>
          </a:ln>
        </p:spPr>
      </p:sp>
      <p:pic>
        <p:nvPicPr>
          <p:cNvPr id="11" name="icon FaRoute" descr="preencoded.png"/>
          <p:cNvPicPr>
            <a:picLocks noChangeAspect="1"/>
          </p:cNvPicPr>
          <p:nvPr/>
        </p:nvPicPr>
        <p:blipFill>
          <a:blip r:embed="rId4"/>
          <a:stretch>
            <a:fillRect/>
          </a:stretch>
        </p:blipFill>
        <p:spPr>
          <a:xfrm>
            <a:off x="4946904" y="1472184"/>
            <a:ext cx="219456" cy="219456"/>
          </a:xfrm>
          <a:prstGeom prst="rect">
            <a:avLst/>
          </a:prstGeom>
        </p:spPr>
      </p:pic>
      <p:sp>
        <p:nvSpPr>
          <p:cNvPr id="12" name="Text 7"/>
          <p:cNvSpPr txBox="1"/>
          <p:nvPr/>
        </p:nvSpPr>
        <p:spPr>
          <a:xfrm>
            <a:off x="5413248" y="133502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Show you will reorder</a:t>
            </a:r>
            <a:endParaRPr lang="en-US" sz="1600" dirty="0"/>
          </a:p>
        </p:txBody>
      </p:sp>
      <p:sp>
        <p:nvSpPr>
          <p:cNvPr id="13" name="Text 8"/>
          <p:cNvSpPr txBox="1"/>
          <p:nvPr/>
        </p:nvSpPr>
        <p:spPr>
          <a:xfrm>
            <a:off x="5413248" y="1664208"/>
            <a:ext cx="3108960" cy="676656"/>
          </a:xfrm>
          <a:prstGeom prst="rect">
            <a:avLst/>
          </a:prstGeom>
          <a:noFill/>
          <a:ln/>
        </p:spPr>
        <p:txBody>
          <a:bodyPr wrap="square" lIns="0" tIns="0" rIns="0" bIns="0" rtlCol="0" anchor="t"/>
          <a:lstStyle/>
          <a:p>
            <a:pPr marL="0" indent="0">
              <a:buNone/>
            </a:pPr>
            <a:r>
              <a:rPr lang="en-US" sz="1400" dirty="0">
                <a:solidFill>
                  <a:schemeClr val="tx1"/>
                </a:solidFill>
              </a:rPr>
              <a:t>A repeat buyer is worth a lower price.</a:t>
            </a:r>
            <a:endParaRPr lang="en-US" sz="1400" dirty="0"/>
          </a:p>
        </p:txBody>
      </p:sp>
      <p:sp>
        <p:nvSpPr>
          <p:cNvPr id="14" name="card Be exact about the spec"/>
          <p:cNvSpPr/>
          <p:nvPr/>
        </p:nvSpPr>
        <p:spPr>
          <a:xfrm>
            <a:off x="457200" y="2606040"/>
            <a:ext cx="4023360" cy="1280160"/>
          </a:xfrm>
          <a:prstGeom prst="roundRect">
            <a:avLst>
              <a:gd name="adj" fmla="val 7143"/>
            </a:avLst>
          </a:prstGeom>
          <a:solidFill>
            <a:schemeClr val="bg2"/>
          </a:solidFill>
          <a:ln w="12700">
            <a:solidFill>
              <a:schemeClr val="bg2"/>
            </a:solidFill>
            <a:prstDash val="solid"/>
          </a:ln>
        </p:spPr>
      </p:sp>
      <p:sp>
        <p:nvSpPr>
          <p:cNvPr id="15" name="icon-circle Be exact about the spec"/>
          <p:cNvSpPr/>
          <p:nvPr/>
        </p:nvSpPr>
        <p:spPr>
          <a:xfrm>
            <a:off x="621792" y="2770632"/>
            <a:ext cx="457200" cy="457200"/>
          </a:xfrm>
          <a:prstGeom prst="ellipse">
            <a:avLst/>
          </a:prstGeom>
          <a:solidFill>
            <a:schemeClr val="accent2"/>
          </a:solidFill>
          <a:ln w="12700">
            <a:solidFill>
              <a:schemeClr val="accent2"/>
            </a:solidFill>
            <a:prstDash val="solid"/>
          </a:ln>
        </p:spPr>
      </p:sp>
      <p:pic>
        <p:nvPicPr>
          <p:cNvPr id="16" name="icon FaClipboardList" descr="preencoded.png"/>
          <p:cNvPicPr>
            <a:picLocks noChangeAspect="1"/>
          </p:cNvPicPr>
          <p:nvPr/>
        </p:nvPicPr>
        <p:blipFill>
          <a:blip r:embed="rId5"/>
          <a:stretch>
            <a:fillRect/>
          </a:stretch>
        </p:blipFill>
        <p:spPr>
          <a:xfrm>
            <a:off x="740664" y="2889504"/>
            <a:ext cx="219456" cy="219456"/>
          </a:xfrm>
          <a:prstGeom prst="rect">
            <a:avLst/>
          </a:prstGeom>
        </p:spPr>
      </p:pic>
      <p:sp>
        <p:nvSpPr>
          <p:cNvPr id="17" name="Text 11"/>
          <p:cNvSpPr txBox="1"/>
          <p:nvPr/>
        </p:nvSpPr>
        <p:spPr>
          <a:xfrm>
            <a:off x="1207008" y="275234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Be exact about the spec</a:t>
            </a:r>
            <a:endParaRPr lang="en-US" sz="1600" dirty="0"/>
          </a:p>
        </p:txBody>
      </p:sp>
      <p:sp>
        <p:nvSpPr>
          <p:cNvPr id="18" name="Text 12"/>
          <p:cNvSpPr txBox="1"/>
          <p:nvPr/>
        </p:nvSpPr>
        <p:spPr>
          <a:xfrm>
            <a:off x="1207008" y="3081528"/>
            <a:ext cx="3108960" cy="676656"/>
          </a:xfrm>
          <a:prstGeom prst="rect">
            <a:avLst/>
          </a:prstGeom>
          <a:noFill/>
          <a:ln/>
        </p:spPr>
        <p:txBody>
          <a:bodyPr wrap="square" lIns="0" tIns="0" rIns="0" bIns="0" rtlCol="0" anchor="t"/>
          <a:lstStyle/>
          <a:p>
            <a:pPr marL="0" indent="0">
              <a:buNone/>
            </a:pPr>
            <a:r>
              <a:rPr lang="en-US" sz="1400" dirty="0">
                <a:solidFill>
                  <a:schemeClr val="tx1"/>
                </a:solidFill>
              </a:rPr>
              <a:t>Model, material, colour, packaging.</a:t>
            </a:r>
            <a:endParaRPr lang="en-US" sz="1400" dirty="0"/>
          </a:p>
        </p:txBody>
      </p:sp>
      <p:sp>
        <p:nvSpPr>
          <p:cNvPr id="19" name="card Order a sample first"/>
          <p:cNvSpPr/>
          <p:nvPr/>
        </p:nvSpPr>
        <p:spPr>
          <a:xfrm>
            <a:off x="4663440" y="2606040"/>
            <a:ext cx="4023360" cy="1280160"/>
          </a:xfrm>
          <a:prstGeom prst="roundRect">
            <a:avLst>
              <a:gd name="adj" fmla="val 7143"/>
            </a:avLst>
          </a:prstGeom>
          <a:solidFill>
            <a:schemeClr val="bg2"/>
          </a:solidFill>
          <a:ln w="12700">
            <a:solidFill>
              <a:schemeClr val="bg2"/>
            </a:solidFill>
            <a:prstDash val="solid"/>
          </a:ln>
        </p:spPr>
      </p:sp>
      <p:sp>
        <p:nvSpPr>
          <p:cNvPr id="20" name="icon-circle Order a sample first"/>
          <p:cNvSpPr/>
          <p:nvPr/>
        </p:nvSpPr>
        <p:spPr>
          <a:xfrm>
            <a:off x="4828032" y="2770632"/>
            <a:ext cx="457200" cy="457200"/>
          </a:xfrm>
          <a:prstGeom prst="ellipse">
            <a:avLst/>
          </a:prstGeom>
          <a:solidFill>
            <a:schemeClr val="accent6"/>
          </a:solidFill>
          <a:ln w="12700">
            <a:solidFill>
              <a:schemeClr val="accent6"/>
            </a:solidFill>
            <a:prstDash val="solid"/>
          </a:ln>
        </p:spPr>
      </p:sp>
      <p:pic>
        <p:nvPicPr>
          <p:cNvPr id="21" name="icon FaBoxOpen" descr="preencoded.png"/>
          <p:cNvPicPr>
            <a:picLocks noChangeAspect="1"/>
          </p:cNvPicPr>
          <p:nvPr/>
        </p:nvPicPr>
        <p:blipFill>
          <a:blip r:embed="rId6"/>
          <a:stretch>
            <a:fillRect/>
          </a:stretch>
        </p:blipFill>
        <p:spPr>
          <a:xfrm>
            <a:off x="4946904" y="2889504"/>
            <a:ext cx="219456" cy="219456"/>
          </a:xfrm>
          <a:prstGeom prst="rect">
            <a:avLst/>
          </a:prstGeom>
        </p:spPr>
      </p:pic>
      <p:sp>
        <p:nvSpPr>
          <p:cNvPr id="22" name="Text 15"/>
          <p:cNvSpPr txBox="1"/>
          <p:nvPr/>
        </p:nvSpPr>
        <p:spPr>
          <a:xfrm>
            <a:off x="5413248" y="275234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Order a sample first</a:t>
            </a:r>
            <a:endParaRPr lang="en-US" sz="1600" dirty="0"/>
          </a:p>
        </p:txBody>
      </p:sp>
      <p:sp>
        <p:nvSpPr>
          <p:cNvPr id="23" name="Text 16"/>
          <p:cNvSpPr txBox="1"/>
          <p:nvPr/>
        </p:nvSpPr>
        <p:spPr>
          <a:xfrm>
            <a:off x="5413248" y="3081528"/>
            <a:ext cx="3108960" cy="676656"/>
          </a:xfrm>
          <a:prstGeom prst="rect">
            <a:avLst/>
          </a:prstGeom>
          <a:noFill/>
          <a:ln/>
        </p:spPr>
        <p:txBody>
          <a:bodyPr wrap="square" lIns="0" tIns="0" rIns="0" bIns="0" rtlCol="0" anchor="t"/>
          <a:lstStyle/>
          <a:p>
            <a:pPr marL="0" indent="0">
              <a:buNone/>
            </a:pPr>
            <a:r>
              <a:rPr lang="en-US" sz="1400" dirty="0">
                <a:solidFill>
                  <a:schemeClr val="tx1"/>
                </a:solidFill>
              </a:rPr>
              <a:t>Test it like a customer. Keep it as evidence.</a:t>
            </a:r>
            <a:endParaRPr lang="en-US" sz="1400" dirty="0"/>
          </a:p>
        </p:txBody>
      </p:sp>
      <p:sp>
        <p:nvSpPr>
          <p:cNvPr id="24" name="payment bar"/>
          <p:cNvSpPr/>
          <p:nvPr/>
        </p:nvSpPr>
        <p:spPr>
          <a:xfrm>
            <a:off x="457200" y="4114800"/>
            <a:ext cx="8229600" cy="502920"/>
          </a:xfrm>
          <a:prstGeom prst="roundRect">
            <a:avLst>
              <a:gd name="adj" fmla="val 14545"/>
            </a:avLst>
          </a:prstGeom>
          <a:solidFill>
            <a:srgbClr val="0B1F3A"/>
          </a:solidFill>
          <a:ln w="12700">
            <a:solidFill>
              <a:srgbClr val="0B1F3A"/>
            </a:solidFill>
            <a:prstDash val="solid"/>
          </a:ln>
        </p:spPr>
      </p:sp>
      <p:sp>
        <p:nvSpPr>
          <p:cNvPr id="25" name="Text 18"/>
          <p:cNvSpPr txBox="1"/>
          <p:nvPr/>
        </p:nvSpPr>
        <p:spPr>
          <a:xfrm>
            <a:off x="640080" y="4224528"/>
            <a:ext cx="7863840" cy="274320"/>
          </a:xfrm>
          <a:prstGeom prst="rect">
            <a:avLst/>
          </a:prstGeom>
          <a:noFill/>
          <a:ln/>
        </p:spPr>
        <p:txBody>
          <a:bodyPr wrap="square" lIns="0" tIns="0" rIns="0" bIns="0" rtlCol="0" anchor="t"/>
          <a:lstStyle/>
          <a:p>
            <a:pPr marL="0" indent="0">
              <a:buNone/>
            </a:pPr>
            <a:r>
              <a:rPr lang="en-US" sz="1400" b="1" dirty="0">
                <a:solidFill>
                  <a:schemeClr val="accent1"/>
                </a:solidFill>
              </a:rPr>
              <a:t>Typical payment: </a:t>
            </a:r>
            <a:r>
              <a:rPr lang="en-US" sz="1400" dirty="0">
                <a:solidFill>
                  <a:schemeClr val="bg1"/>
                </a:solidFill>
              </a:rPr>
              <a:t>30% deposit, 70% before shipment or against the bill of lading.</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6: air or sea?</a:t>
            </a:r>
            <a:endParaRPr lang="en-US" sz="2800" dirty="0"/>
          </a:p>
        </p:txBody>
      </p:sp>
      <p:pic>
        <p:nvPicPr>
          <p:cNvPr id="4" name="Container ship at a port" descr="Container ship at a port"/>
          <p:cNvPicPr>
            <a:picLocks noChangeAspect="1"/>
          </p:cNvPicPr>
          <p:nvPr/>
        </p:nvPicPr>
        <p:blipFill>
          <a:blip r:embed="rId3"/>
          <a:stretch>
            <a:fillRect/>
          </a:stretch>
        </p:blipFill>
        <p:spPr>
          <a:xfrm>
            <a:off x="457200" y="1188720"/>
            <a:ext cx="3931920" cy="1828800"/>
          </a:xfrm>
          <a:prstGeom prst="rect">
            <a:avLst/>
          </a:prstGeom>
        </p:spPr>
      </p:pic>
      <p:sp>
        <p:nvSpPr>
          <p:cNvPr id="5" name="Text 1"/>
          <p:cNvSpPr txBox="1"/>
          <p:nvPr/>
        </p:nvSpPr>
        <p:spPr>
          <a:xfrm>
            <a:off x="457200" y="3063240"/>
            <a:ext cx="3931920" cy="201168"/>
          </a:xfrm>
          <a:prstGeom prst="rect">
            <a:avLst/>
          </a:prstGeom>
          <a:noFill/>
          <a:ln/>
        </p:spPr>
        <p:txBody>
          <a:bodyPr wrap="square" lIns="0" tIns="0" rIns="0" bIns="0" rtlCol="0" anchor="t"/>
          <a:lstStyle/>
          <a:p>
            <a:pPr marL="0" indent="0">
              <a:buNone/>
            </a:pPr>
            <a:r>
              <a:rPr lang="en-US" sz="1000" i="1" dirty="0">
                <a:solidFill>
                  <a:schemeClr val="accent4"/>
                </a:solidFill>
              </a:rPr>
              <a:t>Sea freight. Photo: Downtowngal, CC BY-SA 4.0</a:t>
            </a:r>
            <a:endParaRPr lang="en-US" sz="1000" dirty="0"/>
          </a:p>
        </p:txBody>
      </p:sp>
      <p:pic>
        <p:nvPicPr>
          <p:cNvPr id="6" name="Cargo aircraft being loaded" descr="Cargo aircraft being loaded"/>
          <p:cNvPicPr>
            <a:picLocks noChangeAspect="1"/>
          </p:cNvPicPr>
          <p:nvPr/>
        </p:nvPicPr>
        <p:blipFill>
          <a:blip r:embed="rId4"/>
          <a:stretch>
            <a:fillRect/>
          </a:stretch>
        </p:blipFill>
        <p:spPr>
          <a:xfrm>
            <a:off x="4754880" y="1188720"/>
            <a:ext cx="3931920" cy="1828800"/>
          </a:xfrm>
          <a:prstGeom prst="rect">
            <a:avLst/>
          </a:prstGeom>
        </p:spPr>
      </p:pic>
      <p:sp>
        <p:nvSpPr>
          <p:cNvPr id="7" name="Text 2"/>
          <p:cNvSpPr txBox="1"/>
          <p:nvPr/>
        </p:nvSpPr>
        <p:spPr>
          <a:xfrm>
            <a:off x="4754880" y="3063240"/>
            <a:ext cx="3931920" cy="201168"/>
          </a:xfrm>
          <a:prstGeom prst="rect">
            <a:avLst/>
          </a:prstGeom>
          <a:noFill/>
          <a:ln/>
        </p:spPr>
        <p:txBody>
          <a:bodyPr wrap="square" lIns="0" tIns="0" rIns="0" bIns="0" rtlCol="0" anchor="t"/>
          <a:lstStyle/>
          <a:p>
            <a:pPr marL="0" indent="0">
              <a:buNone/>
            </a:pPr>
            <a:r>
              <a:rPr lang="en-US" sz="1000" i="1" dirty="0">
                <a:solidFill>
                  <a:schemeClr val="accent4"/>
                </a:solidFill>
              </a:rPr>
              <a:t>Air cargo. Photo: Aleksandr Markin, CC BY-SA 2.0</a:t>
            </a:r>
            <a:endParaRPr lang="en-US" sz="1000" dirty="0"/>
          </a:p>
        </p:txBody>
      </p:sp>
      <p:sp>
        <p:nvSpPr>
          <p:cNvPr id="8" name="cell"/>
          <p:cNvSpPr/>
          <p:nvPr/>
        </p:nvSpPr>
        <p:spPr>
          <a:xfrm>
            <a:off x="457200" y="3383280"/>
            <a:ext cx="1463040" cy="310896"/>
          </a:xfrm>
          <a:prstGeom prst="roundRect">
            <a:avLst>
              <a:gd name="adj" fmla="val 11765"/>
            </a:avLst>
          </a:prstGeom>
          <a:solidFill>
            <a:srgbClr val="FFFFFF"/>
          </a:solidFill>
          <a:ln w="12700">
            <a:solidFill>
              <a:srgbClr val="FFFFFF"/>
            </a:solidFill>
            <a:prstDash val="solid"/>
          </a:ln>
        </p:spPr>
      </p:sp>
      <p:sp>
        <p:nvSpPr>
          <p:cNvPr id="9" name="Text 4"/>
          <p:cNvSpPr txBox="1"/>
          <p:nvPr/>
        </p:nvSpPr>
        <p:spPr>
          <a:xfrm>
            <a:off x="548640" y="3419856"/>
            <a:ext cx="1280160" cy="237744"/>
          </a:xfrm>
          <a:prstGeom prst="rect">
            <a:avLst/>
          </a:prstGeom>
          <a:noFill/>
          <a:ln/>
        </p:spPr>
        <p:txBody>
          <a:bodyPr wrap="square" lIns="0" tIns="0" rIns="0" bIns="0" rtlCol="0" anchor="ctr"/>
          <a:lstStyle/>
          <a:p>
            <a:pPr marL="0" indent="0">
              <a:buNone/>
            </a:pPr>
            <a:endParaRPr lang="en-US" sz="1300" dirty="0"/>
          </a:p>
        </p:txBody>
      </p:sp>
      <p:sp>
        <p:nvSpPr>
          <p:cNvPr id="10" name="cell"/>
          <p:cNvSpPr/>
          <p:nvPr/>
        </p:nvSpPr>
        <p:spPr>
          <a:xfrm>
            <a:off x="2011680" y="3383280"/>
            <a:ext cx="3246120" cy="310896"/>
          </a:xfrm>
          <a:prstGeom prst="roundRect">
            <a:avLst>
              <a:gd name="adj" fmla="val 11765"/>
            </a:avLst>
          </a:prstGeom>
          <a:solidFill>
            <a:schemeClr val="accent4"/>
          </a:solidFill>
          <a:ln w="12700">
            <a:solidFill>
              <a:schemeClr val="accent4"/>
            </a:solidFill>
            <a:prstDash val="solid"/>
          </a:ln>
        </p:spPr>
      </p:sp>
      <p:sp>
        <p:nvSpPr>
          <p:cNvPr id="11" name="Text 6"/>
          <p:cNvSpPr txBox="1"/>
          <p:nvPr/>
        </p:nvSpPr>
        <p:spPr>
          <a:xfrm>
            <a:off x="2103120" y="3419856"/>
            <a:ext cx="3063240" cy="237744"/>
          </a:xfrm>
          <a:prstGeom prst="rect">
            <a:avLst/>
          </a:prstGeom>
          <a:noFill/>
          <a:ln/>
        </p:spPr>
        <p:txBody>
          <a:bodyPr wrap="square" lIns="0" tIns="0" rIns="0" bIns="0" rtlCol="0" anchor="ctr"/>
          <a:lstStyle/>
          <a:p>
            <a:pPr marL="0" indent="0">
              <a:buNone/>
            </a:pPr>
            <a:r>
              <a:rPr lang="en-US" sz="1300" b="1" dirty="0">
                <a:solidFill>
                  <a:srgbClr val="FFFFFF"/>
                </a:solidFill>
              </a:rPr>
              <a:t>Air freight</a:t>
            </a:r>
            <a:endParaRPr lang="en-US" sz="1300" dirty="0"/>
          </a:p>
        </p:txBody>
      </p:sp>
      <p:sp>
        <p:nvSpPr>
          <p:cNvPr id="12" name="cell"/>
          <p:cNvSpPr/>
          <p:nvPr/>
        </p:nvSpPr>
        <p:spPr>
          <a:xfrm>
            <a:off x="5349240" y="3383280"/>
            <a:ext cx="3246120" cy="310896"/>
          </a:xfrm>
          <a:prstGeom prst="roundRect">
            <a:avLst>
              <a:gd name="adj" fmla="val 11765"/>
            </a:avLst>
          </a:prstGeom>
          <a:solidFill>
            <a:schemeClr val="accent2"/>
          </a:solidFill>
          <a:ln w="12700">
            <a:solidFill>
              <a:schemeClr val="accent2"/>
            </a:solidFill>
            <a:prstDash val="solid"/>
          </a:ln>
        </p:spPr>
      </p:sp>
      <p:sp>
        <p:nvSpPr>
          <p:cNvPr id="13" name="Text 8"/>
          <p:cNvSpPr txBox="1"/>
          <p:nvPr/>
        </p:nvSpPr>
        <p:spPr>
          <a:xfrm>
            <a:off x="5440680" y="3419856"/>
            <a:ext cx="3063240" cy="237744"/>
          </a:xfrm>
          <a:prstGeom prst="rect">
            <a:avLst/>
          </a:prstGeom>
          <a:noFill/>
          <a:ln/>
        </p:spPr>
        <p:txBody>
          <a:bodyPr wrap="square" lIns="0" tIns="0" rIns="0" bIns="0" rtlCol="0" anchor="ctr"/>
          <a:lstStyle/>
          <a:p>
            <a:pPr marL="0" indent="0">
              <a:buNone/>
            </a:pPr>
            <a:r>
              <a:rPr lang="en-US" sz="1300" b="1" dirty="0">
                <a:solidFill>
                  <a:srgbClr val="FFFFFF"/>
                </a:solidFill>
              </a:rPr>
              <a:t>Sea freight</a:t>
            </a:r>
            <a:endParaRPr lang="en-US" sz="1300" dirty="0"/>
          </a:p>
        </p:txBody>
      </p:sp>
      <p:sp>
        <p:nvSpPr>
          <p:cNvPr id="14" name="cell"/>
          <p:cNvSpPr/>
          <p:nvPr/>
        </p:nvSpPr>
        <p:spPr>
          <a:xfrm>
            <a:off x="457200" y="3730752"/>
            <a:ext cx="1463040" cy="310896"/>
          </a:xfrm>
          <a:prstGeom prst="roundRect">
            <a:avLst>
              <a:gd name="adj" fmla="val 11765"/>
            </a:avLst>
          </a:prstGeom>
          <a:solidFill>
            <a:schemeClr val="bg2"/>
          </a:solidFill>
          <a:ln w="12700">
            <a:solidFill>
              <a:schemeClr val="bg2"/>
            </a:solidFill>
            <a:prstDash val="solid"/>
          </a:ln>
        </p:spPr>
      </p:sp>
      <p:sp>
        <p:nvSpPr>
          <p:cNvPr id="15" name="Text 10"/>
          <p:cNvSpPr txBox="1"/>
          <p:nvPr/>
        </p:nvSpPr>
        <p:spPr>
          <a:xfrm>
            <a:off x="548640" y="3767328"/>
            <a:ext cx="1280160" cy="237744"/>
          </a:xfrm>
          <a:prstGeom prst="rect">
            <a:avLst/>
          </a:prstGeom>
          <a:noFill/>
          <a:ln/>
        </p:spPr>
        <p:txBody>
          <a:bodyPr wrap="square" lIns="0" tIns="0" rIns="0" bIns="0" rtlCol="0" anchor="ctr"/>
          <a:lstStyle/>
          <a:p>
            <a:pPr marL="0" indent="0">
              <a:buNone/>
            </a:pPr>
            <a:r>
              <a:rPr lang="en-US" sz="1300" b="1" dirty="0">
                <a:solidFill>
                  <a:schemeClr val="tx1"/>
                </a:solidFill>
              </a:rPr>
              <a:t>Speed</a:t>
            </a:r>
            <a:endParaRPr lang="en-US" sz="1300" dirty="0"/>
          </a:p>
        </p:txBody>
      </p:sp>
      <p:sp>
        <p:nvSpPr>
          <p:cNvPr id="16" name="cell"/>
          <p:cNvSpPr/>
          <p:nvPr/>
        </p:nvSpPr>
        <p:spPr>
          <a:xfrm>
            <a:off x="2011680" y="3730752"/>
            <a:ext cx="3246120" cy="310896"/>
          </a:xfrm>
          <a:prstGeom prst="roundRect">
            <a:avLst>
              <a:gd name="adj" fmla="val 11765"/>
            </a:avLst>
          </a:prstGeom>
          <a:solidFill>
            <a:srgbClr val="FFFFFF"/>
          </a:solidFill>
          <a:ln w="12700">
            <a:solidFill>
              <a:srgbClr val="FFFFFF"/>
            </a:solidFill>
            <a:prstDash val="solid"/>
          </a:ln>
        </p:spPr>
      </p:sp>
      <p:sp>
        <p:nvSpPr>
          <p:cNvPr id="17" name="Text 12"/>
          <p:cNvSpPr txBox="1"/>
          <p:nvPr/>
        </p:nvSpPr>
        <p:spPr>
          <a:xfrm>
            <a:off x="2103120" y="3767328"/>
            <a:ext cx="3063240" cy="237744"/>
          </a:xfrm>
          <a:prstGeom prst="rect">
            <a:avLst/>
          </a:prstGeom>
          <a:noFill/>
          <a:ln/>
        </p:spPr>
        <p:txBody>
          <a:bodyPr wrap="square" lIns="0" tIns="0" rIns="0" bIns="0" rtlCol="0" anchor="ctr"/>
          <a:lstStyle/>
          <a:p>
            <a:pPr marL="0" indent="0">
              <a:buNone/>
            </a:pPr>
            <a:r>
              <a:rPr lang="en-US" sz="1300" dirty="0">
                <a:solidFill>
                  <a:schemeClr val="tx1"/>
                </a:solidFill>
              </a:rPr>
              <a:t>About 1 to 2 weeks</a:t>
            </a:r>
            <a:endParaRPr lang="en-US" sz="1300" dirty="0"/>
          </a:p>
        </p:txBody>
      </p:sp>
      <p:sp>
        <p:nvSpPr>
          <p:cNvPr id="18" name="cell"/>
          <p:cNvSpPr/>
          <p:nvPr/>
        </p:nvSpPr>
        <p:spPr>
          <a:xfrm>
            <a:off x="5349240" y="3730752"/>
            <a:ext cx="3246120" cy="310896"/>
          </a:xfrm>
          <a:prstGeom prst="roundRect">
            <a:avLst>
              <a:gd name="adj" fmla="val 11765"/>
            </a:avLst>
          </a:prstGeom>
          <a:solidFill>
            <a:srgbClr val="FFFFFF"/>
          </a:solidFill>
          <a:ln w="12700">
            <a:solidFill>
              <a:srgbClr val="FFFFFF"/>
            </a:solidFill>
            <a:prstDash val="solid"/>
          </a:ln>
        </p:spPr>
      </p:sp>
      <p:sp>
        <p:nvSpPr>
          <p:cNvPr id="19" name="Text 14"/>
          <p:cNvSpPr txBox="1"/>
          <p:nvPr/>
        </p:nvSpPr>
        <p:spPr>
          <a:xfrm>
            <a:off x="5440680" y="3767328"/>
            <a:ext cx="3063240" cy="237744"/>
          </a:xfrm>
          <a:prstGeom prst="rect">
            <a:avLst/>
          </a:prstGeom>
          <a:noFill/>
          <a:ln/>
        </p:spPr>
        <p:txBody>
          <a:bodyPr wrap="square" lIns="0" tIns="0" rIns="0" bIns="0" rtlCol="0" anchor="ctr"/>
          <a:lstStyle/>
          <a:p>
            <a:pPr marL="0" indent="0">
              <a:buNone/>
            </a:pPr>
            <a:r>
              <a:rPr lang="en-US" sz="1300" dirty="0">
                <a:solidFill>
                  <a:schemeClr val="tx1"/>
                </a:solidFill>
              </a:rPr>
              <a:t>Several weeks</a:t>
            </a:r>
            <a:endParaRPr lang="en-US" sz="1300" dirty="0"/>
          </a:p>
        </p:txBody>
      </p:sp>
      <p:sp>
        <p:nvSpPr>
          <p:cNvPr id="20" name="cell"/>
          <p:cNvSpPr/>
          <p:nvPr/>
        </p:nvSpPr>
        <p:spPr>
          <a:xfrm>
            <a:off x="457200" y="4078224"/>
            <a:ext cx="1463040" cy="310896"/>
          </a:xfrm>
          <a:prstGeom prst="roundRect">
            <a:avLst>
              <a:gd name="adj" fmla="val 11765"/>
            </a:avLst>
          </a:prstGeom>
          <a:solidFill>
            <a:schemeClr val="bg2"/>
          </a:solidFill>
          <a:ln w="12700">
            <a:solidFill>
              <a:schemeClr val="bg2"/>
            </a:solidFill>
            <a:prstDash val="solid"/>
          </a:ln>
        </p:spPr>
      </p:sp>
      <p:sp>
        <p:nvSpPr>
          <p:cNvPr id="21" name="Text 16"/>
          <p:cNvSpPr txBox="1"/>
          <p:nvPr/>
        </p:nvSpPr>
        <p:spPr>
          <a:xfrm>
            <a:off x="548640" y="4114800"/>
            <a:ext cx="1280160" cy="237744"/>
          </a:xfrm>
          <a:prstGeom prst="rect">
            <a:avLst/>
          </a:prstGeom>
          <a:noFill/>
          <a:ln/>
        </p:spPr>
        <p:txBody>
          <a:bodyPr wrap="square" lIns="0" tIns="0" rIns="0" bIns="0" rtlCol="0" anchor="ctr"/>
          <a:lstStyle/>
          <a:p>
            <a:pPr marL="0" indent="0">
              <a:buNone/>
            </a:pPr>
            <a:r>
              <a:rPr lang="en-US" sz="1300" b="1" dirty="0">
                <a:solidFill>
                  <a:schemeClr val="tx1"/>
                </a:solidFill>
              </a:rPr>
              <a:t>Cost</a:t>
            </a:r>
            <a:endParaRPr lang="en-US" sz="1300" dirty="0"/>
          </a:p>
        </p:txBody>
      </p:sp>
      <p:sp>
        <p:nvSpPr>
          <p:cNvPr id="22" name="cell"/>
          <p:cNvSpPr/>
          <p:nvPr/>
        </p:nvSpPr>
        <p:spPr>
          <a:xfrm>
            <a:off x="2011680" y="4078224"/>
            <a:ext cx="3246120" cy="310896"/>
          </a:xfrm>
          <a:prstGeom prst="roundRect">
            <a:avLst>
              <a:gd name="adj" fmla="val 11765"/>
            </a:avLst>
          </a:prstGeom>
          <a:solidFill>
            <a:srgbClr val="FFFFFF"/>
          </a:solidFill>
          <a:ln w="12700">
            <a:solidFill>
              <a:srgbClr val="FFFFFF"/>
            </a:solidFill>
            <a:prstDash val="solid"/>
          </a:ln>
        </p:spPr>
      </p:sp>
      <p:sp>
        <p:nvSpPr>
          <p:cNvPr id="23" name="Text 18"/>
          <p:cNvSpPr txBox="1"/>
          <p:nvPr/>
        </p:nvSpPr>
        <p:spPr>
          <a:xfrm>
            <a:off x="2103120" y="4114800"/>
            <a:ext cx="3063240" cy="237744"/>
          </a:xfrm>
          <a:prstGeom prst="rect">
            <a:avLst/>
          </a:prstGeom>
          <a:noFill/>
          <a:ln/>
        </p:spPr>
        <p:txBody>
          <a:bodyPr wrap="square" lIns="0" tIns="0" rIns="0" bIns="0" rtlCol="0" anchor="ctr"/>
          <a:lstStyle/>
          <a:p>
            <a:pPr marL="0" indent="0">
              <a:buNone/>
            </a:pPr>
            <a:r>
              <a:rPr lang="en-US" sz="1300" dirty="0">
                <a:solidFill>
                  <a:schemeClr val="tx1"/>
                </a:solidFill>
              </a:rPr>
              <a:t>Higher per kg</a:t>
            </a:r>
            <a:endParaRPr lang="en-US" sz="1300" dirty="0"/>
          </a:p>
        </p:txBody>
      </p:sp>
      <p:sp>
        <p:nvSpPr>
          <p:cNvPr id="24" name="cell"/>
          <p:cNvSpPr/>
          <p:nvPr/>
        </p:nvSpPr>
        <p:spPr>
          <a:xfrm>
            <a:off x="5349240" y="4078224"/>
            <a:ext cx="3246120" cy="310896"/>
          </a:xfrm>
          <a:prstGeom prst="roundRect">
            <a:avLst>
              <a:gd name="adj" fmla="val 11765"/>
            </a:avLst>
          </a:prstGeom>
          <a:solidFill>
            <a:srgbClr val="FFFFFF"/>
          </a:solidFill>
          <a:ln w="12700">
            <a:solidFill>
              <a:srgbClr val="FFFFFF"/>
            </a:solidFill>
            <a:prstDash val="solid"/>
          </a:ln>
        </p:spPr>
      </p:sp>
      <p:sp>
        <p:nvSpPr>
          <p:cNvPr id="25" name="Text 20"/>
          <p:cNvSpPr txBox="1"/>
          <p:nvPr/>
        </p:nvSpPr>
        <p:spPr>
          <a:xfrm>
            <a:off x="5440680" y="4114800"/>
            <a:ext cx="3063240" cy="237744"/>
          </a:xfrm>
          <a:prstGeom prst="rect">
            <a:avLst/>
          </a:prstGeom>
          <a:noFill/>
          <a:ln/>
        </p:spPr>
        <p:txBody>
          <a:bodyPr wrap="square" lIns="0" tIns="0" rIns="0" bIns="0" rtlCol="0" anchor="ctr"/>
          <a:lstStyle/>
          <a:p>
            <a:pPr marL="0" indent="0">
              <a:buNone/>
            </a:pPr>
            <a:r>
              <a:rPr lang="en-US" sz="1300" dirty="0">
                <a:solidFill>
                  <a:schemeClr val="tx1"/>
                </a:solidFill>
              </a:rPr>
              <a:t>Much lower per unit</a:t>
            </a:r>
            <a:endParaRPr lang="en-US" sz="1300" dirty="0"/>
          </a:p>
        </p:txBody>
      </p:sp>
      <p:sp>
        <p:nvSpPr>
          <p:cNvPr id="26" name="cell"/>
          <p:cNvSpPr/>
          <p:nvPr/>
        </p:nvSpPr>
        <p:spPr>
          <a:xfrm>
            <a:off x="457200" y="4425696"/>
            <a:ext cx="1463040" cy="310896"/>
          </a:xfrm>
          <a:prstGeom prst="roundRect">
            <a:avLst>
              <a:gd name="adj" fmla="val 11765"/>
            </a:avLst>
          </a:prstGeom>
          <a:solidFill>
            <a:schemeClr val="bg2"/>
          </a:solidFill>
          <a:ln w="12700">
            <a:solidFill>
              <a:schemeClr val="bg2"/>
            </a:solidFill>
            <a:prstDash val="solid"/>
          </a:ln>
        </p:spPr>
      </p:sp>
      <p:sp>
        <p:nvSpPr>
          <p:cNvPr id="27" name="Text 22"/>
          <p:cNvSpPr txBox="1"/>
          <p:nvPr/>
        </p:nvSpPr>
        <p:spPr>
          <a:xfrm>
            <a:off x="548640" y="4462272"/>
            <a:ext cx="1280160" cy="237744"/>
          </a:xfrm>
          <a:prstGeom prst="rect">
            <a:avLst/>
          </a:prstGeom>
          <a:noFill/>
          <a:ln/>
        </p:spPr>
        <p:txBody>
          <a:bodyPr wrap="square" lIns="0" tIns="0" rIns="0" bIns="0" rtlCol="0" anchor="ctr"/>
          <a:lstStyle/>
          <a:p>
            <a:pPr marL="0" indent="0">
              <a:buNone/>
            </a:pPr>
            <a:r>
              <a:rPr lang="en-US" sz="1300" b="1" dirty="0">
                <a:solidFill>
                  <a:schemeClr val="tx1"/>
                </a:solidFill>
              </a:rPr>
              <a:t>Best for</a:t>
            </a:r>
            <a:endParaRPr lang="en-US" sz="1300" dirty="0"/>
          </a:p>
        </p:txBody>
      </p:sp>
      <p:sp>
        <p:nvSpPr>
          <p:cNvPr id="28" name="cell"/>
          <p:cNvSpPr/>
          <p:nvPr/>
        </p:nvSpPr>
        <p:spPr>
          <a:xfrm>
            <a:off x="2011680" y="4425696"/>
            <a:ext cx="3246120" cy="310896"/>
          </a:xfrm>
          <a:prstGeom prst="roundRect">
            <a:avLst>
              <a:gd name="adj" fmla="val 11765"/>
            </a:avLst>
          </a:prstGeom>
          <a:solidFill>
            <a:srgbClr val="FFFFFF"/>
          </a:solidFill>
          <a:ln w="12700">
            <a:solidFill>
              <a:srgbClr val="FFFFFF"/>
            </a:solidFill>
            <a:prstDash val="solid"/>
          </a:ln>
        </p:spPr>
      </p:sp>
      <p:sp>
        <p:nvSpPr>
          <p:cNvPr id="29" name="Text 24"/>
          <p:cNvSpPr txBox="1"/>
          <p:nvPr/>
        </p:nvSpPr>
        <p:spPr>
          <a:xfrm>
            <a:off x="2103120" y="4462272"/>
            <a:ext cx="3063240" cy="237744"/>
          </a:xfrm>
          <a:prstGeom prst="rect">
            <a:avLst/>
          </a:prstGeom>
          <a:noFill/>
          <a:ln/>
        </p:spPr>
        <p:txBody>
          <a:bodyPr wrap="square" lIns="0" tIns="0" rIns="0" bIns="0" rtlCol="0" anchor="ctr"/>
          <a:lstStyle/>
          <a:p>
            <a:pPr marL="0" indent="0">
              <a:buNone/>
            </a:pPr>
            <a:r>
              <a:rPr lang="en-US" sz="1300" dirty="0">
                <a:solidFill>
                  <a:schemeClr val="tx1"/>
                </a:solidFill>
              </a:rPr>
              <a:t>Small, light, urgent</a:t>
            </a:r>
            <a:endParaRPr lang="en-US" sz="1300" dirty="0"/>
          </a:p>
        </p:txBody>
      </p:sp>
      <p:sp>
        <p:nvSpPr>
          <p:cNvPr id="30" name="cell"/>
          <p:cNvSpPr/>
          <p:nvPr/>
        </p:nvSpPr>
        <p:spPr>
          <a:xfrm>
            <a:off x="5349240" y="4425696"/>
            <a:ext cx="3246120" cy="310896"/>
          </a:xfrm>
          <a:prstGeom prst="roundRect">
            <a:avLst>
              <a:gd name="adj" fmla="val 11765"/>
            </a:avLst>
          </a:prstGeom>
          <a:solidFill>
            <a:srgbClr val="FFFFFF"/>
          </a:solidFill>
          <a:ln w="12700">
            <a:solidFill>
              <a:srgbClr val="FFFFFF"/>
            </a:solidFill>
            <a:prstDash val="solid"/>
          </a:ln>
        </p:spPr>
      </p:sp>
      <p:sp>
        <p:nvSpPr>
          <p:cNvPr id="31" name="Text 26"/>
          <p:cNvSpPr txBox="1"/>
          <p:nvPr/>
        </p:nvSpPr>
        <p:spPr>
          <a:xfrm>
            <a:off x="5440680" y="4462272"/>
            <a:ext cx="3063240" cy="237744"/>
          </a:xfrm>
          <a:prstGeom prst="rect">
            <a:avLst/>
          </a:prstGeom>
          <a:noFill/>
          <a:ln/>
        </p:spPr>
        <p:txBody>
          <a:bodyPr wrap="square" lIns="0" tIns="0" rIns="0" bIns="0" rtlCol="0" anchor="ctr"/>
          <a:lstStyle/>
          <a:p>
            <a:pPr marL="0" indent="0">
              <a:buNone/>
            </a:pPr>
            <a:r>
              <a:rPr lang="en-US" sz="1300" dirty="0">
                <a:solidFill>
                  <a:schemeClr val="tx1"/>
                </a:solidFill>
              </a:rPr>
              <a:t>Heavy, bulky, large</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bg1"/>
                </a:solidFill>
              </a:rPr>
              <a:t>Worked example: chargeable weight</a:t>
            </a:r>
            <a:endParaRPr lang="en-US" sz="2800" dirty="0"/>
          </a:p>
        </p:txBody>
      </p:sp>
      <p:sp>
        <p:nvSpPr>
          <p:cNvPr id="4" name="carton panel"/>
          <p:cNvSpPr/>
          <p:nvPr/>
        </p:nvSpPr>
        <p:spPr>
          <a:xfrm>
            <a:off x="457200" y="1280160"/>
            <a:ext cx="3840480" cy="3108960"/>
          </a:xfrm>
          <a:prstGeom prst="roundRect">
            <a:avLst>
              <a:gd name="adj" fmla="val 2941"/>
            </a:avLst>
          </a:prstGeom>
          <a:solidFill>
            <a:srgbClr val="13315C"/>
          </a:solidFill>
          <a:ln w="12700">
            <a:solidFill>
              <a:srgbClr val="13315C"/>
            </a:solidFill>
            <a:prstDash val="solid"/>
          </a:ln>
        </p:spPr>
      </p:sp>
      <p:sp>
        <p:nvSpPr>
          <p:cNvPr id="5" name="Text 2"/>
          <p:cNvSpPr txBox="1"/>
          <p:nvPr/>
        </p:nvSpPr>
        <p:spPr>
          <a:xfrm>
            <a:off x="685800" y="1417320"/>
            <a:ext cx="338328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ONE CARTON</a:t>
            </a:r>
            <a:endParaRPr lang="en-US" sz="1200" dirty="0"/>
          </a:p>
        </p:txBody>
      </p:sp>
      <p:sp>
        <p:nvSpPr>
          <p:cNvPr id="6" name="Text 3"/>
          <p:cNvSpPr txBox="1"/>
          <p:nvPr/>
        </p:nvSpPr>
        <p:spPr>
          <a:xfrm>
            <a:off x="685800" y="1783080"/>
            <a:ext cx="3383280" cy="457200"/>
          </a:xfrm>
          <a:prstGeom prst="rect">
            <a:avLst/>
          </a:prstGeom>
          <a:noFill/>
          <a:ln/>
        </p:spPr>
        <p:txBody>
          <a:bodyPr wrap="square" lIns="0" tIns="0" rIns="0" bIns="0" rtlCol="0" anchor="t"/>
          <a:lstStyle/>
          <a:p>
            <a:pPr marL="0" indent="0">
              <a:buNone/>
            </a:pPr>
            <a:r>
              <a:rPr lang="en-US" sz="2800" b="1" dirty="0">
                <a:solidFill>
                  <a:schemeClr val="bg1"/>
                </a:solidFill>
                <a:latin typeface="Cambria" pitchFamily="34" charset="0"/>
                <a:ea typeface="Cambria" pitchFamily="34" charset="-122"/>
                <a:cs typeface="Cambria" pitchFamily="34" charset="-120"/>
              </a:rPr>
              <a:t>60 × 40 × 50 cm</a:t>
            </a:r>
            <a:endParaRPr lang="en-US" sz="2800" dirty="0"/>
          </a:p>
        </p:txBody>
      </p:sp>
      <p:sp>
        <p:nvSpPr>
          <p:cNvPr id="7" name="Text 4"/>
          <p:cNvSpPr txBox="1"/>
          <p:nvPr/>
        </p:nvSpPr>
        <p:spPr>
          <a:xfrm>
            <a:off x="685800" y="2377440"/>
            <a:ext cx="3383280" cy="320040"/>
          </a:xfrm>
          <a:prstGeom prst="rect">
            <a:avLst/>
          </a:prstGeom>
          <a:noFill/>
          <a:ln/>
        </p:spPr>
        <p:txBody>
          <a:bodyPr wrap="square" lIns="0" tIns="0" rIns="0" bIns="0" rtlCol="0" anchor="t"/>
          <a:lstStyle/>
          <a:p>
            <a:pPr marL="0" indent="0">
              <a:buNone/>
            </a:pPr>
            <a:r>
              <a:rPr lang="en-US" sz="1800" dirty="0">
                <a:solidFill>
                  <a:schemeClr val="bg1"/>
                </a:solidFill>
              </a:rPr>
              <a:t>Actual weight: 15 kg</a:t>
            </a:r>
            <a:endParaRPr lang="en-US" sz="1800" dirty="0"/>
          </a:p>
        </p:txBody>
      </p:sp>
      <p:sp>
        <p:nvSpPr>
          <p:cNvPr id="8" name="Text 5"/>
          <p:cNvSpPr txBox="1"/>
          <p:nvPr/>
        </p:nvSpPr>
        <p:spPr>
          <a:xfrm>
            <a:off x="685800" y="2926080"/>
            <a:ext cx="3383280" cy="640080"/>
          </a:xfrm>
          <a:prstGeom prst="rect">
            <a:avLst/>
          </a:prstGeom>
          <a:noFill/>
          <a:ln/>
        </p:spPr>
        <p:txBody>
          <a:bodyPr wrap="square" lIns="0" tIns="0" rIns="0" bIns="0" rtlCol="0" anchor="t"/>
          <a:lstStyle/>
          <a:p>
            <a:pPr marL="0" indent="0">
              <a:buNone/>
            </a:pPr>
            <a:r>
              <a:rPr lang="en-US" sz="1600" dirty="0">
                <a:solidFill>
                  <a:schemeClr val="accent4"/>
                </a:solidFill>
              </a:rPr>
              <a:t>Volumetric weight = L × W × H ÷ 6,000</a:t>
            </a:r>
            <a:endParaRPr lang="en-US" sz="1600" dirty="0"/>
          </a:p>
        </p:txBody>
      </p:sp>
      <p:sp>
        <p:nvSpPr>
          <p:cNvPr id="9" name="Text 6"/>
          <p:cNvSpPr txBox="1"/>
          <p:nvPr/>
        </p:nvSpPr>
        <p:spPr>
          <a:xfrm>
            <a:off x="685800" y="3749040"/>
            <a:ext cx="3383280" cy="457200"/>
          </a:xfrm>
          <a:prstGeom prst="rect">
            <a:avLst/>
          </a:prstGeom>
          <a:noFill/>
          <a:ln/>
        </p:spPr>
        <p:txBody>
          <a:bodyPr wrap="square" lIns="0" tIns="0" rIns="0" bIns="0" rtlCol="0" anchor="t"/>
          <a:lstStyle/>
          <a:p>
            <a:pPr marL="0" indent="0">
              <a:buNone/>
            </a:pPr>
            <a:r>
              <a:rPr lang="en-US" sz="1400" i="1" dirty="0">
                <a:solidFill>
                  <a:schemeClr val="accent4"/>
                </a:solidFill>
              </a:rPr>
              <a:t>Always confirm the divisor your carrier uses.</a:t>
            </a:r>
            <a:endParaRPr lang="en-US" sz="1400" dirty="0"/>
          </a:p>
        </p:txBody>
      </p:sp>
      <p:sp>
        <p:nvSpPr>
          <p:cNvPr id="10" name="calc step 0"/>
          <p:cNvSpPr/>
          <p:nvPr/>
        </p:nvSpPr>
        <p:spPr>
          <a:xfrm>
            <a:off x="4572000" y="1280160"/>
            <a:ext cx="4114800" cy="914400"/>
          </a:xfrm>
          <a:prstGeom prst="roundRect">
            <a:avLst>
              <a:gd name="adj" fmla="val 10000"/>
            </a:avLst>
          </a:prstGeom>
          <a:solidFill>
            <a:srgbClr val="FFFFFF"/>
          </a:solidFill>
          <a:ln w="12700">
            <a:solidFill>
              <a:srgbClr val="FFFFFF"/>
            </a:solidFill>
            <a:prstDash val="solid"/>
          </a:ln>
        </p:spPr>
      </p:sp>
      <p:sp>
        <p:nvSpPr>
          <p:cNvPr id="11" name="Text 8"/>
          <p:cNvSpPr txBox="1"/>
          <p:nvPr/>
        </p:nvSpPr>
        <p:spPr>
          <a:xfrm>
            <a:off x="4754880" y="1417320"/>
            <a:ext cx="3749040" cy="365760"/>
          </a:xfrm>
          <a:prstGeom prst="rect">
            <a:avLst/>
          </a:prstGeom>
          <a:noFill/>
          <a:ln/>
        </p:spPr>
        <p:txBody>
          <a:bodyPr wrap="square" lIns="0" tIns="0" rIns="0" bIns="0" rtlCol="0" anchor="t"/>
          <a:lstStyle/>
          <a:p>
            <a:pPr marL="0" indent="0">
              <a:buNone/>
            </a:pPr>
            <a:r>
              <a:rPr lang="en-US" sz="2000" b="1" dirty="0">
                <a:solidFill>
                  <a:srgbClr val="0B1F3A"/>
                </a:solidFill>
                <a:latin typeface="Cambria" pitchFamily="34" charset="0"/>
                <a:ea typeface="Cambria" pitchFamily="34" charset="-122"/>
                <a:cs typeface="Cambria" pitchFamily="34" charset="-120"/>
              </a:rPr>
              <a:t>60 × 40 × 50 = 120,000</a:t>
            </a:r>
            <a:endParaRPr lang="en-US" sz="2000" dirty="0"/>
          </a:p>
        </p:txBody>
      </p:sp>
      <p:sp>
        <p:nvSpPr>
          <p:cNvPr id="12" name="Text 9"/>
          <p:cNvSpPr txBox="1"/>
          <p:nvPr/>
        </p:nvSpPr>
        <p:spPr>
          <a:xfrm>
            <a:off x="4754880" y="1810512"/>
            <a:ext cx="3749040" cy="274320"/>
          </a:xfrm>
          <a:prstGeom prst="rect">
            <a:avLst/>
          </a:prstGeom>
          <a:noFill/>
          <a:ln/>
        </p:spPr>
        <p:txBody>
          <a:bodyPr wrap="square" lIns="0" tIns="0" rIns="0" bIns="0" rtlCol="0" anchor="t"/>
          <a:lstStyle/>
          <a:p>
            <a:pPr marL="0" indent="0">
              <a:buNone/>
            </a:pPr>
            <a:r>
              <a:rPr lang="en-US" sz="1400" dirty="0">
                <a:solidFill>
                  <a:srgbClr val="0B1F3A"/>
                </a:solidFill>
              </a:rPr>
              <a:t>multiply the sides</a:t>
            </a:r>
            <a:endParaRPr lang="en-US" sz="1400" dirty="0"/>
          </a:p>
        </p:txBody>
      </p:sp>
      <p:sp>
        <p:nvSpPr>
          <p:cNvPr id="13" name="calc step 1"/>
          <p:cNvSpPr/>
          <p:nvPr/>
        </p:nvSpPr>
        <p:spPr>
          <a:xfrm>
            <a:off x="4572000" y="2331720"/>
            <a:ext cx="4114800" cy="914400"/>
          </a:xfrm>
          <a:prstGeom prst="roundRect">
            <a:avLst>
              <a:gd name="adj" fmla="val 10000"/>
            </a:avLst>
          </a:prstGeom>
          <a:solidFill>
            <a:srgbClr val="FFFFFF"/>
          </a:solidFill>
          <a:ln w="12700">
            <a:solidFill>
              <a:srgbClr val="FFFFFF"/>
            </a:solidFill>
            <a:prstDash val="solid"/>
          </a:ln>
        </p:spPr>
      </p:sp>
      <p:sp>
        <p:nvSpPr>
          <p:cNvPr id="14" name="Text 11"/>
          <p:cNvSpPr txBox="1"/>
          <p:nvPr/>
        </p:nvSpPr>
        <p:spPr>
          <a:xfrm>
            <a:off x="4754880" y="2468880"/>
            <a:ext cx="3749040" cy="365760"/>
          </a:xfrm>
          <a:prstGeom prst="rect">
            <a:avLst/>
          </a:prstGeom>
          <a:noFill/>
          <a:ln/>
        </p:spPr>
        <p:txBody>
          <a:bodyPr wrap="square" lIns="0" tIns="0" rIns="0" bIns="0" rtlCol="0" anchor="t"/>
          <a:lstStyle/>
          <a:p>
            <a:pPr marL="0" indent="0">
              <a:buNone/>
            </a:pPr>
            <a:r>
              <a:rPr lang="en-US" sz="2000" b="1" dirty="0">
                <a:solidFill>
                  <a:srgbClr val="0B1F3A"/>
                </a:solidFill>
                <a:latin typeface="Cambria" pitchFamily="34" charset="0"/>
                <a:ea typeface="Cambria" pitchFamily="34" charset="-122"/>
                <a:cs typeface="Cambria" pitchFamily="34" charset="-120"/>
              </a:rPr>
              <a:t>120,000 ÷ 6,000 = 20 kg</a:t>
            </a:r>
            <a:endParaRPr lang="en-US" sz="2000" dirty="0"/>
          </a:p>
        </p:txBody>
      </p:sp>
      <p:sp>
        <p:nvSpPr>
          <p:cNvPr id="15" name="Text 12"/>
          <p:cNvSpPr txBox="1"/>
          <p:nvPr/>
        </p:nvSpPr>
        <p:spPr>
          <a:xfrm>
            <a:off x="4754880" y="2862072"/>
            <a:ext cx="3749040" cy="274320"/>
          </a:xfrm>
          <a:prstGeom prst="rect">
            <a:avLst/>
          </a:prstGeom>
          <a:noFill/>
          <a:ln/>
        </p:spPr>
        <p:txBody>
          <a:bodyPr wrap="square" lIns="0" tIns="0" rIns="0" bIns="0" rtlCol="0" anchor="t"/>
          <a:lstStyle/>
          <a:p>
            <a:pPr marL="0" indent="0">
              <a:buNone/>
            </a:pPr>
            <a:r>
              <a:rPr lang="en-US" sz="1400" dirty="0">
                <a:solidFill>
                  <a:srgbClr val="0B1F3A"/>
                </a:solidFill>
              </a:rPr>
              <a:t>volumetric weight</a:t>
            </a:r>
            <a:endParaRPr lang="en-US" sz="1400" dirty="0"/>
          </a:p>
        </p:txBody>
      </p:sp>
      <p:sp>
        <p:nvSpPr>
          <p:cNvPr id="16" name="calc step 2"/>
          <p:cNvSpPr/>
          <p:nvPr/>
        </p:nvSpPr>
        <p:spPr>
          <a:xfrm>
            <a:off x="4572000" y="3383280"/>
            <a:ext cx="4114800" cy="914400"/>
          </a:xfrm>
          <a:prstGeom prst="roundRect">
            <a:avLst>
              <a:gd name="adj" fmla="val 10000"/>
            </a:avLst>
          </a:prstGeom>
          <a:solidFill>
            <a:schemeClr val="accent1"/>
          </a:solidFill>
          <a:ln w="12700">
            <a:solidFill>
              <a:schemeClr val="accent1"/>
            </a:solidFill>
            <a:prstDash val="solid"/>
          </a:ln>
        </p:spPr>
      </p:sp>
      <p:sp>
        <p:nvSpPr>
          <p:cNvPr id="17" name="Text 14"/>
          <p:cNvSpPr txBox="1"/>
          <p:nvPr/>
        </p:nvSpPr>
        <p:spPr>
          <a:xfrm>
            <a:off x="4754880" y="3520440"/>
            <a:ext cx="3749040" cy="365760"/>
          </a:xfrm>
          <a:prstGeom prst="rect">
            <a:avLst/>
          </a:prstGeom>
          <a:noFill/>
          <a:ln/>
        </p:spPr>
        <p:txBody>
          <a:bodyPr wrap="square" lIns="0" tIns="0" rIns="0" bIns="0" rtlCol="0" anchor="t"/>
          <a:lstStyle/>
          <a:p>
            <a:pPr marL="0" indent="0">
              <a:buNone/>
            </a:pPr>
            <a:r>
              <a:rPr lang="en-US" sz="2000" b="1" dirty="0">
                <a:solidFill>
                  <a:srgbClr val="0B1F3A"/>
                </a:solidFill>
                <a:latin typeface="Cambria" pitchFamily="34" charset="0"/>
                <a:ea typeface="Cambria" pitchFamily="34" charset="-122"/>
                <a:cs typeface="Cambria" pitchFamily="34" charset="-120"/>
              </a:rPr>
              <a:t>20 kg is more than 15 kg</a:t>
            </a:r>
            <a:endParaRPr lang="en-US" sz="2000" dirty="0"/>
          </a:p>
        </p:txBody>
      </p:sp>
      <p:sp>
        <p:nvSpPr>
          <p:cNvPr id="18" name="Text 15"/>
          <p:cNvSpPr txBox="1"/>
          <p:nvPr/>
        </p:nvSpPr>
        <p:spPr>
          <a:xfrm>
            <a:off x="4754880" y="3913632"/>
            <a:ext cx="3749040" cy="274320"/>
          </a:xfrm>
          <a:prstGeom prst="rect">
            <a:avLst/>
          </a:prstGeom>
          <a:noFill/>
          <a:ln/>
        </p:spPr>
        <p:txBody>
          <a:bodyPr wrap="square" lIns="0" tIns="0" rIns="0" bIns="0" rtlCol="0" anchor="t"/>
          <a:lstStyle/>
          <a:p>
            <a:pPr marL="0" indent="0">
              <a:buNone/>
            </a:pPr>
            <a:r>
              <a:rPr lang="en-US" sz="1400" dirty="0">
                <a:solidFill>
                  <a:srgbClr val="0B1F3A"/>
                </a:solidFill>
              </a:rPr>
              <a:t>so you are charged for 20 kg</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7: the documents that travel with goods</a:t>
            </a:r>
            <a:endParaRPr lang="en-US" sz="2800" dirty="0"/>
          </a:p>
        </p:txBody>
      </p:sp>
      <p:sp>
        <p:nvSpPr>
          <p:cNvPr id="4" name="party Supplier"/>
          <p:cNvSpPr/>
          <p:nvPr/>
        </p:nvSpPr>
        <p:spPr>
          <a:xfrm>
            <a:off x="457200" y="1188720"/>
            <a:ext cx="1554480" cy="1325880"/>
          </a:xfrm>
          <a:prstGeom prst="roundRect">
            <a:avLst>
              <a:gd name="adj" fmla="val 6897"/>
            </a:avLst>
          </a:prstGeom>
          <a:solidFill>
            <a:schemeClr val="accent6"/>
          </a:solidFill>
          <a:ln w="12700">
            <a:solidFill>
              <a:schemeClr val="accent6"/>
            </a:solidFill>
            <a:prstDash val="solid"/>
          </a:ln>
        </p:spPr>
      </p:sp>
      <p:sp>
        <p:nvSpPr>
          <p:cNvPr id="5" name="Text 2"/>
          <p:cNvSpPr txBox="1"/>
          <p:nvPr/>
        </p:nvSpPr>
        <p:spPr>
          <a:xfrm>
            <a:off x="566928" y="1280160"/>
            <a:ext cx="36576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3"/>
          <p:cNvSpPr txBox="1"/>
          <p:nvPr/>
        </p:nvSpPr>
        <p:spPr>
          <a:xfrm>
            <a:off x="566928" y="1600200"/>
            <a:ext cx="1371600"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Supplier</a:t>
            </a:r>
            <a:endParaRPr lang="en-US" sz="1400" dirty="0"/>
          </a:p>
        </p:txBody>
      </p:sp>
      <p:sp>
        <p:nvSpPr>
          <p:cNvPr id="7" name="Text 4"/>
          <p:cNvSpPr txBox="1"/>
          <p:nvPr/>
        </p:nvSpPr>
        <p:spPr>
          <a:xfrm>
            <a:off x="566928" y="2029968"/>
            <a:ext cx="1371600" cy="411480"/>
          </a:xfrm>
          <a:prstGeom prst="rect">
            <a:avLst/>
          </a:prstGeom>
          <a:noFill/>
          <a:ln/>
        </p:spPr>
        <p:txBody>
          <a:bodyPr wrap="square" lIns="0" tIns="0" rIns="0" bIns="0" rtlCol="0" anchor="t"/>
          <a:lstStyle/>
          <a:p>
            <a:pPr marL="0" indent="0">
              <a:buNone/>
            </a:pPr>
            <a:r>
              <a:rPr lang="en-US" sz="1200" dirty="0">
                <a:solidFill>
                  <a:srgbClr val="FFFFFF"/>
                </a:solidFill>
              </a:rPr>
              <a:t>Packs and sells</a:t>
            </a:r>
            <a:endParaRPr lang="en-US" sz="1200" dirty="0"/>
          </a:p>
        </p:txBody>
      </p:sp>
      <p:sp>
        <p:nvSpPr>
          <p:cNvPr id="8" name="connector"/>
          <p:cNvSpPr/>
          <p:nvPr/>
        </p:nvSpPr>
        <p:spPr>
          <a:xfrm>
            <a:off x="1234440" y="2514600"/>
            <a:ext cx="0" cy="182880"/>
          </a:xfrm>
          <a:prstGeom prst="line">
            <a:avLst/>
          </a:prstGeom>
          <a:noFill/>
          <a:ln w="25400">
            <a:solidFill>
              <a:schemeClr val="accent6"/>
            </a:solidFill>
            <a:prstDash val="solid"/>
          </a:ln>
        </p:spPr>
      </p:sp>
      <p:sp>
        <p:nvSpPr>
          <p:cNvPr id="9" name="docs Supplier"/>
          <p:cNvSpPr/>
          <p:nvPr/>
        </p:nvSpPr>
        <p:spPr>
          <a:xfrm>
            <a:off x="457200" y="2697480"/>
            <a:ext cx="1554480" cy="1234440"/>
          </a:xfrm>
          <a:prstGeom prst="roundRect">
            <a:avLst>
              <a:gd name="adj" fmla="val 7407"/>
            </a:avLst>
          </a:prstGeom>
          <a:solidFill>
            <a:schemeClr val="bg2"/>
          </a:solidFill>
          <a:ln w="12700">
            <a:solidFill>
              <a:schemeClr val="bg2"/>
            </a:solidFill>
            <a:prstDash val="solid"/>
          </a:ln>
        </p:spPr>
      </p:sp>
      <p:sp>
        <p:nvSpPr>
          <p:cNvPr id="10" name="Text 7"/>
          <p:cNvSpPr txBox="1"/>
          <p:nvPr/>
        </p:nvSpPr>
        <p:spPr>
          <a:xfrm>
            <a:off x="566928" y="2788920"/>
            <a:ext cx="1371600" cy="182880"/>
          </a:xfrm>
          <a:prstGeom prst="rect">
            <a:avLst/>
          </a:prstGeom>
          <a:noFill/>
          <a:ln/>
        </p:spPr>
        <p:txBody>
          <a:bodyPr wrap="square" lIns="0" tIns="0" rIns="0" bIns="0" rtlCol="0" anchor="t"/>
          <a:lstStyle/>
          <a:p>
            <a:pPr marL="0" indent="0">
              <a:buNone/>
            </a:pPr>
            <a:r>
              <a:rPr lang="en-US" sz="1000" b="1" kern="0" spc="200" dirty="0">
                <a:solidFill>
                  <a:schemeClr val="accent6"/>
                </a:solidFill>
              </a:rPr>
              <a:t>DOCUMENTS</a:t>
            </a:r>
            <a:endParaRPr lang="en-US" sz="1000" dirty="0"/>
          </a:p>
        </p:txBody>
      </p:sp>
      <p:sp>
        <p:nvSpPr>
          <p:cNvPr id="11" name="Text 8"/>
          <p:cNvSpPr txBox="1"/>
          <p:nvPr/>
        </p:nvSpPr>
        <p:spPr>
          <a:xfrm>
            <a:off x="566928" y="3017520"/>
            <a:ext cx="1371600" cy="868680"/>
          </a:xfrm>
          <a:prstGeom prst="rect">
            <a:avLst/>
          </a:prstGeom>
          <a:noFill/>
          <a:ln/>
        </p:spPr>
        <p:txBody>
          <a:bodyPr wrap="square" lIns="0" tIns="0" rIns="0" bIns="0" rtlCol="0" anchor="t"/>
          <a:lstStyle/>
          <a:p>
            <a:pPr marL="0" indent="0">
              <a:buNone/>
            </a:pPr>
            <a:r>
              <a:rPr lang="en-US" sz="1300" dirty="0">
                <a:solidFill>
                  <a:schemeClr val="tx1"/>
                </a:solidFill>
              </a:rPr>
              <a:t>Commercial invoice, packing list</a:t>
            </a:r>
            <a:endParaRPr lang="en-US" sz="1300" dirty="0"/>
          </a:p>
        </p:txBody>
      </p:sp>
      <p:sp>
        <p:nvSpPr>
          <p:cNvPr id="12" name="party Freight forwarder"/>
          <p:cNvSpPr/>
          <p:nvPr/>
        </p:nvSpPr>
        <p:spPr>
          <a:xfrm>
            <a:off x="2125980" y="1188720"/>
            <a:ext cx="1554480" cy="1325880"/>
          </a:xfrm>
          <a:prstGeom prst="roundRect">
            <a:avLst>
              <a:gd name="adj" fmla="val 6897"/>
            </a:avLst>
          </a:prstGeom>
          <a:solidFill>
            <a:schemeClr val="accent2"/>
          </a:solidFill>
          <a:ln w="12700">
            <a:solidFill>
              <a:schemeClr val="accent2"/>
            </a:solidFill>
            <a:prstDash val="solid"/>
          </a:ln>
        </p:spPr>
      </p:sp>
      <p:sp>
        <p:nvSpPr>
          <p:cNvPr id="13" name="Text 10"/>
          <p:cNvSpPr txBox="1"/>
          <p:nvPr/>
        </p:nvSpPr>
        <p:spPr>
          <a:xfrm>
            <a:off x="2235708" y="1280160"/>
            <a:ext cx="36576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1"/>
          <p:cNvSpPr txBox="1"/>
          <p:nvPr/>
        </p:nvSpPr>
        <p:spPr>
          <a:xfrm>
            <a:off x="2235708" y="1600200"/>
            <a:ext cx="1371600"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Freight forwarder</a:t>
            </a:r>
            <a:endParaRPr lang="en-US" sz="1400" dirty="0"/>
          </a:p>
        </p:txBody>
      </p:sp>
      <p:sp>
        <p:nvSpPr>
          <p:cNvPr id="15" name="Text 12"/>
          <p:cNvSpPr txBox="1"/>
          <p:nvPr/>
        </p:nvSpPr>
        <p:spPr>
          <a:xfrm>
            <a:off x="2235708" y="2029968"/>
            <a:ext cx="1371600" cy="411480"/>
          </a:xfrm>
          <a:prstGeom prst="rect">
            <a:avLst/>
          </a:prstGeom>
          <a:noFill/>
          <a:ln/>
        </p:spPr>
        <p:txBody>
          <a:bodyPr wrap="square" lIns="0" tIns="0" rIns="0" bIns="0" rtlCol="0" anchor="t"/>
          <a:lstStyle/>
          <a:p>
            <a:pPr marL="0" indent="0">
              <a:buNone/>
            </a:pPr>
            <a:r>
              <a:rPr lang="en-US" sz="1200" dirty="0">
                <a:solidFill>
                  <a:srgbClr val="FFFFFF"/>
                </a:solidFill>
              </a:rPr>
              <a:t>Books the transport</a:t>
            </a:r>
            <a:endParaRPr lang="en-US" sz="1200" dirty="0"/>
          </a:p>
        </p:txBody>
      </p:sp>
      <p:sp>
        <p:nvSpPr>
          <p:cNvPr id="16" name="connector"/>
          <p:cNvSpPr/>
          <p:nvPr/>
        </p:nvSpPr>
        <p:spPr>
          <a:xfrm>
            <a:off x="2903220" y="2514600"/>
            <a:ext cx="0" cy="182880"/>
          </a:xfrm>
          <a:prstGeom prst="line">
            <a:avLst/>
          </a:prstGeom>
          <a:noFill/>
          <a:ln w="25400">
            <a:solidFill>
              <a:schemeClr val="accent2"/>
            </a:solidFill>
            <a:prstDash val="solid"/>
          </a:ln>
        </p:spPr>
      </p:sp>
      <p:sp>
        <p:nvSpPr>
          <p:cNvPr id="17" name="docs Freight forwarder"/>
          <p:cNvSpPr/>
          <p:nvPr/>
        </p:nvSpPr>
        <p:spPr>
          <a:xfrm>
            <a:off x="2125980" y="2697480"/>
            <a:ext cx="1554480" cy="1234440"/>
          </a:xfrm>
          <a:prstGeom prst="roundRect">
            <a:avLst>
              <a:gd name="adj" fmla="val 7407"/>
            </a:avLst>
          </a:prstGeom>
          <a:solidFill>
            <a:schemeClr val="bg2"/>
          </a:solidFill>
          <a:ln w="12700">
            <a:solidFill>
              <a:schemeClr val="bg2"/>
            </a:solidFill>
            <a:prstDash val="solid"/>
          </a:ln>
        </p:spPr>
      </p:sp>
      <p:sp>
        <p:nvSpPr>
          <p:cNvPr id="18" name="Text 15"/>
          <p:cNvSpPr txBox="1"/>
          <p:nvPr/>
        </p:nvSpPr>
        <p:spPr>
          <a:xfrm>
            <a:off x="2235708" y="2788920"/>
            <a:ext cx="1371600" cy="182880"/>
          </a:xfrm>
          <a:prstGeom prst="rect">
            <a:avLst/>
          </a:prstGeom>
          <a:noFill/>
          <a:ln/>
        </p:spPr>
        <p:txBody>
          <a:bodyPr wrap="square" lIns="0" tIns="0" rIns="0" bIns="0" rtlCol="0" anchor="t"/>
          <a:lstStyle/>
          <a:p>
            <a:pPr marL="0" indent="0">
              <a:buNone/>
            </a:pPr>
            <a:r>
              <a:rPr lang="en-US" sz="1000" b="1" kern="0" spc="200" dirty="0">
                <a:solidFill>
                  <a:schemeClr val="accent2"/>
                </a:solidFill>
              </a:rPr>
              <a:t>DOCUMENTS</a:t>
            </a:r>
            <a:endParaRPr lang="en-US" sz="1000" dirty="0"/>
          </a:p>
        </p:txBody>
      </p:sp>
      <p:sp>
        <p:nvSpPr>
          <p:cNvPr id="19" name="Text 16"/>
          <p:cNvSpPr txBox="1"/>
          <p:nvPr/>
        </p:nvSpPr>
        <p:spPr>
          <a:xfrm>
            <a:off x="2235708" y="3017520"/>
            <a:ext cx="1371600" cy="868680"/>
          </a:xfrm>
          <a:prstGeom prst="rect">
            <a:avLst/>
          </a:prstGeom>
          <a:noFill/>
          <a:ln/>
        </p:spPr>
        <p:txBody>
          <a:bodyPr wrap="square" lIns="0" tIns="0" rIns="0" bIns="0" rtlCol="0" anchor="t"/>
          <a:lstStyle/>
          <a:p>
            <a:pPr marL="0" indent="0">
              <a:buNone/>
            </a:pPr>
            <a:r>
              <a:rPr lang="en-US" sz="1300" dirty="0">
                <a:solidFill>
                  <a:schemeClr val="tx1"/>
                </a:solidFill>
              </a:rPr>
              <a:t>Booking, bill of lading or air waybill</a:t>
            </a:r>
            <a:endParaRPr lang="en-US" sz="1300" dirty="0"/>
          </a:p>
        </p:txBody>
      </p:sp>
      <p:sp>
        <p:nvSpPr>
          <p:cNvPr id="20" name="party Ship or airline"/>
          <p:cNvSpPr/>
          <p:nvPr/>
        </p:nvSpPr>
        <p:spPr>
          <a:xfrm>
            <a:off x="3794760" y="1188720"/>
            <a:ext cx="1554480" cy="1325880"/>
          </a:xfrm>
          <a:prstGeom prst="roundRect">
            <a:avLst>
              <a:gd name="adj" fmla="val 6897"/>
            </a:avLst>
          </a:prstGeom>
          <a:solidFill>
            <a:schemeClr val="accent6"/>
          </a:solidFill>
          <a:ln w="12700">
            <a:solidFill>
              <a:schemeClr val="accent6"/>
            </a:solidFill>
            <a:prstDash val="solid"/>
          </a:ln>
        </p:spPr>
      </p:sp>
      <p:sp>
        <p:nvSpPr>
          <p:cNvPr id="21" name="Text 18"/>
          <p:cNvSpPr txBox="1"/>
          <p:nvPr/>
        </p:nvSpPr>
        <p:spPr>
          <a:xfrm>
            <a:off x="3904488" y="1280160"/>
            <a:ext cx="36576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2" name="Text 19"/>
          <p:cNvSpPr txBox="1"/>
          <p:nvPr/>
        </p:nvSpPr>
        <p:spPr>
          <a:xfrm>
            <a:off x="3904488" y="1600200"/>
            <a:ext cx="1371600"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Ship or airline</a:t>
            </a:r>
            <a:endParaRPr lang="en-US" sz="1400" dirty="0"/>
          </a:p>
        </p:txBody>
      </p:sp>
      <p:sp>
        <p:nvSpPr>
          <p:cNvPr id="23" name="Text 20"/>
          <p:cNvSpPr txBox="1"/>
          <p:nvPr/>
        </p:nvSpPr>
        <p:spPr>
          <a:xfrm>
            <a:off x="3904488" y="2029968"/>
            <a:ext cx="1371600" cy="411480"/>
          </a:xfrm>
          <a:prstGeom prst="rect">
            <a:avLst/>
          </a:prstGeom>
          <a:noFill/>
          <a:ln/>
        </p:spPr>
        <p:txBody>
          <a:bodyPr wrap="square" lIns="0" tIns="0" rIns="0" bIns="0" rtlCol="0" anchor="t"/>
          <a:lstStyle/>
          <a:p>
            <a:pPr marL="0" indent="0">
              <a:buNone/>
            </a:pPr>
            <a:r>
              <a:rPr lang="en-US" sz="1200" dirty="0">
                <a:solidFill>
                  <a:srgbClr val="FFFFFF"/>
                </a:solidFill>
              </a:rPr>
              <a:t>Carries the goods</a:t>
            </a:r>
            <a:endParaRPr lang="en-US" sz="1200" dirty="0"/>
          </a:p>
        </p:txBody>
      </p:sp>
      <p:sp>
        <p:nvSpPr>
          <p:cNvPr id="24" name="connector"/>
          <p:cNvSpPr/>
          <p:nvPr/>
        </p:nvSpPr>
        <p:spPr>
          <a:xfrm>
            <a:off x="4572000" y="2514600"/>
            <a:ext cx="0" cy="182880"/>
          </a:xfrm>
          <a:prstGeom prst="line">
            <a:avLst/>
          </a:prstGeom>
          <a:noFill/>
          <a:ln w="25400">
            <a:solidFill>
              <a:schemeClr val="accent6"/>
            </a:solidFill>
            <a:prstDash val="solid"/>
          </a:ln>
        </p:spPr>
      </p:sp>
      <p:sp>
        <p:nvSpPr>
          <p:cNvPr id="25" name="docs Ship or airline"/>
          <p:cNvSpPr/>
          <p:nvPr/>
        </p:nvSpPr>
        <p:spPr>
          <a:xfrm>
            <a:off x="3794760" y="2697480"/>
            <a:ext cx="1554480" cy="1234440"/>
          </a:xfrm>
          <a:prstGeom prst="roundRect">
            <a:avLst>
              <a:gd name="adj" fmla="val 7407"/>
            </a:avLst>
          </a:prstGeom>
          <a:solidFill>
            <a:schemeClr val="bg2"/>
          </a:solidFill>
          <a:ln w="12700">
            <a:solidFill>
              <a:schemeClr val="bg2"/>
            </a:solidFill>
            <a:prstDash val="solid"/>
          </a:ln>
        </p:spPr>
      </p:sp>
      <p:sp>
        <p:nvSpPr>
          <p:cNvPr id="26" name="Text 23"/>
          <p:cNvSpPr txBox="1"/>
          <p:nvPr/>
        </p:nvSpPr>
        <p:spPr>
          <a:xfrm>
            <a:off x="3904488" y="2788920"/>
            <a:ext cx="1371600" cy="182880"/>
          </a:xfrm>
          <a:prstGeom prst="rect">
            <a:avLst/>
          </a:prstGeom>
          <a:noFill/>
          <a:ln/>
        </p:spPr>
        <p:txBody>
          <a:bodyPr wrap="square" lIns="0" tIns="0" rIns="0" bIns="0" rtlCol="0" anchor="t"/>
          <a:lstStyle/>
          <a:p>
            <a:pPr marL="0" indent="0">
              <a:buNone/>
            </a:pPr>
            <a:r>
              <a:rPr lang="en-US" sz="1000" b="1" kern="0" spc="200" dirty="0">
                <a:solidFill>
                  <a:schemeClr val="accent6"/>
                </a:solidFill>
              </a:rPr>
              <a:t>DOCUMENTS</a:t>
            </a:r>
            <a:endParaRPr lang="en-US" sz="1000" dirty="0"/>
          </a:p>
        </p:txBody>
      </p:sp>
      <p:sp>
        <p:nvSpPr>
          <p:cNvPr id="27" name="Text 24"/>
          <p:cNvSpPr txBox="1"/>
          <p:nvPr/>
        </p:nvSpPr>
        <p:spPr>
          <a:xfrm>
            <a:off x="3904488" y="3017520"/>
            <a:ext cx="1371600" cy="868680"/>
          </a:xfrm>
          <a:prstGeom prst="rect">
            <a:avLst/>
          </a:prstGeom>
          <a:noFill/>
          <a:ln/>
        </p:spPr>
        <p:txBody>
          <a:bodyPr wrap="square" lIns="0" tIns="0" rIns="0" bIns="0" rtlCol="0" anchor="t"/>
          <a:lstStyle/>
          <a:p>
            <a:pPr marL="0" indent="0">
              <a:buNone/>
            </a:pPr>
            <a:r>
              <a:rPr lang="en-US" sz="1300" dirty="0">
                <a:solidFill>
                  <a:schemeClr val="tx1"/>
                </a:solidFill>
              </a:rPr>
              <a:t>Bill of lading or air waybill</a:t>
            </a:r>
            <a:endParaRPr lang="en-US" sz="1300" dirty="0"/>
          </a:p>
        </p:txBody>
      </p:sp>
      <p:sp>
        <p:nvSpPr>
          <p:cNvPr id="28" name="party Customs and agent"/>
          <p:cNvSpPr/>
          <p:nvPr/>
        </p:nvSpPr>
        <p:spPr>
          <a:xfrm>
            <a:off x="5463540" y="1188720"/>
            <a:ext cx="1554480" cy="1325880"/>
          </a:xfrm>
          <a:prstGeom prst="roundRect">
            <a:avLst>
              <a:gd name="adj" fmla="val 6897"/>
            </a:avLst>
          </a:prstGeom>
          <a:solidFill>
            <a:schemeClr val="accent2"/>
          </a:solidFill>
          <a:ln w="12700">
            <a:solidFill>
              <a:schemeClr val="accent2"/>
            </a:solidFill>
            <a:prstDash val="solid"/>
          </a:ln>
        </p:spPr>
      </p:sp>
      <p:sp>
        <p:nvSpPr>
          <p:cNvPr id="29" name="Text 26"/>
          <p:cNvSpPr txBox="1"/>
          <p:nvPr/>
        </p:nvSpPr>
        <p:spPr>
          <a:xfrm>
            <a:off x="5573268" y="1280160"/>
            <a:ext cx="36576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30" name="Text 27"/>
          <p:cNvSpPr txBox="1"/>
          <p:nvPr/>
        </p:nvSpPr>
        <p:spPr>
          <a:xfrm>
            <a:off x="5573268" y="1600200"/>
            <a:ext cx="1371600"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Customs and agent</a:t>
            </a:r>
            <a:endParaRPr lang="en-US" sz="1400" dirty="0"/>
          </a:p>
        </p:txBody>
      </p:sp>
      <p:sp>
        <p:nvSpPr>
          <p:cNvPr id="31" name="Text 28"/>
          <p:cNvSpPr txBox="1"/>
          <p:nvPr/>
        </p:nvSpPr>
        <p:spPr>
          <a:xfrm>
            <a:off x="5573268" y="2029968"/>
            <a:ext cx="1371600" cy="411480"/>
          </a:xfrm>
          <a:prstGeom prst="rect">
            <a:avLst/>
          </a:prstGeom>
          <a:noFill/>
          <a:ln/>
        </p:spPr>
        <p:txBody>
          <a:bodyPr wrap="square" lIns="0" tIns="0" rIns="0" bIns="0" rtlCol="0" anchor="t"/>
          <a:lstStyle/>
          <a:p>
            <a:pPr marL="0" indent="0">
              <a:buNone/>
            </a:pPr>
            <a:r>
              <a:rPr lang="en-US" sz="1200" dirty="0">
                <a:solidFill>
                  <a:srgbClr val="FFFFFF"/>
                </a:solidFill>
              </a:rPr>
              <a:t>Checks, values, taxes</a:t>
            </a:r>
            <a:endParaRPr lang="en-US" sz="1200" dirty="0"/>
          </a:p>
        </p:txBody>
      </p:sp>
      <p:sp>
        <p:nvSpPr>
          <p:cNvPr id="32" name="connector"/>
          <p:cNvSpPr/>
          <p:nvPr/>
        </p:nvSpPr>
        <p:spPr>
          <a:xfrm>
            <a:off x="6240780" y="2514600"/>
            <a:ext cx="0" cy="182880"/>
          </a:xfrm>
          <a:prstGeom prst="line">
            <a:avLst/>
          </a:prstGeom>
          <a:noFill/>
          <a:ln w="25400">
            <a:solidFill>
              <a:schemeClr val="accent2"/>
            </a:solidFill>
            <a:prstDash val="solid"/>
          </a:ln>
        </p:spPr>
      </p:sp>
      <p:sp>
        <p:nvSpPr>
          <p:cNvPr id="33" name="docs Customs and agent"/>
          <p:cNvSpPr/>
          <p:nvPr/>
        </p:nvSpPr>
        <p:spPr>
          <a:xfrm>
            <a:off x="5463540" y="2697480"/>
            <a:ext cx="1554480" cy="1234440"/>
          </a:xfrm>
          <a:prstGeom prst="roundRect">
            <a:avLst>
              <a:gd name="adj" fmla="val 7407"/>
            </a:avLst>
          </a:prstGeom>
          <a:solidFill>
            <a:schemeClr val="bg2"/>
          </a:solidFill>
          <a:ln w="12700">
            <a:solidFill>
              <a:schemeClr val="bg2"/>
            </a:solidFill>
            <a:prstDash val="solid"/>
          </a:ln>
        </p:spPr>
      </p:sp>
      <p:sp>
        <p:nvSpPr>
          <p:cNvPr id="34" name="Text 31"/>
          <p:cNvSpPr txBox="1"/>
          <p:nvPr/>
        </p:nvSpPr>
        <p:spPr>
          <a:xfrm>
            <a:off x="5573268" y="2788920"/>
            <a:ext cx="1371600" cy="182880"/>
          </a:xfrm>
          <a:prstGeom prst="rect">
            <a:avLst/>
          </a:prstGeom>
          <a:noFill/>
          <a:ln/>
        </p:spPr>
        <p:txBody>
          <a:bodyPr wrap="square" lIns="0" tIns="0" rIns="0" bIns="0" rtlCol="0" anchor="t"/>
          <a:lstStyle/>
          <a:p>
            <a:pPr marL="0" indent="0">
              <a:buNone/>
            </a:pPr>
            <a:r>
              <a:rPr lang="en-US" sz="1000" b="1" kern="0" spc="200" dirty="0">
                <a:solidFill>
                  <a:schemeClr val="accent2"/>
                </a:solidFill>
              </a:rPr>
              <a:t>DOCUMENTS</a:t>
            </a:r>
            <a:endParaRPr lang="en-US" sz="1000" dirty="0"/>
          </a:p>
        </p:txBody>
      </p:sp>
      <p:sp>
        <p:nvSpPr>
          <p:cNvPr id="35" name="Text 32"/>
          <p:cNvSpPr txBox="1"/>
          <p:nvPr/>
        </p:nvSpPr>
        <p:spPr>
          <a:xfrm>
            <a:off x="5573268" y="3017520"/>
            <a:ext cx="1371600" cy="868680"/>
          </a:xfrm>
          <a:prstGeom prst="rect">
            <a:avLst/>
          </a:prstGeom>
          <a:noFill/>
          <a:ln/>
        </p:spPr>
        <p:txBody>
          <a:bodyPr wrap="square" lIns="0" tIns="0" rIns="0" bIns="0" rtlCol="0" anchor="t"/>
          <a:lstStyle/>
          <a:p>
            <a:pPr marL="0" indent="0">
              <a:buNone/>
            </a:pPr>
            <a:r>
              <a:rPr lang="en-US" sz="1300" dirty="0">
                <a:solidFill>
                  <a:schemeClr val="tx1"/>
                </a:solidFill>
              </a:rPr>
              <a:t>Form M, PAAR, duty receipt</a:t>
            </a:r>
            <a:endParaRPr lang="en-US" sz="1300" dirty="0"/>
          </a:p>
        </p:txBody>
      </p:sp>
      <p:sp>
        <p:nvSpPr>
          <p:cNvPr id="36" name="party You, the importer"/>
          <p:cNvSpPr/>
          <p:nvPr/>
        </p:nvSpPr>
        <p:spPr>
          <a:xfrm>
            <a:off x="7132320" y="1188720"/>
            <a:ext cx="1554480" cy="1325880"/>
          </a:xfrm>
          <a:prstGeom prst="roundRect">
            <a:avLst>
              <a:gd name="adj" fmla="val 6897"/>
            </a:avLst>
          </a:prstGeom>
          <a:solidFill>
            <a:schemeClr val="accent6"/>
          </a:solidFill>
          <a:ln w="12700">
            <a:solidFill>
              <a:schemeClr val="accent6"/>
            </a:solidFill>
            <a:prstDash val="solid"/>
          </a:ln>
        </p:spPr>
      </p:sp>
      <p:sp>
        <p:nvSpPr>
          <p:cNvPr id="37" name="Text 34"/>
          <p:cNvSpPr txBox="1"/>
          <p:nvPr/>
        </p:nvSpPr>
        <p:spPr>
          <a:xfrm>
            <a:off x="7242048" y="1280160"/>
            <a:ext cx="365760" cy="274320"/>
          </a:xfrm>
          <a:prstGeom prst="rect">
            <a:avLst/>
          </a:prstGeom>
          <a:noFill/>
          <a:ln/>
        </p:spPr>
        <p:txBody>
          <a:bodyPr wrap="square" lIns="0" tIns="0" rIns="0" bIns="0"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8" name="Text 35"/>
          <p:cNvSpPr txBox="1"/>
          <p:nvPr/>
        </p:nvSpPr>
        <p:spPr>
          <a:xfrm>
            <a:off x="7242048" y="1600200"/>
            <a:ext cx="1371600" cy="457200"/>
          </a:xfrm>
          <a:prstGeom prst="rect">
            <a:avLst/>
          </a:prstGeom>
          <a:noFill/>
          <a:ln/>
        </p:spPr>
        <p:txBody>
          <a:bodyPr wrap="square" lIns="0" tIns="0" rIns="0" bIns="0" rtlCol="0" anchor="t"/>
          <a:lstStyle/>
          <a:p>
            <a:pPr marL="0" indent="0">
              <a:buNone/>
            </a:pPr>
            <a:r>
              <a:rPr lang="en-US" sz="1400" b="1" dirty="0">
                <a:solidFill>
                  <a:srgbClr val="FFFFFF"/>
                </a:solidFill>
                <a:latin typeface="Cambria" pitchFamily="34" charset="0"/>
                <a:ea typeface="Cambria" pitchFamily="34" charset="-122"/>
                <a:cs typeface="Cambria" pitchFamily="34" charset="-120"/>
              </a:rPr>
              <a:t>You, the importer</a:t>
            </a:r>
            <a:endParaRPr lang="en-US" sz="1400" dirty="0"/>
          </a:p>
        </p:txBody>
      </p:sp>
      <p:sp>
        <p:nvSpPr>
          <p:cNvPr id="39" name="Text 36"/>
          <p:cNvSpPr txBox="1"/>
          <p:nvPr/>
        </p:nvSpPr>
        <p:spPr>
          <a:xfrm>
            <a:off x="7242048" y="2029968"/>
            <a:ext cx="1371600" cy="411480"/>
          </a:xfrm>
          <a:prstGeom prst="rect">
            <a:avLst/>
          </a:prstGeom>
          <a:noFill/>
          <a:ln/>
        </p:spPr>
        <p:txBody>
          <a:bodyPr wrap="square" lIns="0" tIns="0" rIns="0" bIns="0" rtlCol="0" anchor="t"/>
          <a:lstStyle/>
          <a:p>
            <a:pPr marL="0" indent="0">
              <a:buNone/>
            </a:pPr>
            <a:r>
              <a:rPr lang="en-US" sz="1200" dirty="0">
                <a:solidFill>
                  <a:srgbClr val="FFFFFF"/>
                </a:solidFill>
              </a:rPr>
              <a:t>Receives and sells</a:t>
            </a:r>
            <a:endParaRPr lang="en-US" sz="1200" dirty="0"/>
          </a:p>
        </p:txBody>
      </p:sp>
      <p:sp>
        <p:nvSpPr>
          <p:cNvPr id="40" name="connector"/>
          <p:cNvSpPr/>
          <p:nvPr/>
        </p:nvSpPr>
        <p:spPr>
          <a:xfrm>
            <a:off x="7909560" y="2514600"/>
            <a:ext cx="0" cy="182880"/>
          </a:xfrm>
          <a:prstGeom prst="line">
            <a:avLst/>
          </a:prstGeom>
          <a:noFill/>
          <a:ln w="25400">
            <a:solidFill>
              <a:schemeClr val="accent6"/>
            </a:solidFill>
            <a:prstDash val="solid"/>
          </a:ln>
        </p:spPr>
      </p:sp>
      <p:sp>
        <p:nvSpPr>
          <p:cNvPr id="41" name="docs You, the importer"/>
          <p:cNvSpPr/>
          <p:nvPr/>
        </p:nvSpPr>
        <p:spPr>
          <a:xfrm>
            <a:off x="7132320" y="2697480"/>
            <a:ext cx="1554480" cy="1234440"/>
          </a:xfrm>
          <a:prstGeom prst="roundRect">
            <a:avLst>
              <a:gd name="adj" fmla="val 7407"/>
            </a:avLst>
          </a:prstGeom>
          <a:solidFill>
            <a:schemeClr val="bg2"/>
          </a:solidFill>
          <a:ln w="12700">
            <a:solidFill>
              <a:schemeClr val="bg2"/>
            </a:solidFill>
            <a:prstDash val="solid"/>
          </a:ln>
        </p:spPr>
      </p:sp>
      <p:sp>
        <p:nvSpPr>
          <p:cNvPr id="42" name="Text 39"/>
          <p:cNvSpPr txBox="1"/>
          <p:nvPr/>
        </p:nvSpPr>
        <p:spPr>
          <a:xfrm>
            <a:off x="7242048" y="2788920"/>
            <a:ext cx="1371600" cy="182880"/>
          </a:xfrm>
          <a:prstGeom prst="rect">
            <a:avLst/>
          </a:prstGeom>
          <a:noFill/>
          <a:ln/>
        </p:spPr>
        <p:txBody>
          <a:bodyPr wrap="square" lIns="0" tIns="0" rIns="0" bIns="0" rtlCol="0" anchor="t"/>
          <a:lstStyle/>
          <a:p>
            <a:pPr marL="0" indent="0">
              <a:buNone/>
            </a:pPr>
            <a:r>
              <a:rPr lang="en-US" sz="1000" b="1" kern="0" spc="200" dirty="0">
                <a:solidFill>
                  <a:schemeClr val="accent6"/>
                </a:solidFill>
              </a:rPr>
              <a:t>DOCUMENTS</a:t>
            </a:r>
            <a:endParaRPr lang="en-US" sz="1000" dirty="0"/>
          </a:p>
        </p:txBody>
      </p:sp>
      <p:sp>
        <p:nvSpPr>
          <p:cNvPr id="43" name="Text 40"/>
          <p:cNvSpPr txBox="1"/>
          <p:nvPr/>
        </p:nvSpPr>
        <p:spPr>
          <a:xfrm>
            <a:off x="7242048" y="3017520"/>
            <a:ext cx="1371600" cy="868680"/>
          </a:xfrm>
          <a:prstGeom prst="rect">
            <a:avLst/>
          </a:prstGeom>
          <a:noFill/>
          <a:ln/>
        </p:spPr>
        <p:txBody>
          <a:bodyPr wrap="square" lIns="0" tIns="0" rIns="0" bIns="0" rtlCol="0" anchor="t"/>
          <a:lstStyle/>
          <a:p>
            <a:pPr marL="0" indent="0">
              <a:buNone/>
            </a:pPr>
            <a:r>
              <a:rPr lang="en-US" sz="1300" dirty="0">
                <a:solidFill>
                  <a:schemeClr val="tx1"/>
                </a:solidFill>
              </a:rPr>
              <a:t>Release order, delivery note</a:t>
            </a:r>
            <a:endParaRPr lang="en-US" sz="1300" dirty="0"/>
          </a:p>
        </p:txBody>
      </p:sp>
      <p:sp>
        <p:nvSpPr>
          <p:cNvPr id="44" name="warning bar"/>
          <p:cNvSpPr/>
          <p:nvPr/>
        </p:nvSpPr>
        <p:spPr>
          <a:xfrm>
            <a:off x="457200" y="4069080"/>
            <a:ext cx="8229600" cy="548640"/>
          </a:xfrm>
          <a:prstGeom prst="roundRect">
            <a:avLst>
              <a:gd name="adj" fmla="val 13333"/>
            </a:avLst>
          </a:prstGeom>
          <a:solidFill>
            <a:srgbClr val="FBEAE6"/>
          </a:solidFill>
          <a:ln w="12700">
            <a:solidFill>
              <a:srgbClr val="FBEAE6"/>
            </a:solidFill>
            <a:prstDash val="solid"/>
          </a:ln>
        </p:spPr>
      </p:sp>
      <p:pic>
        <p:nvPicPr>
          <p:cNvPr id="45" name="warn" descr="warning"/>
          <p:cNvPicPr>
            <a:picLocks noChangeAspect="1"/>
          </p:cNvPicPr>
          <p:nvPr/>
        </p:nvPicPr>
        <p:blipFill>
          <a:blip r:embed="rId3"/>
          <a:stretch>
            <a:fillRect/>
          </a:stretch>
        </p:blipFill>
        <p:spPr>
          <a:xfrm>
            <a:off x="640080" y="4169664"/>
            <a:ext cx="347472" cy="347472"/>
          </a:xfrm>
          <a:prstGeom prst="rect">
            <a:avLst/>
          </a:prstGeom>
        </p:spPr>
      </p:pic>
      <p:sp>
        <p:nvSpPr>
          <p:cNvPr id="46" name="Text 42"/>
          <p:cNvSpPr txBox="1"/>
          <p:nvPr/>
        </p:nvSpPr>
        <p:spPr>
          <a:xfrm>
            <a:off x="1188720" y="4133088"/>
            <a:ext cx="7315200" cy="420624"/>
          </a:xfrm>
          <a:prstGeom prst="rect">
            <a:avLst/>
          </a:prstGeom>
          <a:noFill/>
          <a:ln/>
        </p:spPr>
        <p:txBody>
          <a:bodyPr wrap="square" lIns="0" tIns="0" rIns="0" bIns="0" rtlCol="0" anchor="ctr"/>
          <a:lstStyle/>
          <a:p>
            <a:pPr marL="0" indent="0">
              <a:buNone/>
            </a:pPr>
            <a:r>
              <a:rPr lang="en-US" sz="1400" b="1" dirty="0">
                <a:solidFill>
                  <a:schemeClr val="tx1"/>
                </a:solidFill>
              </a:rPr>
              <a:t>All documents must match. Never understate the value or change a description to cut duty: it is an offence.</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HS codes, duty and customs value</a:t>
            </a:r>
            <a:endParaRPr lang="en-US" sz="2800" dirty="0"/>
          </a:p>
        </p:txBody>
      </p:sp>
      <p:pic>
        <p:nvPicPr>
          <p:cNvPr id="4" name="A customs officer inspecting drums with a scanner" descr="A customs officer inspecting drums with a scanner"/>
          <p:cNvPicPr>
            <a:picLocks noChangeAspect="1"/>
          </p:cNvPicPr>
          <p:nvPr/>
        </p:nvPicPr>
        <p:blipFill>
          <a:blip r:embed="rId3"/>
          <a:stretch>
            <a:fillRect/>
          </a:stretch>
        </p:blipFill>
        <p:spPr>
          <a:xfrm>
            <a:off x="5120640" y="1188720"/>
            <a:ext cx="3566160" cy="3108960"/>
          </a:xfrm>
          <a:prstGeom prst="rect">
            <a:avLst/>
          </a:prstGeom>
        </p:spPr>
      </p:pic>
      <p:sp>
        <p:nvSpPr>
          <p:cNvPr id="5" name="Text 1"/>
          <p:cNvSpPr txBox="1"/>
          <p:nvPr/>
        </p:nvSpPr>
        <p:spPr>
          <a:xfrm>
            <a:off x="5120640" y="4343400"/>
            <a:ext cx="3566160" cy="201168"/>
          </a:xfrm>
          <a:prstGeom prst="rect">
            <a:avLst/>
          </a:prstGeom>
          <a:noFill/>
          <a:ln/>
        </p:spPr>
        <p:txBody>
          <a:bodyPr wrap="square" lIns="0" tIns="0" rIns="0" bIns="0" rtlCol="0" anchor="t"/>
          <a:lstStyle/>
          <a:p>
            <a:pPr marL="0" indent="0">
              <a:buNone/>
            </a:pPr>
            <a:r>
              <a:rPr lang="en-US" sz="1000" i="1" dirty="0">
                <a:solidFill>
                  <a:schemeClr val="accent4"/>
                </a:solidFill>
              </a:rPr>
              <a:t>Customs check. Photo: CBP, public domain</a:t>
            </a:r>
            <a:endParaRPr lang="en-US" sz="1000" dirty="0"/>
          </a:p>
        </p:txBody>
      </p:sp>
      <p:sp>
        <p:nvSpPr>
          <p:cNvPr id="6" name="hs row 0"/>
          <p:cNvSpPr/>
          <p:nvPr/>
        </p:nvSpPr>
        <p:spPr>
          <a:xfrm>
            <a:off x="457200" y="1188720"/>
            <a:ext cx="4480560" cy="694944"/>
          </a:xfrm>
          <a:prstGeom prst="roundRect">
            <a:avLst>
              <a:gd name="adj" fmla="val 10526"/>
            </a:avLst>
          </a:prstGeom>
          <a:solidFill>
            <a:schemeClr val="bg2"/>
          </a:solidFill>
          <a:ln w="12700">
            <a:solidFill>
              <a:schemeClr val="bg2"/>
            </a:solidFill>
            <a:prstDash val="solid"/>
          </a:ln>
        </p:spPr>
      </p:sp>
      <p:sp>
        <p:nvSpPr>
          <p:cNvPr id="7" name="num"/>
          <p:cNvSpPr/>
          <p:nvPr/>
        </p:nvSpPr>
        <p:spPr>
          <a:xfrm>
            <a:off x="594360" y="1316736"/>
            <a:ext cx="438912" cy="438912"/>
          </a:xfrm>
          <a:prstGeom prst="ellipse">
            <a:avLst/>
          </a:prstGeom>
          <a:solidFill>
            <a:schemeClr val="accent6"/>
          </a:solidFill>
          <a:ln w="12700">
            <a:solidFill>
              <a:schemeClr val="accent6"/>
            </a:solidFill>
            <a:prstDash val="solid"/>
          </a:ln>
        </p:spPr>
      </p:sp>
      <p:sp>
        <p:nvSpPr>
          <p:cNvPr id="8" name="Text 4"/>
          <p:cNvSpPr txBox="1"/>
          <p:nvPr/>
        </p:nvSpPr>
        <p:spPr>
          <a:xfrm>
            <a:off x="594360" y="131673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9" name="Text 5"/>
          <p:cNvSpPr txBox="1"/>
          <p:nvPr/>
        </p:nvSpPr>
        <p:spPr>
          <a:xfrm>
            <a:off x="1188720" y="1280160"/>
            <a:ext cx="3657600" cy="548640"/>
          </a:xfrm>
          <a:prstGeom prst="rect">
            <a:avLst/>
          </a:prstGeom>
          <a:noFill/>
          <a:ln/>
        </p:spPr>
        <p:txBody>
          <a:bodyPr wrap="square" lIns="0" tIns="0" rIns="0" bIns="0" rtlCol="0" anchor="t"/>
          <a:lstStyle/>
          <a:p>
            <a:pPr marL="0" indent="0">
              <a:buNone/>
            </a:pPr>
            <a:r>
              <a:rPr lang="en-US" sz="1400" b="1" dirty="0">
                <a:solidFill>
                  <a:schemeClr val="tx1"/>
                </a:solidFill>
              </a:rPr>
              <a:t>HS code</a:t>
            </a:r>
            <a:endParaRPr lang="en-US" sz="1400" dirty="0"/>
          </a:p>
          <a:p>
            <a:pPr marL="0" indent="0">
              <a:buNone/>
            </a:pPr>
            <a:r>
              <a:rPr lang="en-US" sz="1400" dirty="0">
                <a:solidFill>
                  <a:schemeClr val="tx1"/>
                </a:solidFill>
              </a:rPr>
              <a:t>decides your duty rate and permits</a:t>
            </a:r>
            <a:endParaRPr lang="en-US" sz="1400" dirty="0"/>
          </a:p>
        </p:txBody>
      </p:sp>
      <p:sp>
        <p:nvSpPr>
          <p:cNvPr id="10" name="hs row 1"/>
          <p:cNvSpPr/>
          <p:nvPr/>
        </p:nvSpPr>
        <p:spPr>
          <a:xfrm>
            <a:off x="457200" y="1975104"/>
            <a:ext cx="4480560" cy="694944"/>
          </a:xfrm>
          <a:prstGeom prst="roundRect">
            <a:avLst>
              <a:gd name="adj" fmla="val 10526"/>
            </a:avLst>
          </a:prstGeom>
          <a:solidFill>
            <a:srgbClr val="FFFFFF"/>
          </a:solidFill>
          <a:ln w="12700">
            <a:solidFill>
              <a:srgbClr val="FFFFFF"/>
            </a:solidFill>
            <a:prstDash val="solid"/>
          </a:ln>
        </p:spPr>
      </p:sp>
      <p:sp>
        <p:nvSpPr>
          <p:cNvPr id="11" name="num"/>
          <p:cNvSpPr/>
          <p:nvPr/>
        </p:nvSpPr>
        <p:spPr>
          <a:xfrm>
            <a:off x="594360" y="2103120"/>
            <a:ext cx="438912" cy="438912"/>
          </a:xfrm>
          <a:prstGeom prst="ellipse">
            <a:avLst/>
          </a:prstGeom>
          <a:solidFill>
            <a:schemeClr val="accent6"/>
          </a:solidFill>
          <a:ln w="12700">
            <a:solidFill>
              <a:schemeClr val="accent6"/>
            </a:solidFill>
            <a:prstDash val="solid"/>
          </a:ln>
        </p:spPr>
      </p:sp>
      <p:sp>
        <p:nvSpPr>
          <p:cNvPr id="12" name="Text 8"/>
          <p:cNvSpPr txBox="1"/>
          <p:nvPr/>
        </p:nvSpPr>
        <p:spPr>
          <a:xfrm>
            <a:off x="594360" y="21031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Text 9"/>
          <p:cNvSpPr txBox="1"/>
          <p:nvPr/>
        </p:nvSpPr>
        <p:spPr>
          <a:xfrm>
            <a:off x="1188720" y="2066544"/>
            <a:ext cx="3657600" cy="548640"/>
          </a:xfrm>
          <a:prstGeom prst="rect">
            <a:avLst/>
          </a:prstGeom>
          <a:noFill/>
          <a:ln/>
        </p:spPr>
        <p:txBody>
          <a:bodyPr wrap="square" lIns="0" tIns="0" rIns="0" bIns="0" rtlCol="0" anchor="t"/>
          <a:lstStyle/>
          <a:p>
            <a:pPr marL="0" indent="0">
              <a:buNone/>
            </a:pPr>
            <a:r>
              <a:rPr lang="en-US" sz="1400" b="1" dirty="0">
                <a:solidFill>
                  <a:schemeClr val="tx1"/>
                </a:solidFill>
              </a:rPr>
              <a:t>CIF value</a:t>
            </a:r>
            <a:endParaRPr lang="en-US" sz="1400" dirty="0"/>
          </a:p>
          <a:p>
            <a:pPr marL="0" indent="0">
              <a:buNone/>
            </a:pPr>
            <a:r>
              <a:rPr lang="en-US" sz="1400" dirty="0">
                <a:solidFill>
                  <a:schemeClr val="tx1"/>
                </a:solidFill>
              </a:rPr>
              <a:t>product + freight + insurance</a:t>
            </a:r>
            <a:endParaRPr lang="en-US" sz="1400" dirty="0"/>
          </a:p>
        </p:txBody>
      </p:sp>
      <p:sp>
        <p:nvSpPr>
          <p:cNvPr id="14" name="hs row 2"/>
          <p:cNvSpPr/>
          <p:nvPr/>
        </p:nvSpPr>
        <p:spPr>
          <a:xfrm>
            <a:off x="457200" y="2761488"/>
            <a:ext cx="4480560" cy="694944"/>
          </a:xfrm>
          <a:prstGeom prst="roundRect">
            <a:avLst>
              <a:gd name="adj" fmla="val 10526"/>
            </a:avLst>
          </a:prstGeom>
          <a:solidFill>
            <a:schemeClr val="bg2"/>
          </a:solidFill>
          <a:ln w="12700">
            <a:solidFill>
              <a:schemeClr val="bg2"/>
            </a:solidFill>
            <a:prstDash val="solid"/>
          </a:ln>
        </p:spPr>
      </p:sp>
      <p:sp>
        <p:nvSpPr>
          <p:cNvPr id="15" name="num"/>
          <p:cNvSpPr/>
          <p:nvPr/>
        </p:nvSpPr>
        <p:spPr>
          <a:xfrm>
            <a:off x="594360" y="2889504"/>
            <a:ext cx="438912" cy="438912"/>
          </a:xfrm>
          <a:prstGeom prst="ellipse">
            <a:avLst/>
          </a:prstGeom>
          <a:solidFill>
            <a:schemeClr val="accent6"/>
          </a:solidFill>
          <a:ln w="12700">
            <a:solidFill>
              <a:schemeClr val="accent6"/>
            </a:solidFill>
            <a:prstDash val="solid"/>
          </a:ln>
        </p:spPr>
      </p:sp>
      <p:sp>
        <p:nvSpPr>
          <p:cNvPr id="16" name="Text 12"/>
          <p:cNvSpPr txBox="1"/>
          <p:nvPr/>
        </p:nvSpPr>
        <p:spPr>
          <a:xfrm>
            <a:off x="594360" y="288950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7" name="Text 13"/>
          <p:cNvSpPr txBox="1"/>
          <p:nvPr/>
        </p:nvSpPr>
        <p:spPr>
          <a:xfrm>
            <a:off x="1188720" y="2852928"/>
            <a:ext cx="3657600" cy="548640"/>
          </a:xfrm>
          <a:prstGeom prst="rect">
            <a:avLst/>
          </a:prstGeom>
          <a:noFill/>
          <a:ln/>
        </p:spPr>
        <p:txBody>
          <a:bodyPr wrap="square" lIns="0" tIns="0" rIns="0" bIns="0" rtlCol="0" anchor="t"/>
          <a:lstStyle/>
          <a:p>
            <a:pPr marL="0" indent="0">
              <a:buNone/>
            </a:pPr>
            <a:r>
              <a:rPr lang="en-US" sz="1400" b="1" dirty="0">
                <a:solidFill>
                  <a:schemeClr val="tx1"/>
                </a:solidFill>
              </a:rPr>
              <a:t>Duty</a:t>
            </a:r>
            <a:endParaRPr lang="en-US" sz="1400" dirty="0"/>
          </a:p>
          <a:p>
            <a:pPr marL="0" indent="0">
              <a:buNone/>
            </a:pPr>
            <a:r>
              <a:rPr lang="en-US" sz="1400" dirty="0">
                <a:solidFill>
                  <a:schemeClr val="tx1"/>
                </a:solidFill>
              </a:rPr>
              <a:t>% of the naira CIF value</a:t>
            </a:r>
            <a:endParaRPr lang="en-US" sz="1400" dirty="0"/>
          </a:p>
        </p:txBody>
      </p:sp>
      <p:sp>
        <p:nvSpPr>
          <p:cNvPr id="18" name="hs row 3"/>
          <p:cNvSpPr/>
          <p:nvPr/>
        </p:nvSpPr>
        <p:spPr>
          <a:xfrm>
            <a:off x="457200" y="3547872"/>
            <a:ext cx="4480560" cy="694944"/>
          </a:xfrm>
          <a:prstGeom prst="roundRect">
            <a:avLst>
              <a:gd name="adj" fmla="val 10526"/>
            </a:avLst>
          </a:prstGeom>
          <a:solidFill>
            <a:srgbClr val="FFFFFF"/>
          </a:solidFill>
          <a:ln w="12700">
            <a:solidFill>
              <a:srgbClr val="FFFFFF"/>
            </a:solidFill>
            <a:prstDash val="solid"/>
          </a:ln>
        </p:spPr>
      </p:sp>
      <p:sp>
        <p:nvSpPr>
          <p:cNvPr id="19" name="num"/>
          <p:cNvSpPr/>
          <p:nvPr/>
        </p:nvSpPr>
        <p:spPr>
          <a:xfrm>
            <a:off x="594360" y="3675888"/>
            <a:ext cx="438912" cy="438912"/>
          </a:xfrm>
          <a:prstGeom prst="ellipse">
            <a:avLst/>
          </a:prstGeom>
          <a:solidFill>
            <a:schemeClr val="accent6"/>
          </a:solidFill>
          <a:ln w="12700">
            <a:solidFill>
              <a:schemeClr val="accent6"/>
            </a:solidFill>
            <a:prstDash val="solid"/>
          </a:ln>
        </p:spPr>
      </p:sp>
      <p:sp>
        <p:nvSpPr>
          <p:cNvPr id="20" name="Text 16"/>
          <p:cNvSpPr txBox="1"/>
          <p:nvPr/>
        </p:nvSpPr>
        <p:spPr>
          <a:xfrm>
            <a:off x="594360" y="367588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1" name="Text 17"/>
          <p:cNvSpPr txBox="1"/>
          <p:nvPr/>
        </p:nvSpPr>
        <p:spPr>
          <a:xfrm>
            <a:off x="1188720" y="3639312"/>
            <a:ext cx="3657600" cy="548640"/>
          </a:xfrm>
          <a:prstGeom prst="rect">
            <a:avLst/>
          </a:prstGeom>
          <a:noFill/>
          <a:ln/>
        </p:spPr>
        <p:txBody>
          <a:bodyPr wrap="square" lIns="0" tIns="0" rIns="0" bIns="0" rtlCol="0" anchor="t"/>
          <a:lstStyle/>
          <a:p>
            <a:pPr marL="0" indent="0">
              <a:buNone/>
            </a:pPr>
            <a:r>
              <a:rPr lang="en-US" sz="1400" b="1" dirty="0">
                <a:solidFill>
                  <a:schemeClr val="tx1"/>
                </a:solidFill>
              </a:rPr>
              <a:t>VAT</a:t>
            </a:r>
            <a:endParaRPr lang="en-US" sz="1400" dirty="0"/>
          </a:p>
          <a:p>
            <a:pPr marL="0" indent="0">
              <a:buNone/>
            </a:pPr>
            <a:r>
              <a:rPr lang="en-US" sz="1400" dirty="0">
                <a:solidFill>
                  <a:schemeClr val="tx1"/>
                </a:solidFill>
              </a:rPr>
              <a:t>% of naira CIF + duty</a:t>
            </a:r>
            <a:endParaRPr lang="en-US" sz="1400" dirty="0"/>
          </a:p>
        </p:txBody>
      </p:sp>
      <p:sp>
        <p:nvSpPr>
          <p:cNvPr id="22" name="Text 18"/>
          <p:cNvSpPr txBox="1"/>
          <p:nvPr/>
        </p:nvSpPr>
        <p:spPr>
          <a:xfrm>
            <a:off x="457200" y="4434840"/>
            <a:ext cx="4572000" cy="274320"/>
          </a:xfrm>
          <a:prstGeom prst="rect">
            <a:avLst/>
          </a:prstGeom>
          <a:noFill/>
          <a:ln/>
        </p:spPr>
        <p:txBody>
          <a:bodyPr wrap="square" lIns="0" tIns="0" rIns="0" bIns="0" rtlCol="0" anchor="t"/>
          <a:lstStyle/>
          <a:p>
            <a:pPr marL="0" indent="0">
              <a:buNone/>
            </a:pPr>
            <a:r>
              <a:rPr lang="en-US" sz="1300" i="1" dirty="0">
                <a:solidFill>
                  <a:schemeClr val="accent3"/>
                </a:solidFill>
              </a:rPr>
              <a:t>Rates change. Confirm the current rate for your code.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Importing into Nigeria: who does what</a:t>
            </a:r>
            <a:endParaRPr lang="en-US" sz="2800" dirty="0"/>
          </a:p>
        </p:txBody>
      </p:sp>
      <p:pic>
        <p:nvPicPr>
          <p:cNvPr id="4" name="A cargo ship at the Apapa port, Lagos" descr="A cargo ship at the Apapa port, Lagos"/>
          <p:cNvPicPr>
            <a:picLocks noChangeAspect="1"/>
          </p:cNvPicPr>
          <p:nvPr/>
        </p:nvPicPr>
        <p:blipFill>
          <a:blip r:embed="rId3"/>
          <a:stretch>
            <a:fillRect/>
          </a:stretch>
        </p:blipFill>
        <p:spPr>
          <a:xfrm>
            <a:off x="4846320" y="1188720"/>
            <a:ext cx="3840480" cy="1920240"/>
          </a:xfrm>
          <a:prstGeom prst="rect">
            <a:avLst/>
          </a:prstGeom>
        </p:spPr>
      </p:pic>
      <p:sp>
        <p:nvSpPr>
          <p:cNvPr id="5" name="Text 1"/>
          <p:cNvSpPr txBox="1"/>
          <p:nvPr/>
        </p:nvSpPr>
        <p:spPr>
          <a:xfrm>
            <a:off x="4846320" y="3154680"/>
            <a:ext cx="3840480" cy="201168"/>
          </a:xfrm>
          <a:prstGeom prst="rect">
            <a:avLst/>
          </a:prstGeom>
          <a:noFill/>
          <a:ln/>
        </p:spPr>
        <p:txBody>
          <a:bodyPr wrap="square" lIns="0" tIns="0" rIns="0" bIns="0" rtlCol="0" anchor="t"/>
          <a:lstStyle/>
          <a:p>
            <a:pPr marL="0" indent="0">
              <a:buNone/>
            </a:pPr>
            <a:r>
              <a:rPr lang="en-US" sz="1000" i="1" dirty="0">
                <a:solidFill>
                  <a:schemeClr val="accent4"/>
                </a:solidFill>
              </a:rPr>
              <a:t>Apapa port, Lagos. Photo: Quadrex24, CC BY-SA 4.0</a:t>
            </a:r>
            <a:endParaRPr lang="en-US" sz="1000" dirty="0"/>
          </a:p>
        </p:txBody>
      </p:sp>
      <p:sp>
        <p:nvSpPr>
          <p:cNvPr id="6" name="reg 0"/>
          <p:cNvSpPr/>
          <p:nvPr/>
        </p:nvSpPr>
        <p:spPr>
          <a:xfrm>
            <a:off x="457200" y="1188720"/>
            <a:ext cx="4206240" cy="457200"/>
          </a:xfrm>
          <a:prstGeom prst="roundRect">
            <a:avLst>
              <a:gd name="adj" fmla="val 12000"/>
            </a:avLst>
          </a:prstGeom>
          <a:solidFill>
            <a:schemeClr val="bg2"/>
          </a:solidFill>
          <a:ln w="12700">
            <a:solidFill>
              <a:schemeClr val="bg2"/>
            </a:solidFill>
            <a:prstDash val="solid"/>
          </a:ln>
        </p:spPr>
      </p:sp>
      <p:sp>
        <p:nvSpPr>
          <p:cNvPr id="7" name="Text 3"/>
          <p:cNvSpPr txBox="1"/>
          <p:nvPr/>
        </p:nvSpPr>
        <p:spPr>
          <a:xfrm>
            <a:off x="594360" y="1280160"/>
            <a:ext cx="1554480" cy="274320"/>
          </a:xfrm>
          <a:prstGeom prst="rect">
            <a:avLst/>
          </a:prstGeom>
          <a:noFill/>
          <a:ln/>
        </p:spPr>
        <p:txBody>
          <a:bodyPr wrap="square" lIns="0" tIns="0" rIns="0" bIns="0" rtlCol="0" anchor="ctr"/>
          <a:lstStyle/>
          <a:p>
            <a:pPr marL="0" indent="0">
              <a:buNone/>
            </a:pPr>
            <a:r>
              <a:rPr lang="en-US" sz="1400" b="1" dirty="0">
                <a:solidFill>
                  <a:schemeClr val="tx1"/>
                </a:solidFill>
              </a:rPr>
              <a:t>Customs</a:t>
            </a:r>
            <a:endParaRPr lang="en-US" sz="1400" dirty="0"/>
          </a:p>
        </p:txBody>
      </p:sp>
      <p:sp>
        <p:nvSpPr>
          <p:cNvPr id="8" name="Text 4"/>
          <p:cNvSpPr txBox="1"/>
          <p:nvPr/>
        </p:nvSpPr>
        <p:spPr>
          <a:xfrm>
            <a:off x="2103120" y="1280160"/>
            <a:ext cx="2514600" cy="274320"/>
          </a:xfrm>
          <a:prstGeom prst="rect">
            <a:avLst/>
          </a:prstGeom>
          <a:noFill/>
          <a:ln/>
        </p:spPr>
        <p:txBody>
          <a:bodyPr wrap="square" lIns="0" tIns="0" rIns="0" bIns="0" rtlCol="0" anchor="ctr"/>
          <a:lstStyle/>
          <a:p>
            <a:pPr marL="0" indent="0">
              <a:buNone/>
            </a:pPr>
            <a:r>
              <a:rPr lang="en-US" sz="1200" dirty="0">
                <a:solidFill>
                  <a:schemeClr val="accent2"/>
                </a:solidFill>
              </a:rPr>
              <a:t>Duty, tax, examination, release</a:t>
            </a:r>
            <a:endParaRPr lang="en-US" sz="1200" dirty="0"/>
          </a:p>
        </p:txBody>
      </p:sp>
      <p:sp>
        <p:nvSpPr>
          <p:cNvPr id="9" name="reg 1"/>
          <p:cNvSpPr/>
          <p:nvPr/>
        </p:nvSpPr>
        <p:spPr>
          <a:xfrm>
            <a:off x="457200" y="1719072"/>
            <a:ext cx="4206240" cy="457200"/>
          </a:xfrm>
          <a:prstGeom prst="roundRect">
            <a:avLst>
              <a:gd name="adj" fmla="val 12000"/>
            </a:avLst>
          </a:prstGeom>
          <a:solidFill>
            <a:srgbClr val="FFFFFF"/>
          </a:solidFill>
          <a:ln w="12700">
            <a:solidFill>
              <a:srgbClr val="FFFFFF"/>
            </a:solidFill>
            <a:prstDash val="solid"/>
          </a:ln>
        </p:spPr>
      </p:sp>
      <p:sp>
        <p:nvSpPr>
          <p:cNvPr id="10" name="Text 6"/>
          <p:cNvSpPr txBox="1"/>
          <p:nvPr/>
        </p:nvSpPr>
        <p:spPr>
          <a:xfrm>
            <a:off x="594360" y="1810512"/>
            <a:ext cx="1554480" cy="274320"/>
          </a:xfrm>
          <a:prstGeom prst="rect">
            <a:avLst/>
          </a:prstGeom>
          <a:noFill/>
          <a:ln/>
        </p:spPr>
        <p:txBody>
          <a:bodyPr wrap="square" lIns="0" tIns="0" rIns="0" bIns="0" rtlCol="0" anchor="ctr"/>
          <a:lstStyle/>
          <a:p>
            <a:pPr marL="0" indent="0">
              <a:buNone/>
            </a:pPr>
            <a:r>
              <a:rPr lang="en-US" sz="1400" b="1" dirty="0">
                <a:solidFill>
                  <a:schemeClr val="tx1"/>
                </a:solidFill>
              </a:rPr>
              <a:t>SON and NAFDAC</a:t>
            </a:r>
            <a:endParaRPr lang="en-US" sz="1400" dirty="0"/>
          </a:p>
        </p:txBody>
      </p:sp>
      <p:sp>
        <p:nvSpPr>
          <p:cNvPr id="11" name="Text 7"/>
          <p:cNvSpPr txBox="1"/>
          <p:nvPr/>
        </p:nvSpPr>
        <p:spPr>
          <a:xfrm>
            <a:off x="2103120" y="1810512"/>
            <a:ext cx="2514600" cy="274320"/>
          </a:xfrm>
          <a:prstGeom prst="rect">
            <a:avLst/>
          </a:prstGeom>
          <a:noFill/>
          <a:ln/>
        </p:spPr>
        <p:txBody>
          <a:bodyPr wrap="square" lIns="0" tIns="0" rIns="0" bIns="0" rtlCol="0" anchor="ctr"/>
          <a:lstStyle/>
          <a:p>
            <a:pPr marL="0" indent="0">
              <a:buNone/>
            </a:pPr>
            <a:r>
              <a:rPr lang="en-US" sz="1200" dirty="0">
                <a:solidFill>
                  <a:schemeClr val="accent2"/>
                </a:solidFill>
              </a:rPr>
              <a:t>Standards, food, drugs</a:t>
            </a:r>
            <a:endParaRPr lang="en-US" sz="1200" dirty="0"/>
          </a:p>
        </p:txBody>
      </p:sp>
      <p:sp>
        <p:nvSpPr>
          <p:cNvPr id="12" name="reg 2"/>
          <p:cNvSpPr/>
          <p:nvPr/>
        </p:nvSpPr>
        <p:spPr>
          <a:xfrm>
            <a:off x="457200" y="2249424"/>
            <a:ext cx="4206240" cy="457200"/>
          </a:xfrm>
          <a:prstGeom prst="roundRect">
            <a:avLst>
              <a:gd name="adj" fmla="val 12000"/>
            </a:avLst>
          </a:prstGeom>
          <a:solidFill>
            <a:schemeClr val="bg2"/>
          </a:solidFill>
          <a:ln w="12700">
            <a:solidFill>
              <a:schemeClr val="bg2"/>
            </a:solidFill>
            <a:prstDash val="solid"/>
          </a:ln>
        </p:spPr>
      </p:sp>
      <p:sp>
        <p:nvSpPr>
          <p:cNvPr id="13" name="Text 9"/>
          <p:cNvSpPr txBox="1"/>
          <p:nvPr/>
        </p:nvSpPr>
        <p:spPr>
          <a:xfrm>
            <a:off x="594360" y="2340864"/>
            <a:ext cx="1554480" cy="274320"/>
          </a:xfrm>
          <a:prstGeom prst="rect">
            <a:avLst/>
          </a:prstGeom>
          <a:noFill/>
          <a:ln/>
        </p:spPr>
        <p:txBody>
          <a:bodyPr wrap="square" lIns="0" tIns="0" rIns="0" bIns="0" rtlCol="0" anchor="ctr"/>
          <a:lstStyle/>
          <a:p>
            <a:pPr marL="0" indent="0">
              <a:buNone/>
            </a:pPr>
            <a:r>
              <a:rPr lang="en-US" sz="1400" b="1" dirty="0">
                <a:solidFill>
                  <a:schemeClr val="tx1"/>
                </a:solidFill>
              </a:rPr>
              <a:t>Your bank</a:t>
            </a:r>
            <a:endParaRPr lang="en-US" sz="1400" dirty="0"/>
          </a:p>
        </p:txBody>
      </p:sp>
      <p:sp>
        <p:nvSpPr>
          <p:cNvPr id="14" name="Text 10"/>
          <p:cNvSpPr txBox="1"/>
          <p:nvPr/>
        </p:nvSpPr>
        <p:spPr>
          <a:xfrm>
            <a:off x="2103120" y="2340864"/>
            <a:ext cx="2514600" cy="274320"/>
          </a:xfrm>
          <a:prstGeom prst="rect">
            <a:avLst/>
          </a:prstGeom>
          <a:noFill/>
          <a:ln/>
        </p:spPr>
        <p:txBody>
          <a:bodyPr wrap="square" lIns="0" tIns="0" rIns="0" bIns="0" rtlCol="0" anchor="ctr"/>
          <a:lstStyle/>
          <a:p>
            <a:pPr marL="0" indent="0">
              <a:buNone/>
            </a:pPr>
            <a:r>
              <a:rPr lang="en-US" sz="1200" dirty="0">
                <a:solidFill>
                  <a:schemeClr val="accent2"/>
                </a:solidFill>
              </a:rPr>
              <a:t>Form M and foreign exchange</a:t>
            </a:r>
            <a:endParaRPr lang="en-US" sz="1200" dirty="0"/>
          </a:p>
        </p:txBody>
      </p:sp>
      <p:sp>
        <p:nvSpPr>
          <p:cNvPr id="15" name="reg 3"/>
          <p:cNvSpPr/>
          <p:nvPr/>
        </p:nvSpPr>
        <p:spPr>
          <a:xfrm>
            <a:off x="457200" y="2779776"/>
            <a:ext cx="4206240" cy="457200"/>
          </a:xfrm>
          <a:prstGeom prst="roundRect">
            <a:avLst>
              <a:gd name="adj" fmla="val 12000"/>
            </a:avLst>
          </a:prstGeom>
          <a:solidFill>
            <a:srgbClr val="FFFFFF"/>
          </a:solidFill>
          <a:ln w="12700">
            <a:solidFill>
              <a:srgbClr val="FFFFFF"/>
            </a:solidFill>
            <a:prstDash val="solid"/>
          </a:ln>
        </p:spPr>
      </p:sp>
      <p:sp>
        <p:nvSpPr>
          <p:cNvPr id="16" name="Text 12"/>
          <p:cNvSpPr txBox="1"/>
          <p:nvPr/>
        </p:nvSpPr>
        <p:spPr>
          <a:xfrm>
            <a:off x="594360" y="2871216"/>
            <a:ext cx="1554480" cy="274320"/>
          </a:xfrm>
          <a:prstGeom prst="rect">
            <a:avLst/>
          </a:prstGeom>
          <a:noFill/>
          <a:ln/>
        </p:spPr>
        <p:txBody>
          <a:bodyPr wrap="square" lIns="0" tIns="0" rIns="0" bIns="0" rtlCol="0" anchor="ctr"/>
          <a:lstStyle/>
          <a:p>
            <a:pPr marL="0" indent="0">
              <a:buNone/>
            </a:pPr>
            <a:r>
              <a:rPr lang="en-US" sz="1400" b="1" dirty="0">
                <a:solidFill>
                  <a:schemeClr val="tx1"/>
                </a:solidFill>
              </a:rPr>
              <a:t>Clearing agent</a:t>
            </a:r>
            <a:endParaRPr lang="en-US" sz="1400" dirty="0"/>
          </a:p>
        </p:txBody>
      </p:sp>
      <p:sp>
        <p:nvSpPr>
          <p:cNvPr id="17" name="Text 13"/>
          <p:cNvSpPr txBox="1"/>
          <p:nvPr/>
        </p:nvSpPr>
        <p:spPr>
          <a:xfrm>
            <a:off x="2103120" y="2871216"/>
            <a:ext cx="2514600" cy="274320"/>
          </a:xfrm>
          <a:prstGeom prst="rect">
            <a:avLst/>
          </a:prstGeom>
          <a:noFill/>
          <a:ln/>
        </p:spPr>
        <p:txBody>
          <a:bodyPr wrap="square" lIns="0" tIns="0" rIns="0" bIns="0" rtlCol="0" anchor="ctr"/>
          <a:lstStyle/>
          <a:p>
            <a:pPr marL="0" indent="0">
              <a:buNone/>
            </a:pPr>
            <a:r>
              <a:rPr lang="en-US" sz="1200" dirty="0">
                <a:solidFill>
                  <a:schemeClr val="accent2"/>
                </a:solidFill>
              </a:rPr>
              <a:t>Handles Customs for you</a:t>
            </a:r>
            <a:endParaRPr lang="en-US" sz="1200" dirty="0"/>
          </a:p>
        </p:txBody>
      </p:sp>
      <p:sp>
        <p:nvSpPr>
          <p:cNvPr id="18" name="sequence panel"/>
          <p:cNvSpPr/>
          <p:nvPr/>
        </p:nvSpPr>
        <p:spPr>
          <a:xfrm>
            <a:off x="457200" y="3383280"/>
            <a:ext cx="8229600" cy="1188720"/>
          </a:xfrm>
          <a:prstGeom prst="roundRect">
            <a:avLst>
              <a:gd name="adj" fmla="val 7692"/>
            </a:avLst>
          </a:prstGeom>
          <a:solidFill>
            <a:srgbClr val="0B1F3A"/>
          </a:solidFill>
          <a:ln w="12700">
            <a:solidFill>
              <a:srgbClr val="0B1F3A"/>
            </a:solidFill>
            <a:prstDash val="solid"/>
          </a:ln>
        </p:spPr>
      </p:sp>
      <p:sp>
        <p:nvSpPr>
          <p:cNvPr id="19" name="Text 15"/>
          <p:cNvSpPr txBox="1"/>
          <p:nvPr/>
        </p:nvSpPr>
        <p:spPr>
          <a:xfrm>
            <a:off x="685800" y="3493008"/>
            <a:ext cx="365760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THE ORDER OF EVENTS</a:t>
            </a:r>
            <a:endParaRPr lang="en-US" sz="1200" dirty="0"/>
          </a:p>
        </p:txBody>
      </p:sp>
      <p:sp>
        <p:nvSpPr>
          <p:cNvPr id="20" name="seq 0"/>
          <p:cNvSpPr/>
          <p:nvPr/>
        </p:nvSpPr>
        <p:spPr>
          <a:xfrm>
            <a:off x="685800" y="3840480"/>
            <a:ext cx="1417320" cy="548640"/>
          </a:xfrm>
          <a:prstGeom prst="roundRect">
            <a:avLst>
              <a:gd name="adj" fmla="val 13333"/>
            </a:avLst>
          </a:prstGeom>
          <a:solidFill>
            <a:schemeClr val="accent6"/>
          </a:solidFill>
          <a:ln w="12700">
            <a:solidFill>
              <a:schemeClr val="accent6"/>
            </a:solidFill>
            <a:prstDash val="solid"/>
          </a:ln>
        </p:spPr>
      </p:sp>
      <p:sp>
        <p:nvSpPr>
          <p:cNvPr id="21" name="Text 17"/>
          <p:cNvSpPr txBox="1"/>
          <p:nvPr/>
        </p:nvSpPr>
        <p:spPr>
          <a:xfrm>
            <a:off x="731520" y="3886200"/>
            <a:ext cx="1325880" cy="457200"/>
          </a:xfrm>
          <a:prstGeom prst="rect">
            <a:avLst/>
          </a:prstGeom>
          <a:noFill/>
          <a:ln/>
        </p:spPr>
        <p:txBody>
          <a:bodyPr wrap="square" lIns="0" tIns="0" rIns="0" bIns="0" rtlCol="0" anchor="ctr"/>
          <a:lstStyle/>
          <a:p>
            <a:pPr marL="0" indent="0" algn="ctr">
              <a:buNone/>
            </a:pPr>
            <a:r>
              <a:rPr lang="en-US" sz="1200" b="1" dirty="0">
                <a:solidFill>
                  <a:srgbClr val="FFFFFF"/>
                </a:solidFill>
              </a:rPr>
              <a:t>Register business</a:t>
            </a:r>
            <a:endParaRPr lang="en-US" sz="1200" dirty="0"/>
          </a:p>
        </p:txBody>
      </p:sp>
      <p:sp>
        <p:nvSpPr>
          <p:cNvPr id="22" name="seq 1"/>
          <p:cNvSpPr/>
          <p:nvPr/>
        </p:nvSpPr>
        <p:spPr>
          <a:xfrm>
            <a:off x="2240280" y="3840480"/>
            <a:ext cx="1417320" cy="548640"/>
          </a:xfrm>
          <a:prstGeom prst="roundRect">
            <a:avLst>
              <a:gd name="adj" fmla="val 13333"/>
            </a:avLst>
          </a:prstGeom>
          <a:solidFill>
            <a:schemeClr val="accent2"/>
          </a:solidFill>
          <a:ln w="12700">
            <a:solidFill>
              <a:schemeClr val="accent2"/>
            </a:solidFill>
            <a:prstDash val="solid"/>
          </a:ln>
        </p:spPr>
      </p:sp>
      <p:sp>
        <p:nvSpPr>
          <p:cNvPr id="23" name="Text 19"/>
          <p:cNvSpPr txBox="1"/>
          <p:nvPr/>
        </p:nvSpPr>
        <p:spPr>
          <a:xfrm>
            <a:off x="2286000" y="3886200"/>
            <a:ext cx="1325880" cy="457200"/>
          </a:xfrm>
          <a:prstGeom prst="rect">
            <a:avLst/>
          </a:prstGeom>
          <a:noFill/>
          <a:ln/>
        </p:spPr>
        <p:txBody>
          <a:bodyPr wrap="square" lIns="0" tIns="0" rIns="0" bIns="0" rtlCol="0" anchor="ctr"/>
          <a:lstStyle/>
          <a:p>
            <a:pPr marL="0" indent="0" algn="ctr">
              <a:buNone/>
            </a:pPr>
            <a:r>
              <a:rPr lang="en-US" sz="1200" b="1" dirty="0">
                <a:solidFill>
                  <a:srgbClr val="FFFFFF"/>
                </a:solidFill>
              </a:rPr>
              <a:t>Form M via bank</a:t>
            </a:r>
            <a:endParaRPr lang="en-US" sz="1200" dirty="0"/>
          </a:p>
        </p:txBody>
      </p:sp>
      <p:sp>
        <p:nvSpPr>
          <p:cNvPr id="24" name="seq 2"/>
          <p:cNvSpPr/>
          <p:nvPr/>
        </p:nvSpPr>
        <p:spPr>
          <a:xfrm>
            <a:off x="3794760" y="3840480"/>
            <a:ext cx="1417320" cy="548640"/>
          </a:xfrm>
          <a:prstGeom prst="roundRect">
            <a:avLst>
              <a:gd name="adj" fmla="val 13333"/>
            </a:avLst>
          </a:prstGeom>
          <a:solidFill>
            <a:schemeClr val="accent6"/>
          </a:solidFill>
          <a:ln w="12700">
            <a:solidFill>
              <a:schemeClr val="accent6"/>
            </a:solidFill>
            <a:prstDash val="solid"/>
          </a:ln>
        </p:spPr>
      </p:sp>
      <p:sp>
        <p:nvSpPr>
          <p:cNvPr id="25" name="Text 21"/>
          <p:cNvSpPr txBox="1"/>
          <p:nvPr/>
        </p:nvSpPr>
        <p:spPr>
          <a:xfrm>
            <a:off x="3840480" y="3886200"/>
            <a:ext cx="1325880" cy="457200"/>
          </a:xfrm>
          <a:prstGeom prst="rect">
            <a:avLst/>
          </a:prstGeom>
          <a:noFill/>
          <a:ln/>
        </p:spPr>
        <p:txBody>
          <a:bodyPr wrap="square" lIns="0" tIns="0" rIns="0" bIns="0" rtlCol="0" anchor="ctr"/>
          <a:lstStyle/>
          <a:p>
            <a:pPr marL="0" indent="0" algn="ctr">
              <a:buNone/>
            </a:pPr>
            <a:r>
              <a:rPr lang="en-US" sz="1200" b="1" dirty="0">
                <a:solidFill>
                  <a:srgbClr val="FFFFFF"/>
                </a:solidFill>
              </a:rPr>
              <a:t>Ship goods</a:t>
            </a:r>
            <a:endParaRPr lang="en-US" sz="1200" dirty="0"/>
          </a:p>
        </p:txBody>
      </p:sp>
      <p:sp>
        <p:nvSpPr>
          <p:cNvPr id="26" name="seq 3"/>
          <p:cNvSpPr/>
          <p:nvPr/>
        </p:nvSpPr>
        <p:spPr>
          <a:xfrm>
            <a:off x="5349240" y="3840480"/>
            <a:ext cx="1417320" cy="548640"/>
          </a:xfrm>
          <a:prstGeom prst="roundRect">
            <a:avLst>
              <a:gd name="adj" fmla="val 13333"/>
            </a:avLst>
          </a:prstGeom>
          <a:solidFill>
            <a:schemeClr val="accent2"/>
          </a:solidFill>
          <a:ln w="12700">
            <a:solidFill>
              <a:schemeClr val="accent2"/>
            </a:solidFill>
            <a:prstDash val="solid"/>
          </a:ln>
        </p:spPr>
      </p:sp>
      <p:sp>
        <p:nvSpPr>
          <p:cNvPr id="27" name="Text 23"/>
          <p:cNvSpPr txBox="1"/>
          <p:nvPr/>
        </p:nvSpPr>
        <p:spPr>
          <a:xfrm>
            <a:off x="5394960" y="3886200"/>
            <a:ext cx="1325880" cy="457200"/>
          </a:xfrm>
          <a:prstGeom prst="rect">
            <a:avLst/>
          </a:prstGeom>
          <a:noFill/>
          <a:ln/>
        </p:spPr>
        <p:txBody>
          <a:bodyPr wrap="square" lIns="0" tIns="0" rIns="0" bIns="0" rtlCol="0" anchor="ctr"/>
          <a:lstStyle/>
          <a:p>
            <a:pPr marL="0" indent="0" algn="ctr">
              <a:buNone/>
            </a:pPr>
            <a:r>
              <a:rPr lang="en-US" sz="1200" b="1" dirty="0">
                <a:solidFill>
                  <a:srgbClr val="FFFFFF"/>
                </a:solidFill>
              </a:rPr>
              <a:t>PAAR from Customs</a:t>
            </a:r>
            <a:endParaRPr lang="en-US" sz="1200" dirty="0"/>
          </a:p>
        </p:txBody>
      </p:sp>
      <p:sp>
        <p:nvSpPr>
          <p:cNvPr id="28" name="seq 4"/>
          <p:cNvSpPr/>
          <p:nvPr/>
        </p:nvSpPr>
        <p:spPr>
          <a:xfrm>
            <a:off x="6903720" y="3840480"/>
            <a:ext cx="1417320" cy="548640"/>
          </a:xfrm>
          <a:prstGeom prst="roundRect">
            <a:avLst>
              <a:gd name="adj" fmla="val 13333"/>
            </a:avLst>
          </a:prstGeom>
          <a:solidFill>
            <a:schemeClr val="accent6"/>
          </a:solidFill>
          <a:ln w="12700">
            <a:solidFill>
              <a:schemeClr val="accent6"/>
            </a:solidFill>
            <a:prstDash val="solid"/>
          </a:ln>
        </p:spPr>
      </p:sp>
      <p:sp>
        <p:nvSpPr>
          <p:cNvPr id="29" name="Text 25"/>
          <p:cNvSpPr txBox="1"/>
          <p:nvPr/>
        </p:nvSpPr>
        <p:spPr>
          <a:xfrm>
            <a:off x="6949440" y="3886200"/>
            <a:ext cx="1325880" cy="457200"/>
          </a:xfrm>
          <a:prstGeom prst="rect">
            <a:avLst/>
          </a:prstGeom>
          <a:noFill/>
          <a:ln/>
        </p:spPr>
        <p:txBody>
          <a:bodyPr wrap="square" lIns="0" tIns="0" rIns="0" bIns="0" rtlCol="0" anchor="ctr"/>
          <a:lstStyle/>
          <a:p>
            <a:pPr marL="0" indent="0" algn="ctr">
              <a:buNone/>
            </a:pPr>
            <a:r>
              <a:rPr lang="en-US" sz="1200" b="1" dirty="0">
                <a:solidFill>
                  <a:srgbClr val="FFFFFF"/>
                </a:solidFill>
              </a:rPr>
              <a:t>Clear at the port</a:t>
            </a:r>
            <a:endParaRPr lang="en-US" sz="12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8: build the landed cost</a:t>
            </a:r>
            <a:endParaRPr lang="en-US" sz="2800" dirty="0"/>
          </a:p>
        </p:txBody>
      </p:sp>
      <p:sp>
        <p:nvSpPr>
          <p:cNvPr id="4" name="lc row 0"/>
          <p:cNvSpPr/>
          <p:nvPr/>
        </p:nvSpPr>
        <p:spPr>
          <a:xfrm>
            <a:off x="457200" y="1143000"/>
            <a:ext cx="5120640" cy="265176"/>
          </a:xfrm>
          <a:prstGeom prst="roundRect">
            <a:avLst>
              <a:gd name="adj" fmla="val 13793"/>
            </a:avLst>
          </a:prstGeom>
          <a:solidFill>
            <a:schemeClr val="bg2"/>
          </a:solidFill>
          <a:ln w="12700">
            <a:solidFill>
              <a:schemeClr val="bg2"/>
            </a:solidFill>
            <a:prstDash val="solid"/>
          </a:ln>
        </p:spPr>
      </p:sp>
      <p:sp>
        <p:nvSpPr>
          <p:cNvPr id="5" name="Text 2"/>
          <p:cNvSpPr txBox="1"/>
          <p:nvPr/>
        </p:nvSpPr>
        <p:spPr>
          <a:xfrm>
            <a:off x="594360" y="1170432"/>
            <a:ext cx="3200400" cy="219456"/>
          </a:xfrm>
          <a:prstGeom prst="rect">
            <a:avLst/>
          </a:prstGeom>
          <a:noFill/>
          <a:ln/>
        </p:spPr>
        <p:txBody>
          <a:bodyPr wrap="square" lIns="0" tIns="0" rIns="0" bIns="0" rtlCol="0" anchor="ctr"/>
          <a:lstStyle/>
          <a:p>
            <a:pPr marL="0" indent="0">
              <a:buNone/>
            </a:pPr>
            <a:r>
              <a:rPr lang="en-US" sz="1200" dirty="0">
                <a:solidFill>
                  <a:srgbClr val="0B1F3A"/>
                </a:solidFill>
              </a:rPr>
              <a:t>Product 300 × $3.00</a:t>
            </a:r>
            <a:endParaRPr lang="en-US" sz="1200" dirty="0"/>
          </a:p>
        </p:txBody>
      </p:sp>
      <p:sp>
        <p:nvSpPr>
          <p:cNvPr id="6" name="Text 3"/>
          <p:cNvSpPr txBox="1"/>
          <p:nvPr/>
        </p:nvSpPr>
        <p:spPr>
          <a:xfrm>
            <a:off x="3840480" y="1170432"/>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$900</a:t>
            </a:r>
            <a:endParaRPr lang="en-US" sz="1200" dirty="0"/>
          </a:p>
        </p:txBody>
      </p:sp>
      <p:sp>
        <p:nvSpPr>
          <p:cNvPr id="7" name="lc row 1"/>
          <p:cNvSpPr/>
          <p:nvPr/>
        </p:nvSpPr>
        <p:spPr>
          <a:xfrm>
            <a:off x="457200" y="1435608"/>
            <a:ext cx="5120640" cy="265176"/>
          </a:xfrm>
          <a:prstGeom prst="roundRect">
            <a:avLst>
              <a:gd name="adj" fmla="val 13793"/>
            </a:avLst>
          </a:prstGeom>
          <a:solidFill>
            <a:srgbClr val="FFFFFF"/>
          </a:solidFill>
          <a:ln w="12700">
            <a:solidFill>
              <a:srgbClr val="FFFFFF"/>
            </a:solidFill>
            <a:prstDash val="solid"/>
          </a:ln>
        </p:spPr>
      </p:sp>
      <p:sp>
        <p:nvSpPr>
          <p:cNvPr id="8" name="Text 5"/>
          <p:cNvSpPr txBox="1"/>
          <p:nvPr/>
        </p:nvSpPr>
        <p:spPr>
          <a:xfrm>
            <a:off x="594360" y="1463040"/>
            <a:ext cx="3200400" cy="219456"/>
          </a:xfrm>
          <a:prstGeom prst="rect">
            <a:avLst/>
          </a:prstGeom>
          <a:noFill/>
          <a:ln/>
        </p:spPr>
        <p:txBody>
          <a:bodyPr wrap="square" lIns="0" tIns="0" rIns="0" bIns="0" rtlCol="0" anchor="ctr"/>
          <a:lstStyle/>
          <a:p>
            <a:pPr marL="0" indent="0">
              <a:buNone/>
            </a:pPr>
            <a:r>
              <a:rPr lang="en-US" sz="1200" dirty="0">
                <a:solidFill>
                  <a:srgbClr val="0B1F3A"/>
                </a:solidFill>
              </a:rPr>
              <a:t>Air freight</a:t>
            </a:r>
            <a:endParaRPr lang="en-US" sz="1200" dirty="0"/>
          </a:p>
        </p:txBody>
      </p:sp>
      <p:sp>
        <p:nvSpPr>
          <p:cNvPr id="9" name="Text 6"/>
          <p:cNvSpPr txBox="1"/>
          <p:nvPr/>
        </p:nvSpPr>
        <p:spPr>
          <a:xfrm>
            <a:off x="3840480" y="1463040"/>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$150</a:t>
            </a:r>
            <a:endParaRPr lang="en-US" sz="1200" dirty="0"/>
          </a:p>
        </p:txBody>
      </p:sp>
      <p:sp>
        <p:nvSpPr>
          <p:cNvPr id="10" name="lc row 2"/>
          <p:cNvSpPr/>
          <p:nvPr/>
        </p:nvSpPr>
        <p:spPr>
          <a:xfrm>
            <a:off x="457200" y="1728216"/>
            <a:ext cx="5120640" cy="265176"/>
          </a:xfrm>
          <a:prstGeom prst="roundRect">
            <a:avLst>
              <a:gd name="adj" fmla="val 13793"/>
            </a:avLst>
          </a:prstGeom>
          <a:solidFill>
            <a:schemeClr val="bg2"/>
          </a:solidFill>
          <a:ln w="12700">
            <a:solidFill>
              <a:schemeClr val="bg2"/>
            </a:solidFill>
            <a:prstDash val="solid"/>
          </a:ln>
        </p:spPr>
      </p:sp>
      <p:sp>
        <p:nvSpPr>
          <p:cNvPr id="11" name="Text 8"/>
          <p:cNvSpPr txBox="1"/>
          <p:nvPr/>
        </p:nvSpPr>
        <p:spPr>
          <a:xfrm>
            <a:off x="594360" y="1755648"/>
            <a:ext cx="3200400" cy="219456"/>
          </a:xfrm>
          <a:prstGeom prst="rect">
            <a:avLst/>
          </a:prstGeom>
          <a:noFill/>
          <a:ln/>
        </p:spPr>
        <p:txBody>
          <a:bodyPr wrap="square" lIns="0" tIns="0" rIns="0" bIns="0" rtlCol="0" anchor="ctr"/>
          <a:lstStyle/>
          <a:p>
            <a:pPr marL="0" indent="0">
              <a:buNone/>
            </a:pPr>
            <a:r>
              <a:rPr lang="en-US" sz="1200" dirty="0">
                <a:solidFill>
                  <a:srgbClr val="0B1F3A"/>
                </a:solidFill>
              </a:rPr>
              <a:t>Insurance</a:t>
            </a:r>
            <a:endParaRPr lang="en-US" sz="1200" dirty="0"/>
          </a:p>
        </p:txBody>
      </p:sp>
      <p:sp>
        <p:nvSpPr>
          <p:cNvPr id="12" name="Text 9"/>
          <p:cNvSpPr txBox="1"/>
          <p:nvPr/>
        </p:nvSpPr>
        <p:spPr>
          <a:xfrm>
            <a:off x="3840480" y="1755648"/>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$10</a:t>
            </a:r>
            <a:endParaRPr lang="en-US" sz="1200" dirty="0"/>
          </a:p>
        </p:txBody>
      </p:sp>
      <p:sp>
        <p:nvSpPr>
          <p:cNvPr id="13" name="lc row 3"/>
          <p:cNvSpPr/>
          <p:nvPr/>
        </p:nvSpPr>
        <p:spPr>
          <a:xfrm>
            <a:off x="457200" y="2020824"/>
            <a:ext cx="5120640" cy="265176"/>
          </a:xfrm>
          <a:prstGeom prst="roundRect">
            <a:avLst>
              <a:gd name="adj" fmla="val 13793"/>
            </a:avLst>
          </a:prstGeom>
          <a:solidFill>
            <a:schemeClr val="accent1"/>
          </a:solidFill>
          <a:ln w="12700">
            <a:solidFill>
              <a:schemeClr val="accent1"/>
            </a:solidFill>
            <a:prstDash val="solid"/>
          </a:ln>
        </p:spPr>
      </p:sp>
      <p:sp>
        <p:nvSpPr>
          <p:cNvPr id="14" name="Text 11"/>
          <p:cNvSpPr txBox="1"/>
          <p:nvPr/>
        </p:nvSpPr>
        <p:spPr>
          <a:xfrm>
            <a:off x="594360" y="2048256"/>
            <a:ext cx="3200400" cy="219456"/>
          </a:xfrm>
          <a:prstGeom prst="rect">
            <a:avLst/>
          </a:prstGeom>
          <a:noFill/>
          <a:ln/>
        </p:spPr>
        <p:txBody>
          <a:bodyPr wrap="square" lIns="0" tIns="0" rIns="0" bIns="0" rtlCol="0" anchor="ctr"/>
          <a:lstStyle/>
          <a:p>
            <a:pPr marL="0" indent="0">
              <a:buNone/>
            </a:pPr>
            <a:r>
              <a:rPr lang="en-US" sz="1200" b="1" dirty="0">
                <a:solidFill>
                  <a:srgbClr val="0B1F3A"/>
                </a:solidFill>
              </a:rPr>
              <a:t>CIF value</a:t>
            </a:r>
            <a:endParaRPr lang="en-US" sz="1200" dirty="0"/>
          </a:p>
        </p:txBody>
      </p:sp>
      <p:sp>
        <p:nvSpPr>
          <p:cNvPr id="15" name="Text 12"/>
          <p:cNvSpPr txBox="1"/>
          <p:nvPr/>
        </p:nvSpPr>
        <p:spPr>
          <a:xfrm>
            <a:off x="3840480" y="2048256"/>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$1,060</a:t>
            </a:r>
            <a:endParaRPr lang="en-US" sz="1200" dirty="0"/>
          </a:p>
        </p:txBody>
      </p:sp>
      <p:sp>
        <p:nvSpPr>
          <p:cNvPr id="16" name="lc row 4"/>
          <p:cNvSpPr/>
          <p:nvPr/>
        </p:nvSpPr>
        <p:spPr>
          <a:xfrm>
            <a:off x="457200" y="2313432"/>
            <a:ext cx="5120640" cy="265176"/>
          </a:xfrm>
          <a:prstGeom prst="roundRect">
            <a:avLst>
              <a:gd name="adj" fmla="val 13793"/>
            </a:avLst>
          </a:prstGeom>
          <a:solidFill>
            <a:schemeClr val="accent1"/>
          </a:solidFill>
          <a:ln w="12700">
            <a:solidFill>
              <a:schemeClr val="accent1"/>
            </a:solidFill>
            <a:prstDash val="solid"/>
          </a:ln>
        </p:spPr>
      </p:sp>
      <p:sp>
        <p:nvSpPr>
          <p:cNvPr id="17" name="Text 14"/>
          <p:cNvSpPr txBox="1"/>
          <p:nvPr/>
        </p:nvSpPr>
        <p:spPr>
          <a:xfrm>
            <a:off x="594360" y="2340864"/>
            <a:ext cx="3200400" cy="219456"/>
          </a:xfrm>
          <a:prstGeom prst="rect">
            <a:avLst/>
          </a:prstGeom>
          <a:noFill/>
          <a:ln/>
        </p:spPr>
        <p:txBody>
          <a:bodyPr wrap="square" lIns="0" tIns="0" rIns="0" bIns="0" rtlCol="0" anchor="ctr"/>
          <a:lstStyle/>
          <a:p>
            <a:pPr marL="0" indent="0">
              <a:buNone/>
            </a:pPr>
            <a:r>
              <a:rPr lang="en-US" sz="1200" b="1" dirty="0">
                <a:solidFill>
                  <a:srgbClr val="0B1F3A"/>
                </a:solidFill>
              </a:rPr>
              <a:t>CIF in naira (₦1,500 = $1)</a:t>
            </a:r>
            <a:endParaRPr lang="en-US" sz="1200" dirty="0"/>
          </a:p>
        </p:txBody>
      </p:sp>
      <p:sp>
        <p:nvSpPr>
          <p:cNvPr id="18" name="Text 15"/>
          <p:cNvSpPr txBox="1"/>
          <p:nvPr/>
        </p:nvSpPr>
        <p:spPr>
          <a:xfrm>
            <a:off x="3840480" y="2340864"/>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₦1,590,000</a:t>
            </a:r>
            <a:endParaRPr lang="en-US" sz="1200" dirty="0"/>
          </a:p>
        </p:txBody>
      </p:sp>
      <p:sp>
        <p:nvSpPr>
          <p:cNvPr id="19" name="lc row 5"/>
          <p:cNvSpPr/>
          <p:nvPr/>
        </p:nvSpPr>
        <p:spPr>
          <a:xfrm>
            <a:off x="457200" y="2606040"/>
            <a:ext cx="5120640" cy="265176"/>
          </a:xfrm>
          <a:prstGeom prst="roundRect">
            <a:avLst>
              <a:gd name="adj" fmla="val 13793"/>
            </a:avLst>
          </a:prstGeom>
          <a:solidFill>
            <a:srgbClr val="FFFFFF"/>
          </a:solidFill>
          <a:ln w="12700">
            <a:solidFill>
              <a:srgbClr val="FFFFFF"/>
            </a:solidFill>
            <a:prstDash val="solid"/>
          </a:ln>
        </p:spPr>
      </p:sp>
      <p:sp>
        <p:nvSpPr>
          <p:cNvPr id="20" name="Text 17"/>
          <p:cNvSpPr txBox="1"/>
          <p:nvPr/>
        </p:nvSpPr>
        <p:spPr>
          <a:xfrm>
            <a:off x="594360" y="2633472"/>
            <a:ext cx="3200400" cy="219456"/>
          </a:xfrm>
          <a:prstGeom prst="rect">
            <a:avLst/>
          </a:prstGeom>
          <a:noFill/>
          <a:ln/>
        </p:spPr>
        <p:txBody>
          <a:bodyPr wrap="square" lIns="0" tIns="0" rIns="0" bIns="0" rtlCol="0" anchor="ctr"/>
          <a:lstStyle/>
          <a:p>
            <a:pPr marL="0" indent="0">
              <a:buNone/>
            </a:pPr>
            <a:r>
              <a:rPr lang="en-US" sz="1200" dirty="0">
                <a:solidFill>
                  <a:srgbClr val="0B1F3A"/>
                </a:solidFill>
              </a:rPr>
              <a:t>Duty at 20%</a:t>
            </a:r>
            <a:endParaRPr lang="en-US" sz="1200" dirty="0"/>
          </a:p>
        </p:txBody>
      </p:sp>
      <p:sp>
        <p:nvSpPr>
          <p:cNvPr id="21" name="Text 18"/>
          <p:cNvSpPr txBox="1"/>
          <p:nvPr/>
        </p:nvSpPr>
        <p:spPr>
          <a:xfrm>
            <a:off x="3840480" y="2633472"/>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₦318,000</a:t>
            </a:r>
            <a:endParaRPr lang="en-US" sz="1200" dirty="0"/>
          </a:p>
        </p:txBody>
      </p:sp>
      <p:sp>
        <p:nvSpPr>
          <p:cNvPr id="22" name="lc row 6"/>
          <p:cNvSpPr/>
          <p:nvPr/>
        </p:nvSpPr>
        <p:spPr>
          <a:xfrm>
            <a:off x="457200" y="2898648"/>
            <a:ext cx="5120640" cy="265176"/>
          </a:xfrm>
          <a:prstGeom prst="roundRect">
            <a:avLst>
              <a:gd name="adj" fmla="val 13793"/>
            </a:avLst>
          </a:prstGeom>
          <a:solidFill>
            <a:schemeClr val="bg2"/>
          </a:solidFill>
          <a:ln w="12700">
            <a:solidFill>
              <a:schemeClr val="bg2"/>
            </a:solidFill>
            <a:prstDash val="solid"/>
          </a:ln>
        </p:spPr>
      </p:sp>
      <p:sp>
        <p:nvSpPr>
          <p:cNvPr id="23" name="Text 20"/>
          <p:cNvSpPr txBox="1"/>
          <p:nvPr/>
        </p:nvSpPr>
        <p:spPr>
          <a:xfrm>
            <a:off x="594360" y="2926080"/>
            <a:ext cx="3200400" cy="219456"/>
          </a:xfrm>
          <a:prstGeom prst="rect">
            <a:avLst/>
          </a:prstGeom>
          <a:noFill/>
          <a:ln/>
        </p:spPr>
        <p:txBody>
          <a:bodyPr wrap="square" lIns="0" tIns="0" rIns="0" bIns="0" rtlCol="0" anchor="ctr"/>
          <a:lstStyle/>
          <a:p>
            <a:pPr marL="0" indent="0">
              <a:buNone/>
            </a:pPr>
            <a:r>
              <a:rPr lang="en-US" sz="1200" dirty="0">
                <a:solidFill>
                  <a:srgbClr val="0B1F3A"/>
                </a:solidFill>
              </a:rPr>
              <a:t>VAT 7.5% on ₦1,908,000</a:t>
            </a:r>
            <a:endParaRPr lang="en-US" sz="1200" dirty="0"/>
          </a:p>
        </p:txBody>
      </p:sp>
      <p:sp>
        <p:nvSpPr>
          <p:cNvPr id="24" name="Text 21"/>
          <p:cNvSpPr txBox="1"/>
          <p:nvPr/>
        </p:nvSpPr>
        <p:spPr>
          <a:xfrm>
            <a:off x="3840480" y="2926080"/>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₦143,100</a:t>
            </a:r>
            <a:endParaRPr lang="en-US" sz="1200" dirty="0"/>
          </a:p>
        </p:txBody>
      </p:sp>
      <p:sp>
        <p:nvSpPr>
          <p:cNvPr id="25" name="lc row 7"/>
          <p:cNvSpPr/>
          <p:nvPr/>
        </p:nvSpPr>
        <p:spPr>
          <a:xfrm>
            <a:off x="457200" y="3191256"/>
            <a:ext cx="5120640" cy="265176"/>
          </a:xfrm>
          <a:prstGeom prst="roundRect">
            <a:avLst>
              <a:gd name="adj" fmla="val 13793"/>
            </a:avLst>
          </a:prstGeom>
          <a:solidFill>
            <a:srgbClr val="FFFFFF"/>
          </a:solidFill>
          <a:ln w="12700">
            <a:solidFill>
              <a:srgbClr val="FFFFFF"/>
            </a:solidFill>
            <a:prstDash val="solid"/>
          </a:ln>
        </p:spPr>
      </p:sp>
      <p:sp>
        <p:nvSpPr>
          <p:cNvPr id="26" name="Text 23"/>
          <p:cNvSpPr txBox="1"/>
          <p:nvPr/>
        </p:nvSpPr>
        <p:spPr>
          <a:xfrm>
            <a:off x="594360" y="3218688"/>
            <a:ext cx="3200400" cy="219456"/>
          </a:xfrm>
          <a:prstGeom prst="rect">
            <a:avLst/>
          </a:prstGeom>
          <a:noFill/>
          <a:ln/>
        </p:spPr>
        <p:txBody>
          <a:bodyPr wrap="square" lIns="0" tIns="0" rIns="0" bIns="0" rtlCol="0" anchor="ctr"/>
          <a:lstStyle/>
          <a:p>
            <a:pPr marL="0" indent="0">
              <a:buNone/>
            </a:pPr>
            <a:r>
              <a:rPr lang="en-US" sz="1200" dirty="0">
                <a:solidFill>
                  <a:srgbClr val="0B1F3A"/>
                </a:solidFill>
              </a:rPr>
              <a:t>Clearing and port</a:t>
            </a:r>
            <a:endParaRPr lang="en-US" sz="1200" dirty="0"/>
          </a:p>
        </p:txBody>
      </p:sp>
      <p:sp>
        <p:nvSpPr>
          <p:cNvPr id="27" name="Text 24"/>
          <p:cNvSpPr txBox="1"/>
          <p:nvPr/>
        </p:nvSpPr>
        <p:spPr>
          <a:xfrm>
            <a:off x="3840480" y="3218688"/>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₦120,000</a:t>
            </a:r>
            <a:endParaRPr lang="en-US" sz="1200" dirty="0"/>
          </a:p>
        </p:txBody>
      </p:sp>
      <p:sp>
        <p:nvSpPr>
          <p:cNvPr id="28" name="lc row 8"/>
          <p:cNvSpPr/>
          <p:nvPr/>
        </p:nvSpPr>
        <p:spPr>
          <a:xfrm>
            <a:off x="457200" y="3483864"/>
            <a:ext cx="5120640" cy="265176"/>
          </a:xfrm>
          <a:prstGeom prst="roundRect">
            <a:avLst>
              <a:gd name="adj" fmla="val 13793"/>
            </a:avLst>
          </a:prstGeom>
          <a:solidFill>
            <a:schemeClr val="bg2"/>
          </a:solidFill>
          <a:ln w="12700">
            <a:solidFill>
              <a:schemeClr val="bg2"/>
            </a:solidFill>
            <a:prstDash val="solid"/>
          </a:ln>
        </p:spPr>
      </p:sp>
      <p:sp>
        <p:nvSpPr>
          <p:cNvPr id="29" name="Text 26"/>
          <p:cNvSpPr txBox="1"/>
          <p:nvPr/>
        </p:nvSpPr>
        <p:spPr>
          <a:xfrm>
            <a:off x="594360" y="3511296"/>
            <a:ext cx="3200400" cy="219456"/>
          </a:xfrm>
          <a:prstGeom prst="rect">
            <a:avLst/>
          </a:prstGeom>
          <a:noFill/>
          <a:ln/>
        </p:spPr>
        <p:txBody>
          <a:bodyPr wrap="square" lIns="0" tIns="0" rIns="0" bIns="0" rtlCol="0" anchor="ctr"/>
          <a:lstStyle/>
          <a:p>
            <a:pPr marL="0" indent="0">
              <a:buNone/>
            </a:pPr>
            <a:r>
              <a:rPr lang="en-US" sz="1200" dirty="0">
                <a:solidFill>
                  <a:srgbClr val="0B1F3A"/>
                </a:solidFill>
              </a:rPr>
              <a:t>Local transport</a:t>
            </a:r>
            <a:endParaRPr lang="en-US" sz="1200" dirty="0"/>
          </a:p>
        </p:txBody>
      </p:sp>
      <p:sp>
        <p:nvSpPr>
          <p:cNvPr id="30" name="Text 27"/>
          <p:cNvSpPr txBox="1"/>
          <p:nvPr/>
        </p:nvSpPr>
        <p:spPr>
          <a:xfrm>
            <a:off x="3840480" y="3511296"/>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₦30,000</a:t>
            </a:r>
            <a:endParaRPr lang="en-US" sz="1200" dirty="0"/>
          </a:p>
        </p:txBody>
      </p:sp>
      <p:sp>
        <p:nvSpPr>
          <p:cNvPr id="31" name="lc row 9"/>
          <p:cNvSpPr/>
          <p:nvPr/>
        </p:nvSpPr>
        <p:spPr>
          <a:xfrm>
            <a:off x="457200" y="3776472"/>
            <a:ext cx="5120640" cy="265176"/>
          </a:xfrm>
          <a:prstGeom prst="roundRect">
            <a:avLst>
              <a:gd name="adj" fmla="val 13793"/>
            </a:avLst>
          </a:prstGeom>
          <a:solidFill>
            <a:srgbClr val="FFFFFF"/>
          </a:solidFill>
          <a:ln w="12700">
            <a:solidFill>
              <a:srgbClr val="FFFFFF"/>
            </a:solidFill>
            <a:prstDash val="solid"/>
          </a:ln>
        </p:spPr>
      </p:sp>
      <p:sp>
        <p:nvSpPr>
          <p:cNvPr id="32" name="Text 29"/>
          <p:cNvSpPr txBox="1"/>
          <p:nvPr/>
        </p:nvSpPr>
        <p:spPr>
          <a:xfrm>
            <a:off x="594360" y="3803904"/>
            <a:ext cx="3200400" cy="219456"/>
          </a:xfrm>
          <a:prstGeom prst="rect">
            <a:avLst/>
          </a:prstGeom>
          <a:noFill/>
          <a:ln/>
        </p:spPr>
        <p:txBody>
          <a:bodyPr wrap="square" lIns="0" tIns="0" rIns="0" bIns="0" rtlCol="0" anchor="ctr"/>
          <a:lstStyle/>
          <a:p>
            <a:pPr marL="0" indent="0">
              <a:buNone/>
            </a:pPr>
            <a:r>
              <a:rPr lang="en-US" sz="1200" dirty="0">
                <a:solidFill>
                  <a:srgbClr val="0B1F3A"/>
                </a:solidFill>
              </a:rPr>
              <a:t>Bank and payment charges</a:t>
            </a:r>
            <a:endParaRPr lang="en-US" sz="1200" dirty="0"/>
          </a:p>
        </p:txBody>
      </p:sp>
      <p:sp>
        <p:nvSpPr>
          <p:cNvPr id="33" name="Text 30"/>
          <p:cNvSpPr txBox="1"/>
          <p:nvPr/>
        </p:nvSpPr>
        <p:spPr>
          <a:xfrm>
            <a:off x="3840480" y="3803904"/>
            <a:ext cx="1645920" cy="219456"/>
          </a:xfrm>
          <a:prstGeom prst="rect">
            <a:avLst/>
          </a:prstGeom>
          <a:noFill/>
          <a:ln/>
        </p:spPr>
        <p:txBody>
          <a:bodyPr wrap="square" lIns="0" tIns="0" rIns="0" bIns="0" rtlCol="0" anchor="ctr"/>
          <a:lstStyle/>
          <a:p>
            <a:pPr marL="0" indent="0" algn="r">
              <a:buNone/>
            </a:pPr>
            <a:r>
              <a:rPr lang="en-US" sz="1200" b="1" dirty="0">
                <a:solidFill>
                  <a:srgbClr val="0B1F3A"/>
                </a:solidFill>
              </a:rPr>
              <a:t>₦25,000</a:t>
            </a:r>
            <a:endParaRPr lang="en-US" sz="1200" dirty="0"/>
          </a:p>
        </p:txBody>
      </p:sp>
      <p:sp>
        <p:nvSpPr>
          <p:cNvPr id="34" name="total panel"/>
          <p:cNvSpPr/>
          <p:nvPr/>
        </p:nvSpPr>
        <p:spPr>
          <a:xfrm>
            <a:off x="5852160" y="1143000"/>
            <a:ext cx="2834640" cy="2926080"/>
          </a:xfrm>
          <a:prstGeom prst="roundRect">
            <a:avLst>
              <a:gd name="adj" fmla="val 3226"/>
            </a:avLst>
          </a:prstGeom>
          <a:solidFill>
            <a:srgbClr val="0B1F3A"/>
          </a:solidFill>
          <a:ln w="12700">
            <a:solidFill>
              <a:srgbClr val="0B1F3A"/>
            </a:solidFill>
            <a:prstDash val="solid"/>
          </a:ln>
        </p:spPr>
      </p:sp>
      <p:sp>
        <p:nvSpPr>
          <p:cNvPr id="35" name="Text 32"/>
          <p:cNvSpPr txBox="1"/>
          <p:nvPr/>
        </p:nvSpPr>
        <p:spPr>
          <a:xfrm>
            <a:off x="6035040" y="1280160"/>
            <a:ext cx="246888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TOTAL LANDED COST</a:t>
            </a:r>
            <a:endParaRPr lang="en-US" sz="1200" dirty="0"/>
          </a:p>
        </p:txBody>
      </p:sp>
      <p:sp>
        <p:nvSpPr>
          <p:cNvPr id="36" name="Text 33"/>
          <p:cNvSpPr txBox="1"/>
          <p:nvPr/>
        </p:nvSpPr>
        <p:spPr>
          <a:xfrm>
            <a:off x="6035040" y="1645920"/>
            <a:ext cx="2468880" cy="548640"/>
          </a:xfrm>
          <a:prstGeom prst="rect">
            <a:avLst/>
          </a:prstGeom>
          <a:noFill/>
          <a:ln/>
        </p:spPr>
        <p:txBody>
          <a:bodyPr wrap="square" lIns="0" tIns="0" rIns="0" bIns="0" rtlCol="0" anchor="t"/>
          <a:lstStyle/>
          <a:p>
            <a:pPr marL="0" indent="0">
              <a:buNone/>
            </a:pPr>
            <a:r>
              <a:rPr lang="en-US" sz="3200" b="1" dirty="0">
                <a:solidFill>
                  <a:schemeClr val="bg1"/>
                </a:solidFill>
                <a:latin typeface="Cambria" pitchFamily="34" charset="0"/>
                <a:ea typeface="Cambria" pitchFamily="34" charset="-122"/>
                <a:cs typeface="Cambria" pitchFamily="34" charset="-120"/>
              </a:rPr>
              <a:t>₦2,226,100</a:t>
            </a:r>
            <a:endParaRPr lang="en-US" sz="3200" dirty="0"/>
          </a:p>
        </p:txBody>
      </p:sp>
      <p:sp>
        <p:nvSpPr>
          <p:cNvPr id="37" name="Text 34"/>
          <p:cNvSpPr txBox="1"/>
          <p:nvPr/>
        </p:nvSpPr>
        <p:spPr>
          <a:xfrm>
            <a:off x="6035040" y="2468880"/>
            <a:ext cx="246888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PER UNIT (÷ 300)</a:t>
            </a:r>
            <a:endParaRPr lang="en-US" sz="1200" dirty="0"/>
          </a:p>
        </p:txBody>
      </p:sp>
      <p:sp>
        <p:nvSpPr>
          <p:cNvPr id="38" name="Text 35"/>
          <p:cNvSpPr txBox="1"/>
          <p:nvPr/>
        </p:nvSpPr>
        <p:spPr>
          <a:xfrm>
            <a:off x="6035040" y="2788920"/>
            <a:ext cx="2468880" cy="64008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₦7,420</a:t>
            </a:r>
            <a:endParaRPr lang="en-US" sz="4000" dirty="0"/>
          </a:p>
        </p:txBody>
      </p:sp>
      <p:sp>
        <p:nvSpPr>
          <p:cNvPr id="39" name="Text 36"/>
          <p:cNvSpPr txBox="1"/>
          <p:nvPr/>
        </p:nvSpPr>
        <p:spPr>
          <a:xfrm>
            <a:off x="6035040" y="3520440"/>
            <a:ext cx="2468880" cy="457200"/>
          </a:xfrm>
          <a:prstGeom prst="rect">
            <a:avLst/>
          </a:prstGeom>
          <a:noFill/>
          <a:ln/>
        </p:spPr>
        <p:txBody>
          <a:bodyPr wrap="square" lIns="0" tIns="0" rIns="0" bIns="0" rtlCol="0" anchor="t"/>
          <a:lstStyle/>
          <a:p>
            <a:pPr marL="0" indent="0">
              <a:buNone/>
            </a:pPr>
            <a:r>
              <a:rPr lang="en-US" sz="1300" dirty="0">
                <a:solidFill>
                  <a:schemeClr val="accent4"/>
                </a:solidFill>
              </a:rPr>
              <a:t>vs about ₦4,500 on the supplier page</a:t>
            </a:r>
            <a:endParaRPr lang="en-US" sz="1300" dirty="0"/>
          </a:p>
        </p:txBody>
      </p:sp>
      <p:sp>
        <p:nvSpPr>
          <p:cNvPr id="40" name="Text 37"/>
          <p:cNvSpPr txBox="1"/>
          <p:nvPr/>
        </p:nvSpPr>
        <p:spPr>
          <a:xfrm>
            <a:off x="457200" y="4206240"/>
            <a:ext cx="8229600" cy="274320"/>
          </a:xfrm>
          <a:prstGeom prst="rect">
            <a:avLst/>
          </a:prstGeom>
          <a:noFill/>
          <a:ln/>
        </p:spPr>
        <p:txBody>
          <a:bodyPr wrap="square" lIns="0" tIns="0" rIns="0" bIns="0" rtlCol="0" anchor="t"/>
          <a:lstStyle/>
          <a:p>
            <a:pPr marL="0" indent="0">
              <a:buNone/>
            </a:pPr>
            <a:r>
              <a:rPr lang="en-US" sz="1300" i="1" dirty="0">
                <a:solidFill>
                  <a:schemeClr val="accent3"/>
                </a:solidFill>
              </a:rPr>
              <a:t>Teaching rates. Use current rates for your own goods.</a:t>
            </a:r>
            <a:endParaRPr lang="en-US" sz="13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Where the money goes</a:t>
            </a:r>
            <a:endParaRPr lang="en-US" sz="2800" dirty="0"/>
          </a:p>
        </p:txBody>
      </p:sp>
      <p:graphicFrame>
        <p:nvGraphicFramePr>
          <p:cNvPr id="4" name="Chart 0"/>
          <p:cNvGraphicFramePr/>
          <p:nvPr/>
        </p:nvGraphicFramePr>
        <p:xfrm>
          <a:off x="457200" y="1143000"/>
          <a:ext cx="55778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457200" y="4297680"/>
            <a:ext cx="5577840" cy="274320"/>
          </a:xfrm>
          <a:prstGeom prst="rect">
            <a:avLst/>
          </a:prstGeom>
          <a:noFill/>
          <a:ln/>
        </p:spPr>
        <p:txBody>
          <a:bodyPr wrap="square" lIns="0" tIns="0" rIns="0" bIns="0" rtlCol="0" anchor="t"/>
          <a:lstStyle/>
          <a:p>
            <a:pPr marL="0" indent="0">
              <a:buNone/>
            </a:pPr>
            <a:r>
              <a:rPr lang="en-US" sz="1200" b="1" dirty="0">
                <a:solidFill>
                  <a:srgbClr val="B26F0A"/>
                </a:solidFill>
              </a:rPr>
              <a:t>Amber: goods and freight   </a:t>
            </a:r>
            <a:r>
              <a:rPr lang="en-US" sz="1200" b="1" dirty="0">
                <a:solidFill>
                  <a:srgbClr val="C8553D"/>
                </a:solidFill>
              </a:rPr>
              <a:t>Brick: duty and tax   </a:t>
            </a:r>
            <a:r>
              <a:rPr lang="en-US" sz="1200" b="1" dirty="0">
                <a:solidFill>
                  <a:srgbClr val="3F6E99"/>
                </a:solidFill>
              </a:rPr>
              <a:t>Blue: local costs</a:t>
            </a:r>
            <a:endParaRPr lang="en-US" sz="1200" dirty="0"/>
          </a:p>
        </p:txBody>
      </p:sp>
      <p:sp>
        <p:nvSpPr>
          <p:cNvPr id="6" name="reduce panel"/>
          <p:cNvSpPr/>
          <p:nvPr/>
        </p:nvSpPr>
        <p:spPr>
          <a:xfrm>
            <a:off x="6309360" y="1143000"/>
            <a:ext cx="2377440" cy="3429000"/>
          </a:xfrm>
          <a:prstGeom prst="roundRect">
            <a:avLst>
              <a:gd name="adj" fmla="val 3846"/>
            </a:avLst>
          </a:prstGeom>
          <a:solidFill>
            <a:schemeClr val="bg2"/>
          </a:solidFill>
          <a:ln w="12700">
            <a:solidFill>
              <a:schemeClr val="bg2"/>
            </a:solidFill>
            <a:prstDash val="solid"/>
          </a:ln>
        </p:spPr>
      </p:sp>
      <p:sp>
        <p:nvSpPr>
          <p:cNvPr id="7" name="Text 3"/>
          <p:cNvSpPr txBox="1"/>
          <p:nvPr/>
        </p:nvSpPr>
        <p:spPr>
          <a:xfrm>
            <a:off x="6492240" y="1280160"/>
            <a:ext cx="2103120" cy="228600"/>
          </a:xfrm>
          <a:prstGeom prst="rect">
            <a:avLst/>
          </a:prstGeom>
          <a:noFill/>
          <a:ln/>
        </p:spPr>
        <p:txBody>
          <a:bodyPr wrap="square" lIns="0" tIns="0" rIns="0" bIns="0" rtlCol="0" anchor="t"/>
          <a:lstStyle/>
          <a:p>
            <a:pPr marL="0" indent="0">
              <a:buNone/>
            </a:pPr>
            <a:r>
              <a:rPr lang="en-US" sz="1200" b="1" kern="0" spc="200" dirty="0">
                <a:solidFill>
                  <a:schemeClr val="accent2"/>
                </a:solidFill>
              </a:rPr>
              <a:t>HOW TO REDUCE IT</a:t>
            </a:r>
            <a:endParaRPr lang="en-US" sz="1200" dirty="0"/>
          </a:p>
        </p:txBody>
      </p:sp>
      <p:sp>
        <p:nvSpPr>
          <p:cNvPr id="8" name="Text 4"/>
          <p:cNvSpPr txBox="1"/>
          <p:nvPr/>
        </p:nvSpPr>
        <p:spPr>
          <a:xfrm>
            <a:off x="6492240" y="1645920"/>
            <a:ext cx="205740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Compare freight quotes</a:t>
            </a:r>
            <a:endParaRPr lang="en-US" sz="1400" dirty="0"/>
          </a:p>
          <a:p>
            <a:pPr marL="342900" indent="-342900">
              <a:spcAft>
                <a:spcPts val="800"/>
              </a:spcAft>
              <a:buSzPct val="100000"/>
              <a:buChar char="•"/>
            </a:pPr>
            <a:r>
              <a:rPr lang="en-US" sz="1400" dirty="0">
                <a:solidFill>
                  <a:schemeClr val="tx1"/>
                </a:solidFill>
              </a:rPr>
              <a:t>Confirm the HS code</a:t>
            </a:r>
            <a:endParaRPr lang="en-US" sz="1400" dirty="0"/>
          </a:p>
          <a:p>
            <a:pPr marL="342900" indent="-342900">
              <a:spcAft>
                <a:spcPts val="800"/>
              </a:spcAft>
              <a:buSzPct val="100000"/>
              <a:buChar char="•"/>
            </a:pPr>
            <a:r>
              <a:rPr lang="en-US" sz="1400" dirty="0">
                <a:solidFill>
                  <a:schemeClr val="tx1"/>
                </a:solidFill>
              </a:rPr>
              <a:t>Spread fixed charges over more units</a:t>
            </a:r>
            <a:endParaRPr lang="en-US" sz="1400" dirty="0"/>
          </a:p>
          <a:p>
            <a:pPr marL="342900" indent="-342900">
              <a:spcAft>
                <a:spcPts val="800"/>
              </a:spcAft>
              <a:buSzPct val="100000"/>
              <a:buChar char="•"/>
            </a:pPr>
            <a:r>
              <a:rPr lang="en-US" sz="1400" dirty="0">
                <a:solidFill>
                  <a:schemeClr val="tx1"/>
                </a:solidFill>
              </a:rPr>
              <a:t>Collect goods before storage fees start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9: price for the profit you want</a:t>
            </a:r>
            <a:endParaRPr lang="en-US" sz="2800" dirty="0"/>
          </a:p>
        </p:txBody>
      </p:sp>
      <p:pic>
        <p:nvPicPr>
          <p:cNvPr id="4" name="Nigerian naira banknotes" descr="Nigerian naira banknotes"/>
          <p:cNvPicPr>
            <a:picLocks noChangeAspect="1"/>
          </p:cNvPicPr>
          <p:nvPr/>
        </p:nvPicPr>
        <p:blipFill>
          <a:blip r:embed="rId3"/>
          <a:stretch>
            <a:fillRect/>
          </a:stretch>
        </p:blipFill>
        <p:spPr>
          <a:xfrm>
            <a:off x="5669280" y="1188720"/>
            <a:ext cx="3017520" cy="3200400"/>
          </a:xfrm>
          <a:prstGeom prst="rect">
            <a:avLst/>
          </a:prstGeom>
        </p:spPr>
      </p:pic>
      <p:sp>
        <p:nvSpPr>
          <p:cNvPr id="5" name="Text 1"/>
          <p:cNvSpPr txBox="1"/>
          <p:nvPr/>
        </p:nvSpPr>
        <p:spPr>
          <a:xfrm>
            <a:off x="5669280" y="4434840"/>
            <a:ext cx="3017520" cy="201168"/>
          </a:xfrm>
          <a:prstGeom prst="rect">
            <a:avLst/>
          </a:prstGeom>
          <a:noFill/>
          <a:ln/>
        </p:spPr>
        <p:txBody>
          <a:bodyPr wrap="square" lIns="0" tIns="0" rIns="0" bIns="0" rtlCol="0" anchor="t"/>
          <a:lstStyle/>
          <a:p>
            <a:pPr marL="0" indent="0">
              <a:buNone/>
            </a:pPr>
            <a:r>
              <a:rPr lang="en-US" sz="1000" i="1" dirty="0">
                <a:solidFill>
                  <a:schemeClr val="accent4"/>
                </a:solidFill>
              </a:rPr>
              <a:t>Photo: FAdelabu, CC BY-SA 4.0</a:t>
            </a:r>
            <a:endParaRPr lang="en-US" sz="1000" dirty="0"/>
          </a:p>
        </p:txBody>
      </p:sp>
      <p:sp>
        <p:nvSpPr>
          <p:cNvPr id="6" name="margin warning"/>
          <p:cNvSpPr/>
          <p:nvPr/>
        </p:nvSpPr>
        <p:spPr>
          <a:xfrm>
            <a:off x="457200" y="4023360"/>
            <a:ext cx="4937760" cy="548640"/>
          </a:xfrm>
          <a:prstGeom prst="roundRect">
            <a:avLst>
              <a:gd name="adj" fmla="val 13333"/>
            </a:avLst>
          </a:prstGeom>
          <a:solidFill>
            <a:srgbClr val="FBEAE6"/>
          </a:solidFill>
          <a:ln w="12700">
            <a:solidFill>
              <a:srgbClr val="FBEAE6"/>
            </a:solidFill>
            <a:prstDash val="solid"/>
          </a:ln>
        </p:spPr>
      </p:sp>
      <p:sp>
        <p:nvSpPr>
          <p:cNvPr id="7" name="Text 3"/>
          <p:cNvSpPr txBox="1"/>
          <p:nvPr/>
        </p:nvSpPr>
        <p:spPr>
          <a:xfrm>
            <a:off x="594360" y="4069080"/>
            <a:ext cx="4663440" cy="457200"/>
          </a:xfrm>
          <a:prstGeom prst="rect">
            <a:avLst/>
          </a:prstGeom>
          <a:noFill/>
          <a:ln/>
        </p:spPr>
        <p:txBody>
          <a:bodyPr wrap="square" lIns="0" tIns="0" rIns="0" bIns="0" rtlCol="0" anchor="ctr"/>
          <a:lstStyle/>
          <a:p>
            <a:pPr marL="0" indent="0">
              <a:buNone/>
            </a:pPr>
            <a:r>
              <a:rPr lang="en-US" sz="1300" b="1" dirty="0">
                <a:solidFill>
                  <a:schemeClr val="tx1"/>
                </a:solidFill>
              </a:rPr>
              <a:t>A 35% margin is not 35% profit: marketing, packing, delivery and your time still come out.</a:t>
            </a:r>
            <a:endParaRPr lang="en-US" sz="1300" dirty="0"/>
          </a:p>
        </p:txBody>
      </p:sp>
      <p:sp>
        <p:nvSpPr>
          <p:cNvPr id="8" name="formula panel"/>
          <p:cNvSpPr/>
          <p:nvPr/>
        </p:nvSpPr>
        <p:spPr>
          <a:xfrm>
            <a:off x="457200" y="1188720"/>
            <a:ext cx="4937760" cy="1325880"/>
          </a:xfrm>
          <a:prstGeom prst="roundRect">
            <a:avLst>
              <a:gd name="adj" fmla="val 6897"/>
            </a:avLst>
          </a:prstGeom>
          <a:solidFill>
            <a:schemeClr val="bg2"/>
          </a:solidFill>
          <a:ln w="12700">
            <a:solidFill>
              <a:schemeClr val="bg2"/>
            </a:solidFill>
            <a:prstDash val="solid"/>
          </a:ln>
        </p:spPr>
      </p:sp>
      <p:sp>
        <p:nvSpPr>
          <p:cNvPr id="9" name="Text 5"/>
          <p:cNvSpPr txBox="1"/>
          <p:nvPr/>
        </p:nvSpPr>
        <p:spPr>
          <a:xfrm>
            <a:off x="640080" y="1298448"/>
            <a:ext cx="4572000" cy="228600"/>
          </a:xfrm>
          <a:prstGeom prst="rect">
            <a:avLst/>
          </a:prstGeom>
          <a:noFill/>
          <a:ln/>
        </p:spPr>
        <p:txBody>
          <a:bodyPr wrap="square" lIns="0" tIns="0" rIns="0" bIns="0" rtlCol="0" anchor="t"/>
          <a:lstStyle/>
          <a:p>
            <a:pPr marL="0" indent="0">
              <a:buNone/>
            </a:pPr>
            <a:r>
              <a:rPr lang="en-US" sz="1200" b="1" kern="0" spc="200" dirty="0">
                <a:solidFill>
                  <a:schemeClr val="accent2"/>
                </a:solidFill>
              </a:rPr>
              <a:t>SELLING PRICE FORMULA</a:t>
            </a:r>
            <a:endParaRPr lang="en-US" sz="1200" dirty="0"/>
          </a:p>
        </p:txBody>
      </p:sp>
      <p:sp>
        <p:nvSpPr>
          <p:cNvPr id="10" name="Text 6"/>
          <p:cNvSpPr txBox="1"/>
          <p:nvPr/>
        </p:nvSpPr>
        <p:spPr>
          <a:xfrm>
            <a:off x="640080" y="1645920"/>
            <a:ext cx="4572000" cy="365760"/>
          </a:xfrm>
          <a:prstGeom prst="rect">
            <a:avLst/>
          </a:prstGeom>
          <a:noFill/>
          <a:ln/>
        </p:spPr>
        <p:txBody>
          <a:bodyPr wrap="square" lIns="0" tIns="0" rIns="0" bIns="0" rtlCol="0" anchor="t"/>
          <a:lstStyle/>
          <a:p>
            <a:pPr marL="0" indent="0">
              <a:buNone/>
            </a:pPr>
            <a:r>
              <a:rPr lang="en-US" sz="1700" b="1" dirty="0">
                <a:solidFill>
                  <a:schemeClr val="tx1"/>
                </a:solidFill>
                <a:latin typeface="Cambria" pitchFamily="34" charset="0"/>
                <a:ea typeface="Cambria" pitchFamily="34" charset="-122"/>
                <a:cs typeface="Cambria" pitchFamily="34" charset="-120"/>
              </a:rPr>
              <a:t>Price = landed cost ÷ (1 − target margin)</a:t>
            </a:r>
            <a:endParaRPr lang="en-US" sz="1700" dirty="0"/>
          </a:p>
        </p:txBody>
      </p:sp>
      <p:sp>
        <p:nvSpPr>
          <p:cNvPr id="11" name="Text 7"/>
          <p:cNvSpPr txBox="1"/>
          <p:nvPr/>
        </p:nvSpPr>
        <p:spPr>
          <a:xfrm>
            <a:off x="640080" y="2103120"/>
            <a:ext cx="4572000" cy="320040"/>
          </a:xfrm>
          <a:prstGeom prst="rect">
            <a:avLst/>
          </a:prstGeom>
          <a:noFill/>
          <a:ln/>
        </p:spPr>
        <p:txBody>
          <a:bodyPr wrap="square" lIns="0" tIns="0" rIns="0" bIns="0" rtlCol="0" anchor="t"/>
          <a:lstStyle/>
          <a:p>
            <a:pPr marL="0" indent="0">
              <a:buNone/>
            </a:pPr>
            <a:r>
              <a:rPr lang="en-US" sz="1600" b="1" dirty="0">
                <a:solidFill>
                  <a:schemeClr val="accent6"/>
                </a:solidFill>
              </a:rPr>
              <a:t>₦7,420 ÷ 0.65 = ₦11,415 for a 35% margin</a:t>
            </a:r>
            <a:endParaRPr lang="en-US" sz="1600" dirty="0"/>
          </a:p>
        </p:txBody>
      </p:sp>
      <p:sp>
        <p:nvSpPr>
          <p:cNvPr id="12" name="markup card"/>
          <p:cNvSpPr/>
          <p:nvPr/>
        </p:nvSpPr>
        <p:spPr>
          <a:xfrm>
            <a:off x="457200" y="2697480"/>
            <a:ext cx="2377440" cy="1188720"/>
          </a:xfrm>
          <a:prstGeom prst="roundRect">
            <a:avLst>
              <a:gd name="adj" fmla="val 7692"/>
            </a:avLst>
          </a:prstGeom>
          <a:solidFill>
            <a:srgbClr val="FFFFFF"/>
          </a:solidFill>
          <a:ln w="12700">
            <a:solidFill>
              <a:srgbClr val="C9D6E5"/>
            </a:solidFill>
            <a:prstDash val="solid"/>
          </a:ln>
        </p:spPr>
      </p:sp>
      <p:sp>
        <p:nvSpPr>
          <p:cNvPr id="13" name="Text 9"/>
          <p:cNvSpPr txBox="1"/>
          <p:nvPr/>
        </p:nvSpPr>
        <p:spPr>
          <a:xfrm>
            <a:off x="594360" y="2788920"/>
            <a:ext cx="2103120" cy="228600"/>
          </a:xfrm>
          <a:prstGeom prst="rect">
            <a:avLst/>
          </a:prstGeom>
          <a:noFill/>
          <a:ln/>
        </p:spPr>
        <p:txBody>
          <a:bodyPr wrap="square" lIns="0" tIns="0" rIns="0" bIns="0" rtlCol="0" anchor="t"/>
          <a:lstStyle/>
          <a:p>
            <a:pPr marL="0" indent="0">
              <a:buNone/>
            </a:pPr>
            <a:r>
              <a:rPr lang="en-US" sz="1200" b="1" kern="0" spc="200" dirty="0">
                <a:solidFill>
                  <a:schemeClr val="accent2"/>
                </a:solidFill>
              </a:rPr>
              <a:t>MARKUP</a:t>
            </a:r>
            <a:endParaRPr lang="en-US" sz="1200" dirty="0"/>
          </a:p>
        </p:txBody>
      </p:sp>
      <p:sp>
        <p:nvSpPr>
          <p:cNvPr id="14" name="Text 10"/>
          <p:cNvSpPr txBox="1"/>
          <p:nvPr/>
        </p:nvSpPr>
        <p:spPr>
          <a:xfrm>
            <a:off x="594360" y="3063240"/>
            <a:ext cx="2103120" cy="274320"/>
          </a:xfrm>
          <a:prstGeom prst="rect">
            <a:avLst/>
          </a:prstGeom>
          <a:noFill/>
          <a:ln/>
        </p:spPr>
        <p:txBody>
          <a:bodyPr wrap="square" lIns="0" tIns="0" rIns="0" bIns="0" rtlCol="0" anchor="t"/>
          <a:lstStyle/>
          <a:p>
            <a:pPr marL="0" indent="0">
              <a:buNone/>
            </a:pPr>
            <a:r>
              <a:rPr lang="en-US" sz="1500" b="1" dirty="0">
                <a:solidFill>
                  <a:schemeClr val="tx1"/>
                </a:solidFill>
              </a:rPr>
              <a:t>Profit ÷ cost</a:t>
            </a:r>
            <a:endParaRPr lang="en-US" sz="1500" dirty="0"/>
          </a:p>
        </p:txBody>
      </p:sp>
      <p:sp>
        <p:nvSpPr>
          <p:cNvPr id="15" name="Text 11"/>
          <p:cNvSpPr txBox="1"/>
          <p:nvPr/>
        </p:nvSpPr>
        <p:spPr>
          <a:xfrm>
            <a:off x="594360" y="3383280"/>
            <a:ext cx="2103120" cy="365760"/>
          </a:xfrm>
          <a:prstGeom prst="rect">
            <a:avLst/>
          </a:prstGeom>
          <a:noFill/>
          <a:ln/>
        </p:spPr>
        <p:txBody>
          <a:bodyPr wrap="square" lIns="0" tIns="0" rIns="0" bIns="0" rtlCol="0" anchor="t"/>
          <a:lstStyle/>
          <a:p>
            <a:pPr marL="0" indent="0">
              <a:buNone/>
            </a:pPr>
            <a:r>
              <a:rPr lang="en-US" sz="1300" dirty="0">
                <a:solidFill>
                  <a:schemeClr val="tx1"/>
                </a:solidFill>
              </a:rPr>
              <a:t>₦4,000 ÷ ₦6,000 = 66.7%</a:t>
            </a:r>
            <a:endParaRPr lang="en-US" sz="1300" dirty="0"/>
          </a:p>
        </p:txBody>
      </p:sp>
      <p:sp>
        <p:nvSpPr>
          <p:cNvPr id="16" name="margin card"/>
          <p:cNvSpPr/>
          <p:nvPr/>
        </p:nvSpPr>
        <p:spPr>
          <a:xfrm>
            <a:off x="3017520" y="2697480"/>
            <a:ext cx="2377440" cy="1188720"/>
          </a:xfrm>
          <a:prstGeom prst="roundRect">
            <a:avLst>
              <a:gd name="adj" fmla="val 7692"/>
            </a:avLst>
          </a:prstGeom>
          <a:solidFill>
            <a:srgbClr val="FFFFFF"/>
          </a:solidFill>
          <a:ln w="12700">
            <a:solidFill>
              <a:srgbClr val="C9D6E5"/>
            </a:solidFill>
            <a:prstDash val="solid"/>
          </a:ln>
        </p:spPr>
      </p:sp>
      <p:sp>
        <p:nvSpPr>
          <p:cNvPr id="17" name="Text 13"/>
          <p:cNvSpPr txBox="1"/>
          <p:nvPr/>
        </p:nvSpPr>
        <p:spPr>
          <a:xfrm>
            <a:off x="3154680" y="2788920"/>
            <a:ext cx="2103120" cy="228600"/>
          </a:xfrm>
          <a:prstGeom prst="rect">
            <a:avLst/>
          </a:prstGeom>
          <a:noFill/>
          <a:ln/>
        </p:spPr>
        <p:txBody>
          <a:bodyPr wrap="square" lIns="0" tIns="0" rIns="0" bIns="0" rtlCol="0" anchor="t"/>
          <a:lstStyle/>
          <a:p>
            <a:pPr marL="0" indent="0">
              <a:buNone/>
            </a:pPr>
            <a:r>
              <a:rPr lang="en-US" sz="1200" b="1" kern="0" spc="200" dirty="0">
                <a:solidFill>
                  <a:schemeClr val="accent6"/>
                </a:solidFill>
              </a:rPr>
              <a:t>MARGIN</a:t>
            </a:r>
            <a:endParaRPr lang="en-US" sz="1200" dirty="0"/>
          </a:p>
        </p:txBody>
      </p:sp>
      <p:sp>
        <p:nvSpPr>
          <p:cNvPr id="18" name="Text 14"/>
          <p:cNvSpPr txBox="1"/>
          <p:nvPr/>
        </p:nvSpPr>
        <p:spPr>
          <a:xfrm>
            <a:off x="3154680" y="3063240"/>
            <a:ext cx="2103120" cy="274320"/>
          </a:xfrm>
          <a:prstGeom prst="rect">
            <a:avLst/>
          </a:prstGeom>
          <a:noFill/>
          <a:ln/>
        </p:spPr>
        <p:txBody>
          <a:bodyPr wrap="square" lIns="0" tIns="0" rIns="0" bIns="0" rtlCol="0" anchor="t"/>
          <a:lstStyle/>
          <a:p>
            <a:pPr marL="0" indent="0">
              <a:buNone/>
            </a:pPr>
            <a:r>
              <a:rPr lang="en-US" sz="1400" b="1" dirty="0">
                <a:solidFill>
                  <a:schemeClr val="tx1"/>
                </a:solidFill>
              </a:rPr>
              <a:t>Profit ÷ selling price</a:t>
            </a:r>
            <a:endParaRPr lang="en-US" sz="1400" dirty="0"/>
          </a:p>
        </p:txBody>
      </p:sp>
      <p:sp>
        <p:nvSpPr>
          <p:cNvPr id="19" name="Text 15"/>
          <p:cNvSpPr txBox="1"/>
          <p:nvPr/>
        </p:nvSpPr>
        <p:spPr>
          <a:xfrm>
            <a:off x="3154680" y="3383280"/>
            <a:ext cx="2103120" cy="365760"/>
          </a:xfrm>
          <a:prstGeom prst="rect">
            <a:avLst/>
          </a:prstGeom>
          <a:noFill/>
          <a:ln/>
        </p:spPr>
        <p:txBody>
          <a:bodyPr wrap="square" lIns="0" tIns="0" rIns="0" bIns="0" rtlCol="0" anchor="t"/>
          <a:lstStyle/>
          <a:p>
            <a:pPr marL="0" indent="0">
              <a:buNone/>
            </a:pPr>
            <a:r>
              <a:rPr lang="en-US" sz="1300" dirty="0">
                <a:solidFill>
                  <a:schemeClr val="tx1"/>
                </a:solidFill>
              </a:rPr>
              <a:t>₦4,000 ÷ ₦10,000 = 40%</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Step 10: sell, collect and reorder</a:t>
            </a:r>
            <a:endParaRPr lang="en-US" sz="2800" dirty="0"/>
          </a:p>
        </p:txBody>
      </p:sp>
      <p:pic>
        <p:nvPicPr>
          <p:cNvPr id="4" name="A busy Lagos market" descr="A busy Lagos market"/>
          <p:cNvPicPr>
            <a:picLocks noChangeAspect="1"/>
          </p:cNvPicPr>
          <p:nvPr/>
        </p:nvPicPr>
        <p:blipFill>
          <a:blip r:embed="rId3"/>
          <a:stretch>
            <a:fillRect/>
          </a:stretch>
        </p:blipFill>
        <p:spPr>
          <a:xfrm>
            <a:off x="4663440" y="1188720"/>
            <a:ext cx="4023360" cy="3200400"/>
          </a:xfrm>
          <a:prstGeom prst="rect">
            <a:avLst/>
          </a:prstGeom>
        </p:spPr>
      </p:pic>
      <p:sp>
        <p:nvSpPr>
          <p:cNvPr id="5" name="Text 1"/>
          <p:cNvSpPr txBox="1"/>
          <p:nvPr/>
        </p:nvSpPr>
        <p:spPr>
          <a:xfrm>
            <a:off x="4663440" y="4434840"/>
            <a:ext cx="4023360" cy="201168"/>
          </a:xfrm>
          <a:prstGeom prst="rect">
            <a:avLst/>
          </a:prstGeom>
          <a:noFill/>
          <a:ln/>
        </p:spPr>
        <p:txBody>
          <a:bodyPr wrap="square" lIns="0" tIns="0" rIns="0" bIns="0" rtlCol="0" anchor="t"/>
          <a:lstStyle/>
          <a:p>
            <a:pPr marL="0" indent="0">
              <a:buNone/>
            </a:pPr>
            <a:r>
              <a:rPr lang="en-US" sz="1000" i="1" dirty="0">
                <a:solidFill>
                  <a:schemeClr val="accent4"/>
                </a:solidFill>
              </a:rPr>
              <a:t>A busy Lagos market. Photo: Sir Demo, CC BY-SA 4.0</a:t>
            </a:r>
            <a:endParaRPr lang="en-US" sz="1000" dirty="0"/>
          </a:p>
        </p:txBody>
      </p:sp>
      <p:sp>
        <p:nvSpPr>
          <p:cNvPr id="6" name="retail card"/>
          <p:cNvSpPr/>
          <p:nvPr/>
        </p:nvSpPr>
        <p:spPr>
          <a:xfrm>
            <a:off x="457200" y="1188720"/>
            <a:ext cx="4023360" cy="1554480"/>
          </a:xfrm>
          <a:prstGeom prst="roundRect">
            <a:avLst>
              <a:gd name="adj" fmla="val 5882"/>
            </a:avLst>
          </a:prstGeom>
          <a:solidFill>
            <a:schemeClr val="bg2"/>
          </a:solidFill>
          <a:ln w="12700">
            <a:solidFill>
              <a:schemeClr val="bg2"/>
            </a:solidFill>
            <a:prstDash val="solid"/>
          </a:ln>
        </p:spPr>
      </p:sp>
      <p:sp>
        <p:nvSpPr>
          <p:cNvPr id="7" name="Text 3"/>
          <p:cNvSpPr txBox="1"/>
          <p:nvPr/>
        </p:nvSpPr>
        <p:spPr>
          <a:xfrm>
            <a:off x="640080" y="1298448"/>
            <a:ext cx="3566160" cy="228600"/>
          </a:xfrm>
          <a:prstGeom prst="rect">
            <a:avLst/>
          </a:prstGeom>
          <a:noFill/>
          <a:ln/>
        </p:spPr>
        <p:txBody>
          <a:bodyPr wrap="square" lIns="0" tIns="0" rIns="0" bIns="0" rtlCol="0" anchor="t"/>
          <a:lstStyle/>
          <a:p>
            <a:pPr marL="0" indent="0">
              <a:buNone/>
            </a:pPr>
            <a:r>
              <a:rPr lang="en-US" sz="1200" b="1" kern="0" spc="200" dirty="0">
                <a:solidFill>
                  <a:schemeClr val="accent2"/>
                </a:solidFill>
              </a:rPr>
              <a:t>RETAIL</a:t>
            </a:r>
            <a:endParaRPr lang="en-US" sz="1200" dirty="0"/>
          </a:p>
        </p:txBody>
      </p:sp>
      <p:sp>
        <p:nvSpPr>
          <p:cNvPr id="8" name="Text 4"/>
          <p:cNvSpPr txBox="1"/>
          <p:nvPr/>
        </p:nvSpPr>
        <p:spPr>
          <a:xfrm>
            <a:off x="640080" y="1600200"/>
            <a:ext cx="356616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₦12,000 − ₦7,420</a:t>
            </a:r>
            <a:endParaRPr lang="en-US" sz="2000" dirty="0"/>
          </a:p>
        </p:txBody>
      </p:sp>
      <p:sp>
        <p:nvSpPr>
          <p:cNvPr id="9" name="Text 5"/>
          <p:cNvSpPr txBox="1"/>
          <p:nvPr/>
        </p:nvSpPr>
        <p:spPr>
          <a:xfrm>
            <a:off x="640080" y="2103120"/>
            <a:ext cx="3566160" cy="457200"/>
          </a:xfrm>
          <a:prstGeom prst="rect">
            <a:avLst/>
          </a:prstGeom>
          <a:noFill/>
          <a:ln/>
        </p:spPr>
        <p:txBody>
          <a:bodyPr wrap="square" lIns="0" tIns="0" rIns="0" bIns="0" rtlCol="0" anchor="t"/>
          <a:lstStyle/>
          <a:p>
            <a:pPr marL="0" indent="0">
              <a:buNone/>
            </a:pPr>
            <a:r>
              <a:rPr lang="en-US" sz="1400" dirty="0">
                <a:solidFill>
                  <a:schemeClr val="tx1"/>
                </a:solidFill>
              </a:rPr>
              <a:t>= ₦4,580 profit per unit, slower to sell</a:t>
            </a:r>
            <a:endParaRPr lang="en-US" sz="1400" dirty="0"/>
          </a:p>
        </p:txBody>
      </p:sp>
      <p:sp>
        <p:nvSpPr>
          <p:cNvPr id="10" name="wholesale card"/>
          <p:cNvSpPr/>
          <p:nvPr/>
        </p:nvSpPr>
        <p:spPr>
          <a:xfrm>
            <a:off x="457200" y="2926080"/>
            <a:ext cx="4023360" cy="1554480"/>
          </a:xfrm>
          <a:prstGeom prst="roundRect">
            <a:avLst>
              <a:gd name="adj" fmla="val 5882"/>
            </a:avLst>
          </a:prstGeom>
          <a:solidFill>
            <a:srgbClr val="0B1F3A"/>
          </a:solidFill>
          <a:ln w="12700">
            <a:solidFill>
              <a:srgbClr val="0B1F3A"/>
            </a:solidFill>
            <a:prstDash val="solid"/>
          </a:ln>
        </p:spPr>
      </p:sp>
      <p:sp>
        <p:nvSpPr>
          <p:cNvPr id="11" name="Text 7"/>
          <p:cNvSpPr txBox="1"/>
          <p:nvPr/>
        </p:nvSpPr>
        <p:spPr>
          <a:xfrm>
            <a:off x="640080" y="3035808"/>
            <a:ext cx="356616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WHOLESALE (10 or more)</a:t>
            </a:r>
            <a:endParaRPr lang="en-US" sz="1200" dirty="0"/>
          </a:p>
        </p:txBody>
      </p:sp>
      <p:sp>
        <p:nvSpPr>
          <p:cNvPr id="12" name="Text 8"/>
          <p:cNvSpPr txBox="1"/>
          <p:nvPr/>
        </p:nvSpPr>
        <p:spPr>
          <a:xfrm>
            <a:off x="640080" y="3337560"/>
            <a:ext cx="3566160" cy="365760"/>
          </a:xfrm>
          <a:prstGeom prst="rect">
            <a:avLst/>
          </a:prstGeom>
          <a:noFill/>
          <a:ln/>
        </p:spPr>
        <p:txBody>
          <a:bodyPr wrap="square" lIns="0" tIns="0" rIns="0" bIns="0" rtlCol="0" anchor="t"/>
          <a:lstStyle/>
          <a:p>
            <a:pPr marL="0" indent="0">
              <a:buNone/>
            </a:pPr>
            <a:r>
              <a:rPr lang="en-US" sz="2000" b="1" dirty="0">
                <a:solidFill>
                  <a:schemeClr val="bg1"/>
                </a:solidFill>
                <a:latin typeface="Cambria" pitchFamily="34" charset="0"/>
                <a:ea typeface="Cambria" pitchFamily="34" charset="-122"/>
                <a:cs typeface="Cambria" pitchFamily="34" charset="-120"/>
              </a:rPr>
              <a:t>₦9,500 − ₦7,420</a:t>
            </a:r>
            <a:endParaRPr lang="en-US" sz="2000" dirty="0"/>
          </a:p>
        </p:txBody>
      </p:sp>
      <p:sp>
        <p:nvSpPr>
          <p:cNvPr id="13" name="Text 9"/>
          <p:cNvSpPr txBox="1"/>
          <p:nvPr/>
        </p:nvSpPr>
        <p:spPr>
          <a:xfrm>
            <a:off x="640080" y="3840480"/>
            <a:ext cx="3566160" cy="548640"/>
          </a:xfrm>
          <a:prstGeom prst="rect">
            <a:avLst/>
          </a:prstGeom>
          <a:noFill/>
          <a:ln/>
        </p:spPr>
        <p:txBody>
          <a:bodyPr wrap="square" lIns="0" tIns="0" rIns="0" bIns="0" rtlCol="0" anchor="t"/>
          <a:lstStyle/>
          <a:p>
            <a:pPr marL="0" indent="0">
              <a:buNone/>
            </a:pPr>
            <a:r>
              <a:rPr lang="en-US" sz="1400" dirty="0">
                <a:solidFill>
                  <a:schemeClr val="bg1"/>
                </a:solidFill>
              </a:rPr>
              <a:t>= ₦2,080 a unit. Ten units: ₦20,800 in a day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Exporting: the other direction</a:t>
            </a:r>
            <a:endParaRPr lang="en-US" sz="2800" dirty="0"/>
          </a:p>
        </p:txBody>
      </p:sp>
      <p:sp>
        <p:nvSpPr>
          <p:cNvPr id="4" name="card Agriculture"/>
          <p:cNvSpPr/>
          <p:nvPr/>
        </p:nvSpPr>
        <p:spPr>
          <a:xfrm>
            <a:off x="457200" y="1188720"/>
            <a:ext cx="4023360" cy="1325880"/>
          </a:xfrm>
          <a:prstGeom prst="roundRect">
            <a:avLst>
              <a:gd name="adj" fmla="val 6897"/>
            </a:avLst>
          </a:prstGeom>
          <a:solidFill>
            <a:schemeClr val="bg2"/>
          </a:solidFill>
          <a:ln w="12700">
            <a:solidFill>
              <a:schemeClr val="bg2"/>
            </a:solidFill>
            <a:prstDash val="solid"/>
          </a:ln>
        </p:spPr>
      </p:sp>
      <p:sp>
        <p:nvSpPr>
          <p:cNvPr id="5" name="icon-circle Agriculture"/>
          <p:cNvSpPr/>
          <p:nvPr/>
        </p:nvSpPr>
        <p:spPr>
          <a:xfrm>
            <a:off x="621792" y="1353312"/>
            <a:ext cx="457200" cy="457200"/>
          </a:xfrm>
          <a:prstGeom prst="ellipse">
            <a:avLst/>
          </a:prstGeom>
          <a:solidFill>
            <a:schemeClr val="accent2"/>
          </a:solidFill>
          <a:ln w="12700">
            <a:solidFill>
              <a:schemeClr val="accent2"/>
            </a:solidFill>
            <a:prstDash val="solid"/>
          </a:ln>
        </p:spPr>
      </p:sp>
      <p:pic>
        <p:nvPicPr>
          <p:cNvPr id="6" name="icon FaGlobeAfrica" descr="preencoded.png"/>
          <p:cNvPicPr>
            <a:picLocks noChangeAspect="1"/>
          </p:cNvPicPr>
          <p:nvPr/>
        </p:nvPicPr>
        <p:blipFill>
          <a:blip r:embed="rId3"/>
          <a:stretch>
            <a:fillRect/>
          </a:stretch>
        </p:blipFill>
        <p:spPr>
          <a:xfrm>
            <a:off x="740664" y="1472184"/>
            <a:ext cx="219456" cy="219456"/>
          </a:xfrm>
          <a:prstGeom prst="rect">
            <a:avLst/>
          </a:prstGeom>
        </p:spPr>
      </p:pic>
      <p:sp>
        <p:nvSpPr>
          <p:cNvPr id="7" name="Text 3"/>
          <p:cNvSpPr txBox="1"/>
          <p:nvPr/>
        </p:nvSpPr>
        <p:spPr>
          <a:xfrm>
            <a:off x="1207008" y="133502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Agriculture</a:t>
            </a:r>
            <a:endParaRPr lang="en-US" sz="1600" dirty="0"/>
          </a:p>
        </p:txBody>
      </p:sp>
      <p:sp>
        <p:nvSpPr>
          <p:cNvPr id="8" name="Text 4"/>
          <p:cNvSpPr txBox="1"/>
          <p:nvPr/>
        </p:nvSpPr>
        <p:spPr>
          <a:xfrm>
            <a:off x="1207008" y="1664208"/>
            <a:ext cx="3108960" cy="722376"/>
          </a:xfrm>
          <a:prstGeom prst="rect">
            <a:avLst/>
          </a:prstGeom>
          <a:noFill/>
          <a:ln/>
        </p:spPr>
        <p:txBody>
          <a:bodyPr wrap="square" lIns="0" tIns="0" rIns="0" bIns="0" rtlCol="0" anchor="t"/>
          <a:lstStyle/>
          <a:p>
            <a:pPr marL="0" indent="0">
              <a:buNone/>
            </a:pPr>
            <a:r>
              <a:rPr lang="en-US" sz="1400" dirty="0">
                <a:solidFill>
                  <a:schemeClr val="tx1"/>
                </a:solidFill>
              </a:rPr>
              <a:t>Sesame, cocoa, cashew, ginger, hibiscus</a:t>
            </a:r>
            <a:endParaRPr lang="en-US" sz="1400" dirty="0"/>
          </a:p>
        </p:txBody>
      </p:sp>
      <p:sp>
        <p:nvSpPr>
          <p:cNvPr id="9" name="card Foods and spices"/>
          <p:cNvSpPr/>
          <p:nvPr/>
        </p:nvSpPr>
        <p:spPr>
          <a:xfrm>
            <a:off x="4663440" y="1188720"/>
            <a:ext cx="4023360" cy="1325880"/>
          </a:xfrm>
          <a:prstGeom prst="roundRect">
            <a:avLst>
              <a:gd name="adj" fmla="val 6897"/>
            </a:avLst>
          </a:prstGeom>
          <a:solidFill>
            <a:schemeClr val="bg2"/>
          </a:solidFill>
          <a:ln w="12700">
            <a:solidFill>
              <a:schemeClr val="bg2"/>
            </a:solidFill>
            <a:prstDash val="solid"/>
          </a:ln>
        </p:spPr>
      </p:sp>
      <p:sp>
        <p:nvSpPr>
          <p:cNvPr id="10" name="icon-circle Foods and spices"/>
          <p:cNvSpPr/>
          <p:nvPr/>
        </p:nvSpPr>
        <p:spPr>
          <a:xfrm>
            <a:off x="4828032" y="1353312"/>
            <a:ext cx="457200" cy="457200"/>
          </a:xfrm>
          <a:prstGeom prst="ellipse">
            <a:avLst/>
          </a:prstGeom>
          <a:solidFill>
            <a:schemeClr val="accent6"/>
          </a:solidFill>
          <a:ln w="12700">
            <a:solidFill>
              <a:schemeClr val="accent6"/>
            </a:solidFill>
            <a:prstDash val="solid"/>
          </a:ln>
        </p:spPr>
      </p:sp>
      <p:pic>
        <p:nvPicPr>
          <p:cNvPr id="11" name="icon FaBoxOpen" descr="preencoded.png"/>
          <p:cNvPicPr>
            <a:picLocks noChangeAspect="1"/>
          </p:cNvPicPr>
          <p:nvPr/>
        </p:nvPicPr>
        <p:blipFill>
          <a:blip r:embed="rId4"/>
          <a:stretch>
            <a:fillRect/>
          </a:stretch>
        </p:blipFill>
        <p:spPr>
          <a:xfrm>
            <a:off x="4946904" y="1472184"/>
            <a:ext cx="219456" cy="219456"/>
          </a:xfrm>
          <a:prstGeom prst="rect">
            <a:avLst/>
          </a:prstGeom>
        </p:spPr>
      </p:pic>
      <p:sp>
        <p:nvSpPr>
          <p:cNvPr id="12" name="Text 7"/>
          <p:cNvSpPr txBox="1"/>
          <p:nvPr/>
        </p:nvSpPr>
        <p:spPr>
          <a:xfrm>
            <a:off x="5413248" y="133502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Foods and spices</a:t>
            </a:r>
            <a:endParaRPr lang="en-US" sz="1600" dirty="0"/>
          </a:p>
        </p:txBody>
      </p:sp>
      <p:sp>
        <p:nvSpPr>
          <p:cNvPr id="13" name="Text 8"/>
          <p:cNvSpPr txBox="1"/>
          <p:nvPr/>
        </p:nvSpPr>
        <p:spPr>
          <a:xfrm>
            <a:off x="5413248" y="1664208"/>
            <a:ext cx="3108960" cy="722376"/>
          </a:xfrm>
          <a:prstGeom prst="rect">
            <a:avLst/>
          </a:prstGeom>
          <a:noFill/>
          <a:ln/>
        </p:spPr>
        <p:txBody>
          <a:bodyPr wrap="square" lIns="0" tIns="0" rIns="0" bIns="0" rtlCol="0" anchor="t"/>
          <a:lstStyle/>
          <a:p>
            <a:pPr marL="0" indent="0">
              <a:buNone/>
            </a:pPr>
            <a:r>
              <a:rPr lang="en-US" sz="1400" dirty="0">
                <a:solidFill>
                  <a:schemeClr val="tx1"/>
                </a:solidFill>
              </a:rPr>
              <a:t>Packaged snacks and sauces for the diaspora</a:t>
            </a:r>
            <a:endParaRPr lang="en-US" sz="1400" dirty="0"/>
          </a:p>
        </p:txBody>
      </p:sp>
      <p:sp>
        <p:nvSpPr>
          <p:cNvPr id="14" name="card Beauty and care"/>
          <p:cNvSpPr/>
          <p:nvPr/>
        </p:nvSpPr>
        <p:spPr>
          <a:xfrm>
            <a:off x="457200" y="2651760"/>
            <a:ext cx="4023360" cy="1325880"/>
          </a:xfrm>
          <a:prstGeom prst="roundRect">
            <a:avLst>
              <a:gd name="adj" fmla="val 6897"/>
            </a:avLst>
          </a:prstGeom>
          <a:solidFill>
            <a:schemeClr val="bg2"/>
          </a:solidFill>
          <a:ln w="12700">
            <a:solidFill>
              <a:schemeClr val="bg2"/>
            </a:solidFill>
            <a:prstDash val="solid"/>
          </a:ln>
        </p:spPr>
      </p:sp>
      <p:sp>
        <p:nvSpPr>
          <p:cNvPr id="15" name="icon-circle Beauty and care"/>
          <p:cNvSpPr/>
          <p:nvPr/>
        </p:nvSpPr>
        <p:spPr>
          <a:xfrm>
            <a:off x="621792" y="2816352"/>
            <a:ext cx="457200" cy="457200"/>
          </a:xfrm>
          <a:prstGeom prst="ellipse">
            <a:avLst/>
          </a:prstGeom>
          <a:solidFill>
            <a:schemeClr val="accent2"/>
          </a:solidFill>
          <a:ln w="12700">
            <a:solidFill>
              <a:schemeClr val="accent2"/>
            </a:solidFill>
            <a:prstDash val="solid"/>
          </a:ln>
        </p:spPr>
      </p:sp>
      <p:pic>
        <p:nvPicPr>
          <p:cNvPr id="16" name="icon FaStore" descr="preencoded.png"/>
          <p:cNvPicPr>
            <a:picLocks noChangeAspect="1"/>
          </p:cNvPicPr>
          <p:nvPr/>
        </p:nvPicPr>
        <p:blipFill>
          <a:blip r:embed="rId5"/>
          <a:stretch>
            <a:fillRect/>
          </a:stretch>
        </p:blipFill>
        <p:spPr>
          <a:xfrm>
            <a:off x="740664" y="2935224"/>
            <a:ext cx="219456" cy="219456"/>
          </a:xfrm>
          <a:prstGeom prst="rect">
            <a:avLst/>
          </a:prstGeom>
        </p:spPr>
      </p:pic>
      <p:sp>
        <p:nvSpPr>
          <p:cNvPr id="17" name="Text 11"/>
          <p:cNvSpPr txBox="1"/>
          <p:nvPr/>
        </p:nvSpPr>
        <p:spPr>
          <a:xfrm>
            <a:off x="1207008" y="279806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Beauty and care</a:t>
            </a:r>
            <a:endParaRPr lang="en-US" sz="1600" dirty="0"/>
          </a:p>
        </p:txBody>
      </p:sp>
      <p:sp>
        <p:nvSpPr>
          <p:cNvPr id="18" name="Text 12"/>
          <p:cNvSpPr txBox="1"/>
          <p:nvPr/>
        </p:nvSpPr>
        <p:spPr>
          <a:xfrm>
            <a:off x="1207008" y="3127248"/>
            <a:ext cx="3108960" cy="722376"/>
          </a:xfrm>
          <a:prstGeom prst="rect">
            <a:avLst/>
          </a:prstGeom>
          <a:noFill/>
          <a:ln/>
        </p:spPr>
        <p:txBody>
          <a:bodyPr wrap="square" lIns="0" tIns="0" rIns="0" bIns="0" rtlCol="0" anchor="t"/>
          <a:lstStyle/>
          <a:p>
            <a:pPr marL="0" indent="0">
              <a:buNone/>
            </a:pPr>
            <a:r>
              <a:rPr lang="en-US" sz="1400" dirty="0">
                <a:solidFill>
                  <a:schemeClr val="tx1"/>
                </a:solidFill>
              </a:rPr>
              <a:t>Shea butter, black soap, natural oils</a:t>
            </a:r>
            <a:endParaRPr lang="en-US" sz="1400" dirty="0"/>
          </a:p>
        </p:txBody>
      </p:sp>
      <p:sp>
        <p:nvSpPr>
          <p:cNvPr id="19" name="card Fashion and crafts"/>
          <p:cNvSpPr/>
          <p:nvPr/>
        </p:nvSpPr>
        <p:spPr>
          <a:xfrm>
            <a:off x="4663440" y="2651760"/>
            <a:ext cx="4023360" cy="1325880"/>
          </a:xfrm>
          <a:prstGeom prst="roundRect">
            <a:avLst>
              <a:gd name="adj" fmla="val 6897"/>
            </a:avLst>
          </a:prstGeom>
          <a:solidFill>
            <a:schemeClr val="bg2"/>
          </a:solidFill>
          <a:ln w="12700">
            <a:solidFill>
              <a:schemeClr val="bg2"/>
            </a:solidFill>
            <a:prstDash val="solid"/>
          </a:ln>
        </p:spPr>
      </p:sp>
      <p:sp>
        <p:nvSpPr>
          <p:cNvPr id="20" name="icon-circle Fashion and crafts"/>
          <p:cNvSpPr/>
          <p:nvPr/>
        </p:nvSpPr>
        <p:spPr>
          <a:xfrm>
            <a:off x="4828032" y="2816352"/>
            <a:ext cx="457200" cy="457200"/>
          </a:xfrm>
          <a:prstGeom prst="ellipse">
            <a:avLst/>
          </a:prstGeom>
          <a:solidFill>
            <a:schemeClr val="accent6"/>
          </a:solidFill>
          <a:ln w="12700">
            <a:solidFill>
              <a:schemeClr val="accent6"/>
            </a:solidFill>
            <a:prstDash val="solid"/>
          </a:ln>
        </p:spPr>
      </p:sp>
      <p:pic>
        <p:nvPicPr>
          <p:cNvPr id="21" name="icon FaClipboardList" descr="preencoded.png"/>
          <p:cNvPicPr>
            <a:picLocks noChangeAspect="1"/>
          </p:cNvPicPr>
          <p:nvPr/>
        </p:nvPicPr>
        <p:blipFill>
          <a:blip r:embed="rId6"/>
          <a:stretch>
            <a:fillRect/>
          </a:stretch>
        </p:blipFill>
        <p:spPr>
          <a:xfrm>
            <a:off x="4946904" y="2935224"/>
            <a:ext cx="219456" cy="219456"/>
          </a:xfrm>
          <a:prstGeom prst="rect">
            <a:avLst/>
          </a:prstGeom>
        </p:spPr>
      </p:pic>
      <p:sp>
        <p:nvSpPr>
          <p:cNvPr id="22" name="Text 15"/>
          <p:cNvSpPr txBox="1"/>
          <p:nvPr/>
        </p:nvSpPr>
        <p:spPr>
          <a:xfrm>
            <a:off x="5413248" y="2798064"/>
            <a:ext cx="3108960" cy="274320"/>
          </a:xfrm>
          <a:prstGeom prst="rect">
            <a:avLst/>
          </a:prstGeom>
          <a:noFill/>
          <a:ln/>
        </p:spPr>
        <p:txBody>
          <a:bodyPr wrap="square" lIns="0" tIns="0" rIns="0" bIns="0" rtlCol="0" anchor="t"/>
          <a:lstStyle/>
          <a:p>
            <a:pPr marL="0" indent="0">
              <a:buNone/>
            </a:pPr>
            <a:r>
              <a:rPr lang="en-US" sz="1600" b="1" dirty="0">
                <a:solidFill>
                  <a:schemeClr val="tx1"/>
                </a:solidFill>
                <a:latin typeface="Cambria" pitchFamily="34" charset="0"/>
                <a:ea typeface="Cambria" pitchFamily="34" charset="-122"/>
                <a:cs typeface="Cambria" pitchFamily="34" charset="-120"/>
              </a:rPr>
              <a:t>Fashion and crafts</a:t>
            </a:r>
            <a:endParaRPr lang="en-US" sz="1600" dirty="0"/>
          </a:p>
        </p:txBody>
      </p:sp>
      <p:sp>
        <p:nvSpPr>
          <p:cNvPr id="23" name="Text 16"/>
          <p:cNvSpPr txBox="1"/>
          <p:nvPr/>
        </p:nvSpPr>
        <p:spPr>
          <a:xfrm>
            <a:off x="5413248" y="3127248"/>
            <a:ext cx="3108960" cy="722376"/>
          </a:xfrm>
          <a:prstGeom prst="rect">
            <a:avLst/>
          </a:prstGeom>
          <a:noFill/>
          <a:ln/>
        </p:spPr>
        <p:txBody>
          <a:bodyPr wrap="square" lIns="0" tIns="0" rIns="0" bIns="0" rtlCol="0" anchor="t"/>
          <a:lstStyle/>
          <a:p>
            <a:pPr marL="0" indent="0">
              <a:buNone/>
            </a:pPr>
            <a:r>
              <a:rPr lang="en-US" sz="1400" dirty="0">
                <a:solidFill>
                  <a:schemeClr val="tx1"/>
                </a:solidFill>
              </a:rPr>
              <a:t>Ankara, beads, leather goods</a:t>
            </a:r>
            <a:endParaRPr lang="en-US" sz="1400" dirty="0"/>
          </a:p>
        </p:txBody>
      </p:sp>
      <p:sp>
        <p:nvSpPr>
          <p:cNvPr id="24" name="Text 17"/>
          <p:cNvSpPr txBox="1"/>
          <p:nvPr/>
        </p:nvSpPr>
        <p:spPr>
          <a:xfrm>
            <a:off x="457200" y="4206240"/>
            <a:ext cx="8229600" cy="457200"/>
          </a:xfrm>
          <a:prstGeom prst="rect">
            <a:avLst/>
          </a:prstGeom>
          <a:noFill/>
          <a:ln/>
        </p:spPr>
        <p:txBody>
          <a:bodyPr wrap="square" lIns="0" tIns="0" rIns="0" bIns="0" rtlCol="0" anchor="t"/>
          <a:lstStyle/>
          <a:p>
            <a:pPr marL="0" indent="0">
              <a:buNone/>
            </a:pPr>
            <a:r>
              <a:rPr lang="en-US" sz="1400" b="1" dirty="0">
                <a:solidFill>
                  <a:schemeClr val="accent2"/>
                </a:solidFill>
              </a:rPr>
              <a:t>Start with one buyer and one product. Confirm the current rules with NEPC and Customs.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Six risks and how to manage them</a:t>
            </a:r>
            <a:endParaRPr lang="en-US" sz="2800" dirty="0"/>
          </a:p>
        </p:txBody>
      </p:sp>
      <p:sp>
        <p:nvSpPr>
          <p:cNvPr id="4" name="card Supplier fraud"/>
          <p:cNvSpPr/>
          <p:nvPr/>
        </p:nvSpPr>
        <p:spPr>
          <a:xfrm>
            <a:off x="457200" y="1188720"/>
            <a:ext cx="2651760" cy="1463040"/>
          </a:xfrm>
          <a:prstGeom prst="roundRect">
            <a:avLst>
              <a:gd name="adj" fmla="val 6250"/>
            </a:avLst>
          </a:prstGeom>
          <a:solidFill>
            <a:schemeClr val="bg2"/>
          </a:solidFill>
          <a:ln w="12700">
            <a:solidFill>
              <a:schemeClr val="bg2"/>
            </a:solidFill>
            <a:prstDash val="solid"/>
          </a:ln>
        </p:spPr>
      </p:sp>
      <p:sp>
        <p:nvSpPr>
          <p:cNvPr id="5" name="icon-circle Supplier fraud"/>
          <p:cNvSpPr/>
          <p:nvPr/>
        </p:nvSpPr>
        <p:spPr>
          <a:xfrm>
            <a:off x="621792" y="1353312"/>
            <a:ext cx="457200" cy="457200"/>
          </a:xfrm>
          <a:prstGeom prst="ellipse">
            <a:avLst/>
          </a:prstGeom>
          <a:solidFill>
            <a:schemeClr val="accent3"/>
          </a:solidFill>
          <a:ln w="12700">
            <a:solidFill>
              <a:schemeClr val="accent3"/>
            </a:solidFill>
            <a:prstDash val="solid"/>
          </a:ln>
        </p:spPr>
      </p:sp>
      <p:pic>
        <p:nvPicPr>
          <p:cNvPr id="6" name="icon FaShieldAlt" descr="preencoded.png"/>
          <p:cNvPicPr>
            <a:picLocks noChangeAspect="1"/>
          </p:cNvPicPr>
          <p:nvPr/>
        </p:nvPicPr>
        <p:blipFill>
          <a:blip r:embed="rId3"/>
          <a:stretch>
            <a:fillRect/>
          </a:stretch>
        </p:blipFill>
        <p:spPr>
          <a:xfrm>
            <a:off x="740664" y="1472184"/>
            <a:ext cx="219456" cy="219456"/>
          </a:xfrm>
          <a:prstGeom prst="rect">
            <a:avLst/>
          </a:prstGeom>
        </p:spPr>
      </p:pic>
      <p:sp>
        <p:nvSpPr>
          <p:cNvPr id="7" name="Text 3"/>
          <p:cNvSpPr txBox="1"/>
          <p:nvPr/>
        </p:nvSpPr>
        <p:spPr>
          <a:xfrm>
            <a:off x="1207008" y="13350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Supplier fraud</a:t>
            </a:r>
            <a:endParaRPr lang="en-US" sz="1500" dirty="0"/>
          </a:p>
        </p:txBody>
      </p:sp>
      <p:sp>
        <p:nvSpPr>
          <p:cNvPr id="8" name="Text 4"/>
          <p:cNvSpPr txBox="1"/>
          <p:nvPr/>
        </p:nvSpPr>
        <p:spPr>
          <a:xfrm>
            <a:off x="1207008" y="1664208"/>
            <a:ext cx="1737360" cy="859536"/>
          </a:xfrm>
          <a:prstGeom prst="rect">
            <a:avLst/>
          </a:prstGeom>
          <a:noFill/>
          <a:ln/>
        </p:spPr>
        <p:txBody>
          <a:bodyPr wrap="square" lIns="0" tIns="0" rIns="0" bIns="0" rtlCol="0" anchor="t"/>
          <a:lstStyle/>
          <a:p>
            <a:pPr marL="0" indent="0">
              <a:buNone/>
            </a:pPr>
            <a:r>
              <a:rPr lang="en-US" sz="1300" dirty="0">
                <a:solidFill>
                  <a:schemeClr val="tx1"/>
                </a:solidFill>
              </a:rPr>
              <a:t>Verify, pay through protection</a:t>
            </a:r>
            <a:endParaRPr lang="en-US" sz="1300" dirty="0"/>
          </a:p>
        </p:txBody>
      </p:sp>
      <p:sp>
        <p:nvSpPr>
          <p:cNvPr id="9" name="card Poor quality"/>
          <p:cNvSpPr/>
          <p:nvPr/>
        </p:nvSpPr>
        <p:spPr>
          <a:xfrm>
            <a:off x="3291840" y="1188720"/>
            <a:ext cx="2651760" cy="1463040"/>
          </a:xfrm>
          <a:prstGeom prst="roundRect">
            <a:avLst>
              <a:gd name="adj" fmla="val 6250"/>
            </a:avLst>
          </a:prstGeom>
          <a:solidFill>
            <a:schemeClr val="bg2"/>
          </a:solidFill>
          <a:ln w="12700">
            <a:solidFill>
              <a:schemeClr val="bg2"/>
            </a:solidFill>
            <a:prstDash val="solid"/>
          </a:ln>
        </p:spPr>
      </p:sp>
      <p:sp>
        <p:nvSpPr>
          <p:cNvPr id="10" name="icon-circle Poor quality"/>
          <p:cNvSpPr/>
          <p:nvPr/>
        </p:nvSpPr>
        <p:spPr>
          <a:xfrm>
            <a:off x="3456432" y="1353312"/>
            <a:ext cx="457200" cy="457200"/>
          </a:xfrm>
          <a:prstGeom prst="ellipse">
            <a:avLst/>
          </a:prstGeom>
          <a:solidFill>
            <a:schemeClr val="accent6"/>
          </a:solidFill>
          <a:ln w="12700">
            <a:solidFill>
              <a:schemeClr val="accent6"/>
            </a:solidFill>
            <a:prstDash val="solid"/>
          </a:ln>
        </p:spPr>
      </p:sp>
      <p:pic>
        <p:nvPicPr>
          <p:cNvPr id="11" name="icon FaBoxOpen" descr="preencoded.png"/>
          <p:cNvPicPr>
            <a:picLocks noChangeAspect="1"/>
          </p:cNvPicPr>
          <p:nvPr/>
        </p:nvPicPr>
        <p:blipFill>
          <a:blip r:embed="rId4"/>
          <a:stretch>
            <a:fillRect/>
          </a:stretch>
        </p:blipFill>
        <p:spPr>
          <a:xfrm>
            <a:off x="3575304" y="1472184"/>
            <a:ext cx="219456" cy="219456"/>
          </a:xfrm>
          <a:prstGeom prst="rect">
            <a:avLst/>
          </a:prstGeom>
        </p:spPr>
      </p:pic>
      <p:sp>
        <p:nvSpPr>
          <p:cNvPr id="12" name="Text 7"/>
          <p:cNvSpPr txBox="1"/>
          <p:nvPr/>
        </p:nvSpPr>
        <p:spPr>
          <a:xfrm>
            <a:off x="4041648" y="13350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Poor quality</a:t>
            </a:r>
            <a:endParaRPr lang="en-US" sz="1500" dirty="0"/>
          </a:p>
        </p:txBody>
      </p:sp>
      <p:sp>
        <p:nvSpPr>
          <p:cNvPr id="13" name="Text 8"/>
          <p:cNvSpPr txBox="1"/>
          <p:nvPr/>
        </p:nvSpPr>
        <p:spPr>
          <a:xfrm>
            <a:off x="4041648" y="1664208"/>
            <a:ext cx="1737360" cy="859536"/>
          </a:xfrm>
          <a:prstGeom prst="rect">
            <a:avLst/>
          </a:prstGeom>
          <a:noFill/>
          <a:ln/>
        </p:spPr>
        <p:txBody>
          <a:bodyPr wrap="square" lIns="0" tIns="0" rIns="0" bIns="0" rtlCol="0" anchor="t"/>
          <a:lstStyle/>
          <a:p>
            <a:pPr marL="0" indent="0">
              <a:buNone/>
            </a:pPr>
            <a:r>
              <a:rPr lang="en-US" sz="1300" dirty="0">
                <a:solidFill>
                  <a:schemeClr val="tx1"/>
                </a:solidFill>
              </a:rPr>
              <a:t>Sample first, inspect before the balance</a:t>
            </a:r>
            <a:endParaRPr lang="en-US" sz="1300" dirty="0"/>
          </a:p>
        </p:txBody>
      </p:sp>
      <p:sp>
        <p:nvSpPr>
          <p:cNvPr id="14" name="card Delays"/>
          <p:cNvSpPr/>
          <p:nvPr/>
        </p:nvSpPr>
        <p:spPr>
          <a:xfrm>
            <a:off x="6126480" y="1188720"/>
            <a:ext cx="2651760" cy="1463040"/>
          </a:xfrm>
          <a:prstGeom prst="roundRect">
            <a:avLst>
              <a:gd name="adj" fmla="val 6250"/>
            </a:avLst>
          </a:prstGeom>
          <a:solidFill>
            <a:schemeClr val="bg2"/>
          </a:solidFill>
          <a:ln w="12700">
            <a:solidFill>
              <a:schemeClr val="bg2"/>
            </a:solidFill>
            <a:prstDash val="solid"/>
          </a:ln>
        </p:spPr>
      </p:sp>
      <p:sp>
        <p:nvSpPr>
          <p:cNvPr id="15" name="icon-circle Delays"/>
          <p:cNvSpPr/>
          <p:nvPr/>
        </p:nvSpPr>
        <p:spPr>
          <a:xfrm>
            <a:off x="6291072" y="1353312"/>
            <a:ext cx="457200" cy="457200"/>
          </a:xfrm>
          <a:prstGeom prst="ellipse">
            <a:avLst/>
          </a:prstGeom>
          <a:solidFill>
            <a:schemeClr val="accent2"/>
          </a:solidFill>
          <a:ln w="12700">
            <a:solidFill>
              <a:schemeClr val="accent2"/>
            </a:solidFill>
            <a:prstDash val="solid"/>
          </a:ln>
        </p:spPr>
      </p:sp>
      <p:pic>
        <p:nvPicPr>
          <p:cNvPr id="16" name="icon FaRoute" descr="preencoded.png"/>
          <p:cNvPicPr>
            <a:picLocks noChangeAspect="1"/>
          </p:cNvPicPr>
          <p:nvPr/>
        </p:nvPicPr>
        <p:blipFill>
          <a:blip r:embed="rId5"/>
          <a:stretch>
            <a:fillRect/>
          </a:stretch>
        </p:blipFill>
        <p:spPr>
          <a:xfrm>
            <a:off x="6409944" y="1472184"/>
            <a:ext cx="219456" cy="219456"/>
          </a:xfrm>
          <a:prstGeom prst="rect">
            <a:avLst/>
          </a:prstGeom>
        </p:spPr>
      </p:pic>
      <p:sp>
        <p:nvSpPr>
          <p:cNvPr id="17" name="Text 11"/>
          <p:cNvSpPr txBox="1"/>
          <p:nvPr/>
        </p:nvSpPr>
        <p:spPr>
          <a:xfrm>
            <a:off x="6876288" y="13350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Delays</a:t>
            </a:r>
            <a:endParaRPr lang="en-US" sz="1500" dirty="0"/>
          </a:p>
        </p:txBody>
      </p:sp>
      <p:sp>
        <p:nvSpPr>
          <p:cNvPr id="18" name="Text 12"/>
          <p:cNvSpPr txBox="1"/>
          <p:nvPr/>
        </p:nvSpPr>
        <p:spPr>
          <a:xfrm>
            <a:off x="6876288" y="1664208"/>
            <a:ext cx="1737360" cy="859536"/>
          </a:xfrm>
          <a:prstGeom prst="rect">
            <a:avLst/>
          </a:prstGeom>
          <a:noFill/>
          <a:ln/>
        </p:spPr>
        <p:txBody>
          <a:bodyPr wrap="square" lIns="0" tIns="0" rIns="0" bIns="0" rtlCol="0" anchor="t"/>
          <a:lstStyle/>
          <a:p>
            <a:pPr marL="0" indent="0">
              <a:buNone/>
            </a:pPr>
            <a:r>
              <a:rPr lang="en-US" sz="1300" dirty="0">
                <a:solidFill>
                  <a:schemeClr val="tx1"/>
                </a:solidFill>
              </a:rPr>
              <a:t>Buffer time and spare stock</a:t>
            </a:r>
            <a:endParaRPr lang="en-US" sz="1300" dirty="0"/>
          </a:p>
        </p:txBody>
      </p:sp>
      <p:sp>
        <p:nvSpPr>
          <p:cNvPr id="19" name="card Damage or loss"/>
          <p:cNvSpPr/>
          <p:nvPr/>
        </p:nvSpPr>
        <p:spPr>
          <a:xfrm>
            <a:off x="457200" y="2788920"/>
            <a:ext cx="2651760" cy="1463040"/>
          </a:xfrm>
          <a:prstGeom prst="roundRect">
            <a:avLst>
              <a:gd name="adj" fmla="val 6250"/>
            </a:avLst>
          </a:prstGeom>
          <a:solidFill>
            <a:schemeClr val="bg2"/>
          </a:solidFill>
          <a:ln w="12700">
            <a:solidFill>
              <a:schemeClr val="bg2"/>
            </a:solidFill>
            <a:prstDash val="solid"/>
          </a:ln>
        </p:spPr>
      </p:sp>
      <p:sp>
        <p:nvSpPr>
          <p:cNvPr id="20" name="icon-circle Damage or loss"/>
          <p:cNvSpPr/>
          <p:nvPr/>
        </p:nvSpPr>
        <p:spPr>
          <a:xfrm>
            <a:off x="621792" y="2953512"/>
            <a:ext cx="457200" cy="457200"/>
          </a:xfrm>
          <a:prstGeom prst="ellipse">
            <a:avLst/>
          </a:prstGeom>
          <a:solidFill>
            <a:schemeClr val="accent3"/>
          </a:solidFill>
          <a:ln w="12700">
            <a:solidFill>
              <a:schemeClr val="accent3"/>
            </a:solidFill>
            <a:prstDash val="solid"/>
          </a:ln>
        </p:spPr>
      </p:sp>
      <p:pic>
        <p:nvPicPr>
          <p:cNvPr id="21" name="icon FaWarehouse" descr="preencoded.png"/>
          <p:cNvPicPr>
            <a:picLocks noChangeAspect="1"/>
          </p:cNvPicPr>
          <p:nvPr/>
        </p:nvPicPr>
        <p:blipFill>
          <a:blip r:embed="rId6"/>
          <a:stretch>
            <a:fillRect/>
          </a:stretch>
        </p:blipFill>
        <p:spPr>
          <a:xfrm>
            <a:off x="740664" y="3072384"/>
            <a:ext cx="219456" cy="219456"/>
          </a:xfrm>
          <a:prstGeom prst="rect">
            <a:avLst/>
          </a:prstGeom>
        </p:spPr>
      </p:pic>
      <p:sp>
        <p:nvSpPr>
          <p:cNvPr id="22" name="Text 15"/>
          <p:cNvSpPr txBox="1"/>
          <p:nvPr/>
        </p:nvSpPr>
        <p:spPr>
          <a:xfrm>
            <a:off x="1207008" y="29352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Damage or loss</a:t>
            </a:r>
            <a:endParaRPr lang="en-US" sz="1500" dirty="0"/>
          </a:p>
        </p:txBody>
      </p:sp>
      <p:sp>
        <p:nvSpPr>
          <p:cNvPr id="23" name="Text 16"/>
          <p:cNvSpPr txBox="1"/>
          <p:nvPr/>
        </p:nvSpPr>
        <p:spPr>
          <a:xfrm>
            <a:off x="1207008" y="3264408"/>
            <a:ext cx="1737360" cy="859536"/>
          </a:xfrm>
          <a:prstGeom prst="rect">
            <a:avLst/>
          </a:prstGeom>
          <a:noFill/>
          <a:ln/>
        </p:spPr>
        <p:txBody>
          <a:bodyPr wrap="square" lIns="0" tIns="0" rIns="0" bIns="0" rtlCol="0" anchor="t"/>
          <a:lstStyle/>
          <a:p>
            <a:pPr marL="0" indent="0">
              <a:buNone/>
            </a:pPr>
            <a:r>
              <a:rPr lang="en-US" sz="1300" dirty="0">
                <a:solidFill>
                  <a:schemeClr val="tx1"/>
                </a:solidFill>
              </a:rPr>
              <a:t>Strong packing and insurance</a:t>
            </a:r>
            <a:endParaRPr lang="en-US" sz="1300" dirty="0"/>
          </a:p>
        </p:txBody>
      </p:sp>
      <p:sp>
        <p:nvSpPr>
          <p:cNvPr id="24" name="card Surprise charges"/>
          <p:cNvSpPr/>
          <p:nvPr/>
        </p:nvSpPr>
        <p:spPr>
          <a:xfrm>
            <a:off x="3291840" y="2788920"/>
            <a:ext cx="2651760" cy="1463040"/>
          </a:xfrm>
          <a:prstGeom prst="roundRect">
            <a:avLst>
              <a:gd name="adj" fmla="val 6250"/>
            </a:avLst>
          </a:prstGeom>
          <a:solidFill>
            <a:schemeClr val="bg2"/>
          </a:solidFill>
          <a:ln w="12700">
            <a:solidFill>
              <a:schemeClr val="bg2"/>
            </a:solidFill>
            <a:prstDash val="solid"/>
          </a:ln>
        </p:spPr>
      </p:sp>
      <p:sp>
        <p:nvSpPr>
          <p:cNvPr id="25" name="icon-circle Surprise charges"/>
          <p:cNvSpPr/>
          <p:nvPr/>
        </p:nvSpPr>
        <p:spPr>
          <a:xfrm>
            <a:off x="3456432" y="2953512"/>
            <a:ext cx="457200" cy="457200"/>
          </a:xfrm>
          <a:prstGeom prst="ellipse">
            <a:avLst/>
          </a:prstGeom>
          <a:solidFill>
            <a:schemeClr val="accent6"/>
          </a:solidFill>
          <a:ln w="12700">
            <a:solidFill>
              <a:schemeClr val="accent6"/>
            </a:solidFill>
            <a:prstDash val="solid"/>
          </a:ln>
        </p:spPr>
      </p:sp>
      <p:pic>
        <p:nvPicPr>
          <p:cNvPr id="26" name="icon FaCalculator" descr="preencoded.png"/>
          <p:cNvPicPr>
            <a:picLocks noChangeAspect="1"/>
          </p:cNvPicPr>
          <p:nvPr/>
        </p:nvPicPr>
        <p:blipFill>
          <a:blip r:embed="rId7"/>
          <a:stretch>
            <a:fillRect/>
          </a:stretch>
        </p:blipFill>
        <p:spPr>
          <a:xfrm>
            <a:off x="3575304" y="3072384"/>
            <a:ext cx="219456" cy="219456"/>
          </a:xfrm>
          <a:prstGeom prst="rect">
            <a:avLst/>
          </a:prstGeom>
        </p:spPr>
      </p:pic>
      <p:sp>
        <p:nvSpPr>
          <p:cNvPr id="27" name="Text 19"/>
          <p:cNvSpPr txBox="1"/>
          <p:nvPr/>
        </p:nvSpPr>
        <p:spPr>
          <a:xfrm>
            <a:off x="4041648" y="29352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Surprise charges</a:t>
            </a:r>
            <a:endParaRPr lang="en-US" sz="1500" dirty="0"/>
          </a:p>
        </p:txBody>
      </p:sp>
      <p:sp>
        <p:nvSpPr>
          <p:cNvPr id="28" name="Text 20"/>
          <p:cNvSpPr txBox="1"/>
          <p:nvPr/>
        </p:nvSpPr>
        <p:spPr>
          <a:xfrm>
            <a:off x="4041648" y="3264408"/>
            <a:ext cx="1737360" cy="859536"/>
          </a:xfrm>
          <a:prstGeom prst="rect">
            <a:avLst/>
          </a:prstGeom>
          <a:noFill/>
          <a:ln/>
        </p:spPr>
        <p:txBody>
          <a:bodyPr wrap="square" lIns="0" tIns="0" rIns="0" bIns="0" rtlCol="0" anchor="t"/>
          <a:lstStyle/>
          <a:p>
            <a:pPr marL="0" indent="0">
              <a:buNone/>
            </a:pPr>
            <a:r>
              <a:rPr lang="en-US" sz="1300" dirty="0">
                <a:solidFill>
                  <a:schemeClr val="tx1"/>
                </a:solidFill>
              </a:rPr>
              <a:t>Landed cost before you order</a:t>
            </a:r>
            <a:endParaRPr lang="en-US" sz="1300" dirty="0"/>
          </a:p>
        </p:txBody>
      </p:sp>
      <p:sp>
        <p:nvSpPr>
          <p:cNvPr id="29" name="card Exchange rate"/>
          <p:cNvSpPr/>
          <p:nvPr/>
        </p:nvSpPr>
        <p:spPr>
          <a:xfrm>
            <a:off x="6126480" y="2788920"/>
            <a:ext cx="2651760" cy="1463040"/>
          </a:xfrm>
          <a:prstGeom prst="roundRect">
            <a:avLst>
              <a:gd name="adj" fmla="val 6250"/>
            </a:avLst>
          </a:prstGeom>
          <a:solidFill>
            <a:schemeClr val="bg2"/>
          </a:solidFill>
          <a:ln w="12700">
            <a:solidFill>
              <a:schemeClr val="bg2"/>
            </a:solidFill>
            <a:prstDash val="solid"/>
          </a:ln>
        </p:spPr>
      </p:sp>
      <p:sp>
        <p:nvSpPr>
          <p:cNvPr id="30" name="icon-circle Exchange rate"/>
          <p:cNvSpPr/>
          <p:nvPr/>
        </p:nvSpPr>
        <p:spPr>
          <a:xfrm>
            <a:off x="6291072" y="2953512"/>
            <a:ext cx="457200" cy="457200"/>
          </a:xfrm>
          <a:prstGeom prst="ellipse">
            <a:avLst/>
          </a:prstGeom>
          <a:solidFill>
            <a:schemeClr val="accent2"/>
          </a:solidFill>
          <a:ln w="12700">
            <a:solidFill>
              <a:schemeClr val="accent2"/>
            </a:solidFill>
            <a:prstDash val="solid"/>
          </a:ln>
        </p:spPr>
      </p:sp>
      <p:pic>
        <p:nvPicPr>
          <p:cNvPr id="31" name="icon FaChartLine" descr="preencoded.png"/>
          <p:cNvPicPr>
            <a:picLocks noChangeAspect="1"/>
          </p:cNvPicPr>
          <p:nvPr/>
        </p:nvPicPr>
        <p:blipFill>
          <a:blip r:embed="rId8"/>
          <a:stretch>
            <a:fillRect/>
          </a:stretch>
        </p:blipFill>
        <p:spPr>
          <a:xfrm>
            <a:off x="6409944" y="3072384"/>
            <a:ext cx="219456" cy="219456"/>
          </a:xfrm>
          <a:prstGeom prst="rect">
            <a:avLst/>
          </a:prstGeom>
        </p:spPr>
      </p:pic>
      <p:sp>
        <p:nvSpPr>
          <p:cNvPr id="32" name="Text 23"/>
          <p:cNvSpPr txBox="1"/>
          <p:nvPr/>
        </p:nvSpPr>
        <p:spPr>
          <a:xfrm>
            <a:off x="6876288" y="2935224"/>
            <a:ext cx="1737360" cy="274320"/>
          </a:xfrm>
          <a:prstGeom prst="rect">
            <a:avLst/>
          </a:prstGeom>
          <a:noFill/>
          <a:ln/>
        </p:spPr>
        <p:txBody>
          <a:bodyPr wrap="square" lIns="0" tIns="0" rIns="0" bIns="0" rtlCol="0" anchor="t"/>
          <a:lstStyle/>
          <a:p>
            <a:pPr marL="0" indent="0">
              <a:buNone/>
            </a:pPr>
            <a:r>
              <a:rPr lang="en-US" sz="1500" b="1" dirty="0">
                <a:solidFill>
                  <a:schemeClr val="tx1"/>
                </a:solidFill>
                <a:latin typeface="Cambria" pitchFamily="34" charset="0"/>
                <a:ea typeface="Cambria" pitchFamily="34" charset="-122"/>
                <a:cs typeface="Cambria" pitchFamily="34" charset="-120"/>
              </a:rPr>
              <a:t>Exchange rate</a:t>
            </a:r>
            <a:endParaRPr lang="en-US" sz="1500" dirty="0"/>
          </a:p>
        </p:txBody>
      </p:sp>
      <p:sp>
        <p:nvSpPr>
          <p:cNvPr id="33" name="Text 24"/>
          <p:cNvSpPr txBox="1"/>
          <p:nvPr/>
        </p:nvSpPr>
        <p:spPr>
          <a:xfrm>
            <a:off x="6876288" y="3264408"/>
            <a:ext cx="1737360" cy="859536"/>
          </a:xfrm>
          <a:prstGeom prst="rect">
            <a:avLst/>
          </a:prstGeom>
          <a:noFill/>
          <a:ln/>
        </p:spPr>
        <p:txBody>
          <a:bodyPr wrap="square" lIns="0" tIns="0" rIns="0" bIns="0" rtlCol="0" anchor="t"/>
          <a:lstStyle/>
          <a:p>
            <a:pPr marL="0" indent="0">
              <a:buNone/>
            </a:pPr>
            <a:r>
              <a:rPr lang="en-US" sz="1300" dirty="0">
                <a:solidFill>
                  <a:schemeClr val="tx1"/>
                </a:solidFill>
              </a:rPr>
              <a:t>Add a margin, order often in smaller lots</a:t>
            </a:r>
            <a:endParaRPr lang="en-US" sz="1300" dirty="0"/>
          </a:p>
        </p:txBody>
      </p:sp>
      <p:sp>
        <p:nvSpPr>
          <p:cNvPr id="34" name="Text 25"/>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400" b="1" dirty="0">
                <a:solidFill>
                  <a:schemeClr val="accent2"/>
                </a:solidFill>
              </a:rPr>
              <a:t>Start small. Test. Then grow. The first order is tuition.</a:t>
            </a:r>
            <a:endParaRPr lang="en-US" sz="1400" dirty="0"/>
          </a:p>
        </p:txBody>
      </p:sp>
      <p:sp>
        <p:nvSpPr>
          <p:cNvPr id="3"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bg1"/>
                </a:solidFill>
              </a:rPr>
              <a:t>Your turn: a 30-minute working session</a:t>
            </a:r>
            <a:endParaRPr lang="en-US" sz="2800" dirty="0"/>
          </a:p>
        </p:txBody>
      </p:sp>
      <p:sp>
        <p:nvSpPr>
          <p:cNvPr id="4" name="act 0"/>
          <p:cNvSpPr/>
          <p:nvPr/>
        </p:nvSpPr>
        <p:spPr>
          <a:xfrm>
            <a:off x="457200" y="1188720"/>
            <a:ext cx="8229600" cy="731520"/>
          </a:xfrm>
          <a:prstGeom prst="roundRect">
            <a:avLst>
              <a:gd name="adj" fmla="val 12500"/>
            </a:avLst>
          </a:prstGeom>
          <a:solidFill>
            <a:srgbClr val="13315C"/>
          </a:solidFill>
          <a:ln w="12700">
            <a:solidFill>
              <a:srgbClr val="13315C"/>
            </a:solidFill>
            <a:prstDash val="solid"/>
          </a:ln>
        </p:spPr>
      </p:sp>
      <p:sp>
        <p:nvSpPr>
          <p:cNvPr id="5" name="num"/>
          <p:cNvSpPr/>
          <p:nvPr/>
        </p:nvSpPr>
        <p:spPr>
          <a:xfrm>
            <a:off x="640080" y="1335024"/>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640080" y="1335024"/>
            <a:ext cx="457200" cy="457200"/>
          </a:xfrm>
          <a:prstGeom prst="rect">
            <a:avLst/>
          </a:prstGeom>
          <a:noFill/>
          <a:ln/>
        </p:spPr>
        <p:txBody>
          <a:bodyPr wrap="square" lIns="0" tIns="0" rIns="0" bIns="0" rtlCol="0" anchor="ctr"/>
          <a:lstStyle/>
          <a:p>
            <a:pPr marL="0" indent="0" algn="ctr">
              <a:buNone/>
            </a:pPr>
            <a:r>
              <a:rPr lang="en-US" sz="1800" b="1" dirty="0">
                <a:solidFill>
                  <a:srgbClr val="0B1F3A"/>
                </a:solidFill>
              </a:rPr>
              <a:t>1</a:t>
            </a:r>
            <a:endParaRPr lang="en-US" sz="1800" dirty="0"/>
          </a:p>
        </p:txBody>
      </p:sp>
      <p:sp>
        <p:nvSpPr>
          <p:cNvPr id="7" name="Text 4"/>
          <p:cNvSpPr txBox="1"/>
          <p:nvPr/>
        </p:nvSpPr>
        <p:spPr>
          <a:xfrm>
            <a:off x="1371600" y="1298448"/>
            <a:ext cx="2377440" cy="502920"/>
          </a:xfrm>
          <a:prstGeom prst="rect">
            <a:avLst/>
          </a:prstGeom>
          <a:noFill/>
          <a:ln/>
        </p:spPr>
        <p:txBody>
          <a:bodyPr wrap="square" lIns="0" tIns="0" rIns="0" bIns="0" rtlCol="0" anchor="ctr"/>
          <a:lstStyle/>
          <a:p>
            <a:pPr marL="0" indent="0">
              <a:buNone/>
            </a:pPr>
            <a:r>
              <a:rPr lang="en-US" sz="1700" b="1" dirty="0">
                <a:solidFill>
                  <a:schemeClr val="bg1"/>
                </a:solidFill>
                <a:latin typeface="Cambria" pitchFamily="34" charset="0"/>
                <a:ea typeface="Cambria" pitchFamily="34" charset="-122"/>
                <a:cs typeface="Cambria" pitchFamily="34" charset="-120"/>
              </a:rPr>
              <a:t>Pick a product</a:t>
            </a:r>
            <a:endParaRPr lang="en-US" sz="1700" dirty="0"/>
          </a:p>
        </p:txBody>
      </p:sp>
      <p:sp>
        <p:nvSpPr>
          <p:cNvPr id="8" name="Text 5"/>
          <p:cNvSpPr txBox="1"/>
          <p:nvPr/>
        </p:nvSpPr>
        <p:spPr>
          <a:xfrm>
            <a:off x="3840480" y="1280160"/>
            <a:ext cx="4663440" cy="548640"/>
          </a:xfrm>
          <a:prstGeom prst="rect">
            <a:avLst/>
          </a:prstGeom>
          <a:noFill/>
          <a:ln/>
        </p:spPr>
        <p:txBody>
          <a:bodyPr wrap="square" lIns="0" tIns="0" rIns="0" bIns="0" rtlCol="0" anchor="ctr"/>
          <a:lstStyle/>
          <a:p>
            <a:pPr marL="0" indent="0">
              <a:buNone/>
            </a:pPr>
            <a:r>
              <a:rPr lang="en-US" sz="1400" dirty="0">
                <a:solidFill>
                  <a:schemeClr val="bg1"/>
                </a:solidFill>
              </a:rPr>
              <a:t>Small, light, legal and already selling. Name three people who would buy it this week.</a:t>
            </a:r>
            <a:endParaRPr lang="en-US" sz="1400" dirty="0"/>
          </a:p>
        </p:txBody>
      </p:sp>
      <p:sp>
        <p:nvSpPr>
          <p:cNvPr id="9" name="act 1"/>
          <p:cNvSpPr/>
          <p:nvPr/>
        </p:nvSpPr>
        <p:spPr>
          <a:xfrm>
            <a:off x="457200" y="2011680"/>
            <a:ext cx="8229600" cy="731520"/>
          </a:xfrm>
          <a:prstGeom prst="roundRect">
            <a:avLst>
              <a:gd name="adj" fmla="val 12500"/>
            </a:avLst>
          </a:prstGeom>
          <a:solidFill>
            <a:srgbClr val="13315C"/>
          </a:solidFill>
          <a:ln w="12700">
            <a:solidFill>
              <a:srgbClr val="13315C"/>
            </a:solidFill>
            <a:prstDash val="solid"/>
          </a:ln>
        </p:spPr>
      </p:sp>
      <p:sp>
        <p:nvSpPr>
          <p:cNvPr id="10" name="num"/>
          <p:cNvSpPr/>
          <p:nvPr/>
        </p:nvSpPr>
        <p:spPr>
          <a:xfrm>
            <a:off x="640080" y="2157984"/>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640080" y="2157984"/>
            <a:ext cx="457200" cy="457200"/>
          </a:xfrm>
          <a:prstGeom prst="rect">
            <a:avLst/>
          </a:prstGeom>
          <a:noFill/>
          <a:ln/>
        </p:spPr>
        <p:txBody>
          <a:bodyPr wrap="square" lIns="0" tIns="0" rIns="0" bIns="0" rtlCol="0" anchor="ctr"/>
          <a:lstStyle/>
          <a:p>
            <a:pPr marL="0" indent="0" algn="ctr">
              <a:buNone/>
            </a:pPr>
            <a:r>
              <a:rPr lang="en-US" sz="1800" b="1" dirty="0">
                <a:solidFill>
                  <a:srgbClr val="0B1F3A"/>
                </a:solidFill>
              </a:rPr>
              <a:t>2</a:t>
            </a:r>
            <a:endParaRPr lang="en-US" sz="1800" dirty="0"/>
          </a:p>
        </p:txBody>
      </p:sp>
      <p:sp>
        <p:nvSpPr>
          <p:cNvPr id="12" name="Text 9"/>
          <p:cNvSpPr txBox="1"/>
          <p:nvPr/>
        </p:nvSpPr>
        <p:spPr>
          <a:xfrm>
            <a:off x="1371600" y="2121408"/>
            <a:ext cx="2377440" cy="502920"/>
          </a:xfrm>
          <a:prstGeom prst="rect">
            <a:avLst/>
          </a:prstGeom>
          <a:noFill/>
          <a:ln/>
        </p:spPr>
        <p:txBody>
          <a:bodyPr wrap="square" lIns="0" tIns="0" rIns="0" bIns="0" rtlCol="0" anchor="ctr"/>
          <a:lstStyle/>
          <a:p>
            <a:pPr marL="0" indent="0">
              <a:buNone/>
            </a:pPr>
            <a:r>
              <a:rPr lang="en-US" sz="1700" b="1" dirty="0">
                <a:solidFill>
                  <a:schemeClr val="bg1"/>
                </a:solidFill>
                <a:latin typeface="Cambria" pitchFamily="34" charset="0"/>
                <a:ea typeface="Cambria" pitchFamily="34" charset="-122"/>
                <a:cs typeface="Cambria" pitchFamily="34" charset="-120"/>
              </a:rPr>
              <a:t>Check the market</a:t>
            </a:r>
            <a:endParaRPr lang="en-US" sz="1700" dirty="0"/>
          </a:p>
        </p:txBody>
      </p:sp>
      <p:sp>
        <p:nvSpPr>
          <p:cNvPr id="13" name="Text 10"/>
          <p:cNvSpPr txBox="1"/>
          <p:nvPr/>
        </p:nvSpPr>
        <p:spPr>
          <a:xfrm>
            <a:off x="3840480" y="2103120"/>
            <a:ext cx="4663440" cy="548640"/>
          </a:xfrm>
          <a:prstGeom prst="rect">
            <a:avLst/>
          </a:prstGeom>
          <a:noFill/>
          <a:ln/>
        </p:spPr>
        <p:txBody>
          <a:bodyPr wrap="square" lIns="0" tIns="0" rIns="0" bIns="0" rtlCol="0" anchor="ctr"/>
          <a:lstStyle/>
          <a:p>
            <a:pPr marL="0" indent="0">
              <a:buNone/>
            </a:pPr>
            <a:r>
              <a:rPr lang="en-US" sz="1400" dirty="0">
                <a:solidFill>
                  <a:schemeClr val="bg1"/>
                </a:solidFill>
              </a:rPr>
              <a:t>Find three competitor prices: lowest, typical, highest.</a:t>
            </a:r>
            <a:endParaRPr lang="en-US" sz="1400" dirty="0"/>
          </a:p>
        </p:txBody>
      </p:sp>
      <p:sp>
        <p:nvSpPr>
          <p:cNvPr id="14" name="act 2"/>
          <p:cNvSpPr/>
          <p:nvPr/>
        </p:nvSpPr>
        <p:spPr>
          <a:xfrm>
            <a:off x="457200" y="2834640"/>
            <a:ext cx="8229600" cy="731520"/>
          </a:xfrm>
          <a:prstGeom prst="roundRect">
            <a:avLst>
              <a:gd name="adj" fmla="val 12500"/>
            </a:avLst>
          </a:prstGeom>
          <a:solidFill>
            <a:srgbClr val="13315C"/>
          </a:solidFill>
          <a:ln w="12700">
            <a:solidFill>
              <a:srgbClr val="13315C"/>
            </a:solidFill>
            <a:prstDash val="solid"/>
          </a:ln>
        </p:spPr>
      </p:sp>
      <p:sp>
        <p:nvSpPr>
          <p:cNvPr id="15" name="num"/>
          <p:cNvSpPr/>
          <p:nvPr/>
        </p:nvSpPr>
        <p:spPr>
          <a:xfrm>
            <a:off x="640080" y="2980944"/>
            <a:ext cx="457200" cy="457200"/>
          </a:xfrm>
          <a:prstGeom prst="ellipse">
            <a:avLst/>
          </a:prstGeom>
          <a:solidFill>
            <a:schemeClr val="accent1"/>
          </a:solidFill>
          <a:ln w="12700">
            <a:solidFill>
              <a:schemeClr val="accent1"/>
            </a:solidFill>
            <a:prstDash val="solid"/>
          </a:ln>
        </p:spPr>
      </p:sp>
      <p:sp>
        <p:nvSpPr>
          <p:cNvPr id="16" name="Text 13"/>
          <p:cNvSpPr txBox="1"/>
          <p:nvPr/>
        </p:nvSpPr>
        <p:spPr>
          <a:xfrm>
            <a:off x="640080" y="2980944"/>
            <a:ext cx="457200" cy="457200"/>
          </a:xfrm>
          <a:prstGeom prst="rect">
            <a:avLst/>
          </a:prstGeom>
          <a:noFill/>
          <a:ln/>
        </p:spPr>
        <p:txBody>
          <a:bodyPr wrap="square" lIns="0" tIns="0" rIns="0" bIns="0" rtlCol="0" anchor="ctr"/>
          <a:lstStyle/>
          <a:p>
            <a:pPr marL="0" indent="0" algn="ctr">
              <a:buNone/>
            </a:pPr>
            <a:r>
              <a:rPr lang="en-US" sz="1800" b="1" dirty="0">
                <a:solidFill>
                  <a:srgbClr val="0B1F3A"/>
                </a:solidFill>
              </a:rPr>
              <a:t>3</a:t>
            </a:r>
            <a:endParaRPr lang="en-US" sz="1800" dirty="0"/>
          </a:p>
        </p:txBody>
      </p:sp>
      <p:sp>
        <p:nvSpPr>
          <p:cNvPr id="17" name="Text 14"/>
          <p:cNvSpPr txBox="1"/>
          <p:nvPr/>
        </p:nvSpPr>
        <p:spPr>
          <a:xfrm>
            <a:off x="1371600" y="2944368"/>
            <a:ext cx="2377440" cy="502920"/>
          </a:xfrm>
          <a:prstGeom prst="rect">
            <a:avLst/>
          </a:prstGeom>
          <a:noFill/>
          <a:ln/>
        </p:spPr>
        <p:txBody>
          <a:bodyPr wrap="square" lIns="0" tIns="0" rIns="0" bIns="0" rtlCol="0" anchor="ctr"/>
          <a:lstStyle/>
          <a:p>
            <a:pPr marL="0" indent="0">
              <a:buNone/>
            </a:pPr>
            <a:r>
              <a:rPr lang="en-US" sz="1700" b="1" dirty="0">
                <a:solidFill>
                  <a:schemeClr val="bg1"/>
                </a:solidFill>
                <a:latin typeface="Cambria" pitchFamily="34" charset="0"/>
                <a:ea typeface="Cambria" pitchFamily="34" charset="-122"/>
                <a:cs typeface="Cambria" pitchFamily="34" charset="-120"/>
              </a:rPr>
              <a:t>Build the landed cost</a:t>
            </a:r>
            <a:endParaRPr lang="en-US" sz="1700" dirty="0"/>
          </a:p>
        </p:txBody>
      </p:sp>
      <p:sp>
        <p:nvSpPr>
          <p:cNvPr id="18" name="Text 15"/>
          <p:cNvSpPr txBox="1"/>
          <p:nvPr/>
        </p:nvSpPr>
        <p:spPr>
          <a:xfrm>
            <a:off x="3840480" y="2926080"/>
            <a:ext cx="4663440" cy="548640"/>
          </a:xfrm>
          <a:prstGeom prst="rect">
            <a:avLst/>
          </a:prstGeom>
          <a:noFill/>
          <a:ln/>
        </p:spPr>
        <p:txBody>
          <a:bodyPr wrap="square" lIns="0" tIns="0" rIns="0" bIns="0" rtlCol="0" anchor="ctr"/>
          <a:lstStyle/>
          <a:p>
            <a:pPr marL="0" indent="0">
              <a:buNone/>
            </a:pPr>
            <a:r>
              <a:rPr lang="en-US" sz="1400" dirty="0">
                <a:solidFill>
                  <a:schemeClr val="bg1"/>
                </a:solidFill>
              </a:rPr>
              <a:t>Use a real supplier price and the cost sheet steps.</a:t>
            </a:r>
            <a:endParaRPr lang="en-US" sz="1400" dirty="0"/>
          </a:p>
        </p:txBody>
      </p:sp>
      <p:sp>
        <p:nvSpPr>
          <p:cNvPr id="19" name="act 3"/>
          <p:cNvSpPr/>
          <p:nvPr/>
        </p:nvSpPr>
        <p:spPr>
          <a:xfrm>
            <a:off x="457200" y="3657600"/>
            <a:ext cx="8229600" cy="731520"/>
          </a:xfrm>
          <a:prstGeom prst="roundRect">
            <a:avLst>
              <a:gd name="adj" fmla="val 12500"/>
            </a:avLst>
          </a:prstGeom>
          <a:solidFill>
            <a:srgbClr val="13315C"/>
          </a:solidFill>
          <a:ln w="12700">
            <a:solidFill>
              <a:srgbClr val="13315C"/>
            </a:solidFill>
            <a:prstDash val="solid"/>
          </a:ln>
        </p:spPr>
      </p:sp>
      <p:sp>
        <p:nvSpPr>
          <p:cNvPr id="20" name="num"/>
          <p:cNvSpPr/>
          <p:nvPr/>
        </p:nvSpPr>
        <p:spPr>
          <a:xfrm>
            <a:off x="640080" y="3803904"/>
            <a:ext cx="457200" cy="457200"/>
          </a:xfrm>
          <a:prstGeom prst="ellipse">
            <a:avLst/>
          </a:prstGeom>
          <a:solidFill>
            <a:schemeClr val="accent1"/>
          </a:solidFill>
          <a:ln w="12700">
            <a:solidFill>
              <a:schemeClr val="accent1"/>
            </a:solidFill>
            <a:prstDash val="solid"/>
          </a:ln>
        </p:spPr>
      </p:sp>
      <p:sp>
        <p:nvSpPr>
          <p:cNvPr id="21" name="Text 18"/>
          <p:cNvSpPr txBox="1"/>
          <p:nvPr/>
        </p:nvSpPr>
        <p:spPr>
          <a:xfrm>
            <a:off x="640080" y="3803904"/>
            <a:ext cx="457200" cy="457200"/>
          </a:xfrm>
          <a:prstGeom prst="rect">
            <a:avLst/>
          </a:prstGeom>
          <a:noFill/>
          <a:ln/>
        </p:spPr>
        <p:txBody>
          <a:bodyPr wrap="square" lIns="0" tIns="0" rIns="0" bIns="0" rtlCol="0" anchor="ctr"/>
          <a:lstStyle/>
          <a:p>
            <a:pPr marL="0" indent="0" algn="ctr">
              <a:buNone/>
            </a:pPr>
            <a:r>
              <a:rPr lang="en-US" sz="1800" b="1" dirty="0">
                <a:solidFill>
                  <a:srgbClr val="0B1F3A"/>
                </a:solidFill>
              </a:rPr>
              <a:t>4</a:t>
            </a:r>
            <a:endParaRPr lang="en-US" sz="1800" dirty="0"/>
          </a:p>
        </p:txBody>
      </p:sp>
      <p:sp>
        <p:nvSpPr>
          <p:cNvPr id="22" name="Text 19"/>
          <p:cNvSpPr txBox="1"/>
          <p:nvPr/>
        </p:nvSpPr>
        <p:spPr>
          <a:xfrm>
            <a:off x="1371600" y="3767328"/>
            <a:ext cx="2377440" cy="502920"/>
          </a:xfrm>
          <a:prstGeom prst="rect">
            <a:avLst/>
          </a:prstGeom>
          <a:noFill/>
          <a:ln/>
        </p:spPr>
        <p:txBody>
          <a:bodyPr wrap="square" lIns="0" tIns="0" rIns="0" bIns="0" rtlCol="0" anchor="ctr"/>
          <a:lstStyle/>
          <a:p>
            <a:pPr marL="0" indent="0">
              <a:buNone/>
            </a:pPr>
            <a:r>
              <a:rPr lang="en-US" sz="1700" b="1" dirty="0">
                <a:solidFill>
                  <a:schemeClr val="bg1"/>
                </a:solidFill>
                <a:latin typeface="Cambria" pitchFamily="34" charset="0"/>
                <a:ea typeface="Cambria" pitchFamily="34" charset="-122"/>
                <a:cs typeface="Cambria" pitchFamily="34" charset="-120"/>
              </a:rPr>
              <a:t>Set your price</a:t>
            </a:r>
            <a:endParaRPr lang="en-US" sz="1700" dirty="0"/>
          </a:p>
        </p:txBody>
      </p:sp>
      <p:sp>
        <p:nvSpPr>
          <p:cNvPr id="23" name="Text 20"/>
          <p:cNvSpPr txBox="1"/>
          <p:nvPr/>
        </p:nvSpPr>
        <p:spPr>
          <a:xfrm>
            <a:off x="3840480" y="3749040"/>
            <a:ext cx="4663440" cy="548640"/>
          </a:xfrm>
          <a:prstGeom prst="rect">
            <a:avLst/>
          </a:prstGeom>
          <a:noFill/>
          <a:ln/>
        </p:spPr>
        <p:txBody>
          <a:bodyPr wrap="square" lIns="0" tIns="0" rIns="0" bIns="0" rtlCol="0" anchor="ctr"/>
          <a:lstStyle/>
          <a:p>
            <a:pPr marL="0" indent="0">
              <a:buNone/>
            </a:pPr>
            <a:r>
              <a:rPr lang="en-US" sz="1400" dirty="0">
                <a:solidFill>
                  <a:schemeClr val="bg1"/>
                </a:solidFill>
              </a:rPr>
              <a:t>Landed cost ÷ 0.65 for a 35% margin. Does the market accept it?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Your first 30 days</a:t>
            </a:r>
            <a:endParaRPr lang="en-US" sz="2800" dirty="0"/>
          </a:p>
        </p:txBody>
      </p:sp>
      <p:sp>
        <p:nvSpPr>
          <p:cNvPr id="4" name="week 0"/>
          <p:cNvSpPr/>
          <p:nvPr/>
        </p:nvSpPr>
        <p:spPr>
          <a:xfrm>
            <a:off x="457200" y="1280160"/>
            <a:ext cx="1965960" cy="2926080"/>
          </a:xfrm>
          <a:prstGeom prst="roundRect">
            <a:avLst>
              <a:gd name="adj" fmla="val 4651"/>
            </a:avLst>
          </a:prstGeom>
          <a:solidFill>
            <a:srgbClr val="0B1F3A"/>
          </a:solidFill>
          <a:ln w="12700">
            <a:solidFill>
              <a:srgbClr val="0B1F3A"/>
            </a:solidFill>
            <a:prstDash val="solid"/>
          </a:ln>
        </p:spPr>
      </p:sp>
      <p:sp>
        <p:nvSpPr>
          <p:cNvPr id="5" name="Text 2"/>
          <p:cNvSpPr txBox="1"/>
          <p:nvPr/>
        </p:nvSpPr>
        <p:spPr>
          <a:xfrm>
            <a:off x="640080" y="1463040"/>
            <a:ext cx="164592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WEEK 1</a:t>
            </a:r>
            <a:endParaRPr lang="en-US" sz="1200" dirty="0"/>
          </a:p>
        </p:txBody>
      </p:sp>
      <p:sp>
        <p:nvSpPr>
          <p:cNvPr id="6" name="Text 3"/>
          <p:cNvSpPr txBox="1"/>
          <p:nvPr/>
        </p:nvSpPr>
        <p:spPr>
          <a:xfrm>
            <a:off x="640080" y="1783080"/>
            <a:ext cx="1645920" cy="45720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Choose</a:t>
            </a:r>
            <a:endParaRPr lang="en-US" sz="2400" dirty="0"/>
          </a:p>
        </p:txBody>
      </p:sp>
      <p:sp>
        <p:nvSpPr>
          <p:cNvPr id="7" name="Text 4"/>
          <p:cNvSpPr txBox="1"/>
          <p:nvPr/>
        </p:nvSpPr>
        <p:spPr>
          <a:xfrm>
            <a:off x="640080" y="2423160"/>
            <a:ext cx="1645920" cy="1645920"/>
          </a:xfrm>
          <a:prstGeom prst="rect">
            <a:avLst/>
          </a:prstGeom>
          <a:noFill/>
          <a:ln/>
        </p:spPr>
        <p:txBody>
          <a:bodyPr wrap="square" lIns="0" tIns="0" rIns="0" bIns="0" rtlCol="0" anchor="t"/>
          <a:lstStyle/>
          <a:p>
            <a:pPr marL="0" indent="0">
              <a:buNone/>
            </a:pPr>
            <a:r>
              <a:rPr lang="en-US" sz="1400" dirty="0">
                <a:solidFill>
                  <a:schemeClr val="bg1"/>
                </a:solidFill>
              </a:rPr>
              <a:t>Pick a product and ask ten buyers what they would pay.</a:t>
            </a:r>
            <a:endParaRPr lang="en-US" sz="1400" dirty="0"/>
          </a:p>
        </p:txBody>
      </p:sp>
      <p:sp>
        <p:nvSpPr>
          <p:cNvPr id="8" name="week 1"/>
          <p:cNvSpPr/>
          <p:nvPr/>
        </p:nvSpPr>
        <p:spPr>
          <a:xfrm>
            <a:off x="2560320" y="1280160"/>
            <a:ext cx="1965960" cy="2926080"/>
          </a:xfrm>
          <a:prstGeom prst="roundRect">
            <a:avLst>
              <a:gd name="adj" fmla="val 4651"/>
            </a:avLst>
          </a:prstGeom>
          <a:solidFill>
            <a:schemeClr val="bg2"/>
          </a:solidFill>
          <a:ln w="12700">
            <a:solidFill>
              <a:schemeClr val="bg2"/>
            </a:solidFill>
            <a:prstDash val="solid"/>
          </a:ln>
        </p:spPr>
      </p:sp>
      <p:sp>
        <p:nvSpPr>
          <p:cNvPr id="9" name="Text 6"/>
          <p:cNvSpPr txBox="1"/>
          <p:nvPr/>
        </p:nvSpPr>
        <p:spPr>
          <a:xfrm>
            <a:off x="2743200" y="1463040"/>
            <a:ext cx="164592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WEEK 2</a:t>
            </a:r>
            <a:endParaRPr lang="en-US" sz="1200" dirty="0"/>
          </a:p>
        </p:txBody>
      </p:sp>
      <p:sp>
        <p:nvSpPr>
          <p:cNvPr id="10" name="Text 7"/>
          <p:cNvSpPr txBox="1"/>
          <p:nvPr/>
        </p:nvSpPr>
        <p:spPr>
          <a:xfrm>
            <a:off x="2743200" y="1783080"/>
            <a:ext cx="1645920" cy="45720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Source</a:t>
            </a:r>
            <a:endParaRPr lang="en-US" sz="2400" dirty="0"/>
          </a:p>
        </p:txBody>
      </p:sp>
      <p:sp>
        <p:nvSpPr>
          <p:cNvPr id="11" name="Text 8"/>
          <p:cNvSpPr txBox="1"/>
          <p:nvPr/>
        </p:nvSpPr>
        <p:spPr>
          <a:xfrm>
            <a:off x="2743200" y="2423160"/>
            <a:ext cx="1645920" cy="1645920"/>
          </a:xfrm>
          <a:prstGeom prst="rect">
            <a:avLst/>
          </a:prstGeom>
          <a:noFill/>
          <a:ln/>
        </p:spPr>
        <p:txBody>
          <a:bodyPr wrap="square" lIns="0" tIns="0" rIns="0" bIns="0" rtlCol="0" anchor="t"/>
          <a:lstStyle/>
          <a:p>
            <a:pPr marL="0" indent="0">
              <a:buNone/>
            </a:pPr>
            <a:r>
              <a:rPr lang="en-US" sz="1400" dirty="0">
                <a:solidFill>
                  <a:schemeClr val="tx1"/>
                </a:solidFill>
              </a:rPr>
              <a:t>Shortlist 3 to 5 suppliers and verify the best two.</a:t>
            </a:r>
            <a:endParaRPr lang="en-US" sz="1400" dirty="0"/>
          </a:p>
        </p:txBody>
      </p:sp>
      <p:sp>
        <p:nvSpPr>
          <p:cNvPr id="12" name="week 2"/>
          <p:cNvSpPr/>
          <p:nvPr/>
        </p:nvSpPr>
        <p:spPr>
          <a:xfrm>
            <a:off x="4663440" y="1280160"/>
            <a:ext cx="1965960" cy="2926080"/>
          </a:xfrm>
          <a:prstGeom prst="roundRect">
            <a:avLst>
              <a:gd name="adj" fmla="val 4651"/>
            </a:avLst>
          </a:prstGeom>
          <a:solidFill>
            <a:srgbClr val="0B1F3A"/>
          </a:solidFill>
          <a:ln w="12700">
            <a:solidFill>
              <a:srgbClr val="0B1F3A"/>
            </a:solidFill>
            <a:prstDash val="solid"/>
          </a:ln>
        </p:spPr>
      </p:sp>
      <p:sp>
        <p:nvSpPr>
          <p:cNvPr id="13" name="Text 10"/>
          <p:cNvSpPr txBox="1"/>
          <p:nvPr/>
        </p:nvSpPr>
        <p:spPr>
          <a:xfrm>
            <a:off x="4846320" y="1463040"/>
            <a:ext cx="164592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WEEK 3</a:t>
            </a:r>
            <a:endParaRPr lang="en-US" sz="1200" dirty="0"/>
          </a:p>
        </p:txBody>
      </p:sp>
      <p:sp>
        <p:nvSpPr>
          <p:cNvPr id="14" name="Text 11"/>
          <p:cNvSpPr txBox="1"/>
          <p:nvPr/>
        </p:nvSpPr>
        <p:spPr>
          <a:xfrm>
            <a:off x="4846320" y="1783080"/>
            <a:ext cx="1645920" cy="45720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Test</a:t>
            </a:r>
            <a:endParaRPr lang="en-US" sz="2400" dirty="0"/>
          </a:p>
        </p:txBody>
      </p:sp>
      <p:sp>
        <p:nvSpPr>
          <p:cNvPr id="15" name="Text 12"/>
          <p:cNvSpPr txBox="1"/>
          <p:nvPr/>
        </p:nvSpPr>
        <p:spPr>
          <a:xfrm>
            <a:off x="4846320" y="2423160"/>
            <a:ext cx="1645920" cy="1645920"/>
          </a:xfrm>
          <a:prstGeom prst="rect">
            <a:avLst/>
          </a:prstGeom>
          <a:noFill/>
          <a:ln/>
        </p:spPr>
        <p:txBody>
          <a:bodyPr wrap="square" lIns="0" tIns="0" rIns="0" bIns="0" rtlCol="0" anchor="t"/>
          <a:lstStyle/>
          <a:p>
            <a:pPr marL="0" indent="0">
              <a:buNone/>
            </a:pPr>
            <a:r>
              <a:rPr lang="en-US" sz="1400" dirty="0">
                <a:solidFill>
                  <a:schemeClr val="bg1"/>
                </a:solidFill>
              </a:rPr>
              <a:t>Order a sample. Build landed cost and set a price.</a:t>
            </a:r>
            <a:endParaRPr lang="en-US" sz="1400" dirty="0"/>
          </a:p>
        </p:txBody>
      </p:sp>
      <p:sp>
        <p:nvSpPr>
          <p:cNvPr id="16" name="week 3"/>
          <p:cNvSpPr/>
          <p:nvPr/>
        </p:nvSpPr>
        <p:spPr>
          <a:xfrm>
            <a:off x="6766560" y="1280160"/>
            <a:ext cx="1965960" cy="2926080"/>
          </a:xfrm>
          <a:prstGeom prst="roundRect">
            <a:avLst>
              <a:gd name="adj" fmla="val 4651"/>
            </a:avLst>
          </a:prstGeom>
          <a:solidFill>
            <a:schemeClr val="bg2"/>
          </a:solidFill>
          <a:ln w="12700">
            <a:solidFill>
              <a:schemeClr val="bg2"/>
            </a:solidFill>
            <a:prstDash val="solid"/>
          </a:ln>
        </p:spPr>
      </p:sp>
      <p:sp>
        <p:nvSpPr>
          <p:cNvPr id="17" name="Text 14"/>
          <p:cNvSpPr txBox="1"/>
          <p:nvPr/>
        </p:nvSpPr>
        <p:spPr>
          <a:xfrm>
            <a:off x="6949440" y="1463040"/>
            <a:ext cx="1645920" cy="228600"/>
          </a:xfrm>
          <a:prstGeom prst="rect">
            <a:avLst/>
          </a:prstGeom>
          <a:noFill/>
          <a:ln/>
        </p:spPr>
        <p:txBody>
          <a:bodyPr wrap="square" lIns="0" tIns="0" rIns="0" bIns="0" rtlCol="0" anchor="t"/>
          <a:lstStyle/>
          <a:p>
            <a:pPr marL="0" indent="0">
              <a:buNone/>
            </a:pPr>
            <a:r>
              <a:rPr lang="en-US" sz="1200" b="1" kern="0" spc="200" dirty="0">
                <a:solidFill>
                  <a:schemeClr val="accent1"/>
                </a:solidFill>
              </a:rPr>
              <a:t>WEEK 4</a:t>
            </a:r>
            <a:endParaRPr lang="en-US" sz="1200" dirty="0"/>
          </a:p>
        </p:txBody>
      </p:sp>
      <p:sp>
        <p:nvSpPr>
          <p:cNvPr id="18" name="Text 15"/>
          <p:cNvSpPr txBox="1"/>
          <p:nvPr/>
        </p:nvSpPr>
        <p:spPr>
          <a:xfrm>
            <a:off x="6949440" y="1783080"/>
            <a:ext cx="1645920" cy="457200"/>
          </a:xfrm>
          <a:prstGeom prst="rect">
            <a:avLst/>
          </a:prstGeom>
          <a:noFill/>
          <a:ln/>
        </p:spPr>
        <p:txBody>
          <a:bodyPr wrap="square" lIns="0" tIns="0" rIns="0" bIns="0" rtlCol="0" anchor="t"/>
          <a:lstStyle/>
          <a:p>
            <a:pPr marL="0" indent="0">
              <a:buNone/>
            </a:pPr>
            <a:r>
              <a:rPr lang="en-US" sz="2400" b="1" dirty="0">
                <a:solidFill>
                  <a:schemeClr val="tx1"/>
                </a:solidFill>
                <a:latin typeface="Cambria" pitchFamily="34" charset="0"/>
                <a:ea typeface="Cambria" pitchFamily="34" charset="-122"/>
                <a:cs typeface="Cambria" pitchFamily="34" charset="-120"/>
              </a:rPr>
              <a:t>Decide</a:t>
            </a:r>
            <a:endParaRPr lang="en-US" sz="2400" dirty="0"/>
          </a:p>
        </p:txBody>
      </p:sp>
      <p:sp>
        <p:nvSpPr>
          <p:cNvPr id="19" name="Text 16"/>
          <p:cNvSpPr txBox="1"/>
          <p:nvPr/>
        </p:nvSpPr>
        <p:spPr>
          <a:xfrm>
            <a:off x="6949440" y="2423160"/>
            <a:ext cx="1645920" cy="1645920"/>
          </a:xfrm>
          <a:prstGeom prst="rect">
            <a:avLst/>
          </a:prstGeom>
          <a:noFill/>
          <a:ln/>
        </p:spPr>
        <p:txBody>
          <a:bodyPr wrap="square" lIns="0" tIns="0" rIns="0" bIns="0" rtlCol="0" anchor="t"/>
          <a:lstStyle/>
          <a:p>
            <a:pPr marL="0" indent="0">
              <a:buNone/>
            </a:pPr>
            <a:r>
              <a:rPr lang="en-US" sz="1400" dirty="0">
                <a:solidFill>
                  <a:schemeClr val="tx1"/>
                </a:solidFill>
              </a:rPr>
              <a:t>Pre-sell. Place a small first order, or drop it.</a:t>
            </a:r>
            <a:endParaRPr lang="en-US" sz="1400" dirty="0"/>
          </a:p>
        </p:txBody>
      </p:sp>
      <p:sp>
        <p:nvSpPr>
          <p:cNvPr id="20" name="Text 17"/>
          <p:cNvSpPr txBox="1"/>
          <p:nvPr/>
        </p:nvSpPr>
        <p:spPr>
          <a:xfrm>
            <a:off x="457200" y="4389120"/>
            <a:ext cx="8229600" cy="274320"/>
          </a:xfrm>
          <a:prstGeom prst="rect">
            <a:avLst/>
          </a:prstGeom>
          <a:noFill/>
          <a:ln/>
        </p:spPr>
        <p:txBody>
          <a:bodyPr wrap="square" lIns="0" tIns="0" rIns="0" bIns="0" rtlCol="0" anchor="t"/>
          <a:lstStyle/>
          <a:p>
            <a:pPr marL="0" indent="0">
              <a:buNone/>
            </a:pPr>
            <a:r>
              <a:rPr lang="en-US" sz="1400" b="1" dirty="0">
                <a:solidFill>
                  <a:schemeClr val="accent2"/>
                </a:solidFill>
              </a:rPr>
              <a:t>A bad product dropped after a week of research is a win.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3" name="A busy Lagos market" descr="A busy Lagos market"/>
          <p:cNvPicPr>
            <a:picLocks noChangeAspect="1"/>
          </p:cNvPicPr>
          <p:nvPr/>
        </p:nvPicPr>
        <p:blipFill>
          <a:blip r:embed="rId3"/>
          <a:stretch>
            <a:fillRect/>
          </a:stretch>
        </p:blipFill>
        <p:spPr>
          <a:xfrm>
            <a:off x="0" y="0"/>
            <a:ext cx="9144000" cy="5143500"/>
          </a:xfrm>
          <a:prstGeom prst="rect">
            <a:avLst/>
          </a:prstGeom>
        </p:spPr>
      </p:pic>
      <p:sp>
        <p:nvSpPr>
          <p:cNvPr id="4" name="photo overlay"/>
          <p:cNvSpPr/>
          <p:nvPr/>
        </p:nvSpPr>
        <p:spPr>
          <a:xfrm>
            <a:off x="0" y="0"/>
            <a:ext cx="9144000" cy="5143500"/>
          </a:xfrm>
          <a:prstGeom prst="rect">
            <a:avLst/>
          </a:prstGeom>
          <a:solidFill>
            <a:srgbClr val="0B1F3A">
              <a:alpha val="82000"/>
            </a:srgbClr>
          </a:solidFill>
          <a:ln w="12700">
            <a:solidFill>
              <a:srgbClr val="0B1F3A"/>
            </a:solidFill>
            <a:prstDash val="solid"/>
          </a:ln>
        </p:spPr>
      </p:sp>
      <p:sp>
        <p:nvSpPr>
          <p:cNvPr id="5" name="Text 1"/>
          <p:cNvSpPr txBox="1"/>
          <p:nvPr/>
        </p:nvSpPr>
        <p:spPr>
          <a:xfrm>
            <a:off x="640080" y="822960"/>
            <a:ext cx="7315200" cy="274320"/>
          </a:xfrm>
          <a:prstGeom prst="rect">
            <a:avLst/>
          </a:prstGeom>
          <a:noFill/>
          <a:ln/>
        </p:spPr>
        <p:txBody>
          <a:bodyPr wrap="square" lIns="0" tIns="0" rIns="0" bIns="0" rtlCol="0" anchor="t"/>
          <a:lstStyle/>
          <a:p>
            <a:pPr marL="0" indent="0">
              <a:buNone/>
            </a:pPr>
            <a:r>
              <a:rPr lang="en-US" sz="1400" b="1" kern="0" spc="400" dirty="0">
                <a:solidFill>
                  <a:schemeClr val="accent1"/>
                </a:solidFill>
              </a:rPr>
              <a:t>REMEMBER</a:t>
            </a:r>
            <a:endParaRPr lang="en-US" sz="1400" dirty="0"/>
          </a:p>
        </p:txBody>
      </p:sp>
      <p:sp>
        <p:nvSpPr>
          <p:cNvPr id="6" name="Text 2"/>
          <p:cNvSpPr txBox="1"/>
          <p:nvPr/>
        </p:nvSpPr>
        <p:spPr>
          <a:xfrm>
            <a:off x="640080" y="1188720"/>
            <a:ext cx="7863840" cy="1371600"/>
          </a:xfrm>
          <a:prstGeom prst="rect">
            <a:avLst/>
          </a:prstGeom>
          <a:noFill/>
          <a:ln/>
        </p:spPr>
        <p:txBody>
          <a:bodyPr wrap="square" lIns="0" tIns="0" rIns="0" bIns="0" rtlCol="0" anchor="t"/>
          <a:lstStyle/>
          <a:p>
            <a:pPr marL="0" indent="0">
              <a:buNone/>
            </a:pPr>
            <a:r>
              <a:rPr lang="en-US" sz="4000" b="1" dirty="0">
                <a:solidFill>
                  <a:schemeClr val="bg1"/>
                </a:solidFill>
                <a:latin typeface="Cambria" pitchFamily="34" charset="0"/>
                <a:ea typeface="Cambria" pitchFamily="34" charset="-122"/>
                <a:cs typeface="Cambria" pitchFamily="34" charset="-120"/>
              </a:rPr>
              <a:t>The price on the page is never your real cost.</a:t>
            </a:r>
            <a:endParaRPr lang="en-US" sz="4000" dirty="0"/>
          </a:p>
        </p:txBody>
      </p:sp>
      <p:sp>
        <p:nvSpPr>
          <p:cNvPr id="7" name="Text 3"/>
          <p:cNvSpPr txBox="1"/>
          <p:nvPr/>
        </p:nvSpPr>
        <p:spPr>
          <a:xfrm>
            <a:off x="640080" y="2743200"/>
            <a:ext cx="7863840" cy="457200"/>
          </a:xfrm>
          <a:prstGeom prst="rect">
            <a:avLst/>
          </a:prstGeom>
          <a:noFill/>
          <a:ln/>
        </p:spPr>
        <p:txBody>
          <a:bodyPr wrap="square" lIns="0" tIns="0" rIns="0" bIns="0" rtlCol="0" anchor="t"/>
          <a:lstStyle/>
          <a:p>
            <a:pPr marL="0" indent="0">
              <a:buNone/>
            </a:pPr>
            <a:r>
              <a:rPr lang="en-US" sz="2200" dirty="0">
                <a:solidFill>
                  <a:schemeClr val="accent1"/>
                </a:solidFill>
                <a:latin typeface="Cambria" pitchFamily="34" charset="0"/>
                <a:ea typeface="Cambria" pitchFamily="34" charset="-122"/>
                <a:cs typeface="Cambria" pitchFamily="34" charset="-120"/>
              </a:rPr>
              <a:t>Test small. Count everything. Then grow.</a:t>
            </a:r>
            <a:endParaRPr lang="en-US" sz="2200" dirty="0"/>
          </a:p>
        </p:txBody>
      </p:sp>
      <p:sp>
        <p:nvSpPr>
          <p:cNvPr id="8" name="Text 4"/>
          <p:cNvSpPr txBox="1"/>
          <p:nvPr/>
        </p:nvSpPr>
        <p:spPr>
          <a:xfrm>
            <a:off x="640080" y="4023360"/>
            <a:ext cx="7863840" cy="365760"/>
          </a:xfrm>
          <a:prstGeom prst="rect">
            <a:avLst/>
          </a:prstGeom>
          <a:noFill/>
          <a:ln/>
        </p:spPr>
        <p:txBody>
          <a:bodyPr wrap="square" lIns="0" tIns="0" rIns="0" bIns="0" rtlCol="0" anchor="t"/>
          <a:lstStyle/>
          <a:p>
            <a:pPr marL="0" indent="0">
              <a:buNone/>
            </a:pPr>
            <a:r>
              <a:rPr lang="en-US" sz="1600" dirty="0">
                <a:solidFill>
                  <a:schemeClr val="bg1"/>
                </a:solidFill>
              </a:rPr>
              <a:t>Questions?  Take the full course at academy.cloudtechanalytics.com</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28600"/>
            <a:ext cx="8229600" cy="777240"/>
          </a:xfrm>
          <a:prstGeom prst="rect">
            <a:avLst/>
          </a:prstGeom>
          <a:noFill/>
          <a:ln/>
        </p:spPr>
        <p:txBody>
          <a:bodyPr wrap="square" lIns="0" tIns="0" rIns="0" bIns="0" rtlCol="0" anchor="ctr"/>
          <a:lstStyle/>
          <a:p>
            <a:pPr marL="0" indent="0" algn="l">
              <a:buNone/>
            </a:pPr>
            <a:r>
              <a:rPr lang="en-US" sz="2800" b="1" dirty="0">
                <a:solidFill>
                  <a:schemeClr val="tx1"/>
                </a:solidFill>
              </a:rPr>
              <a:t>Photo credits</a:t>
            </a:r>
            <a:endParaRPr lang="en-US" sz="2800" dirty="0"/>
          </a:p>
        </p:txBody>
      </p:sp>
      <p:sp>
        <p:nvSpPr>
          <p:cNvPr id="4" name="Text 1"/>
          <p:cNvSpPr txBox="1"/>
          <p:nvPr/>
        </p:nvSpPr>
        <p:spPr>
          <a:xfrm>
            <a:off x="457200" y="1188720"/>
            <a:ext cx="822960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Container ship at a port: Downtowngal, CC BY-SA 4.0, Wikimedia Commons</a:t>
            </a:r>
            <a:endParaRPr lang="en-US" sz="1400" dirty="0"/>
          </a:p>
          <a:p>
            <a:pPr marL="342900" indent="-342900">
              <a:spcAft>
                <a:spcPts val="400"/>
              </a:spcAft>
              <a:buSzPct val="100000"/>
              <a:buChar char="•"/>
            </a:pPr>
            <a:r>
              <a:rPr lang="en-US" sz="1400" dirty="0">
                <a:solidFill>
                  <a:schemeClr val="tx1"/>
                </a:solidFill>
              </a:rPr>
              <a:t>Cargo aircraft loading: Aleksandr Markin, CC BY-SA 2.0, Wikimedia Commons</a:t>
            </a:r>
            <a:endParaRPr lang="en-US" sz="1400" dirty="0"/>
          </a:p>
          <a:p>
            <a:pPr marL="342900" indent="-342900">
              <a:spcAft>
                <a:spcPts val="400"/>
              </a:spcAft>
              <a:buSzPct val="100000"/>
              <a:buChar char="•"/>
            </a:pPr>
            <a:r>
              <a:rPr lang="en-US" sz="1400" dirty="0">
                <a:solidFill>
                  <a:schemeClr val="tx1"/>
                </a:solidFill>
              </a:rPr>
              <a:t>Computer Village, Ikeja: Lightfast Media, CC BY-SA 4.0</a:t>
            </a:r>
            <a:endParaRPr lang="en-US" sz="1400" dirty="0"/>
          </a:p>
          <a:p>
            <a:pPr marL="342900" indent="-342900">
              <a:spcAft>
                <a:spcPts val="400"/>
              </a:spcAft>
              <a:buSzPct val="100000"/>
              <a:buChar char="•"/>
            </a:pPr>
            <a:r>
              <a:rPr lang="en-US" sz="1400" dirty="0">
                <a:solidFill>
                  <a:schemeClr val="tx1"/>
                </a:solidFill>
              </a:rPr>
              <a:t>Yiwu International Trade Market: Whisper of the heart, CC BY-SA 4.0</a:t>
            </a:r>
            <a:endParaRPr lang="en-US" sz="1400" dirty="0"/>
          </a:p>
          <a:p>
            <a:pPr marL="342900" indent="-342900">
              <a:spcAft>
                <a:spcPts val="400"/>
              </a:spcAft>
              <a:buSzPct val="100000"/>
              <a:buChar char="•"/>
            </a:pPr>
            <a:r>
              <a:rPr lang="en-US" sz="1400" dirty="0">
                <a:solidFill>
                  <a:schemeClr val="tx1"/>
                </a:solidFill>
              </a:rPr>
              <a:t>Apapa port, Lagos: Quadrex24, CC BY-SA 4.0</a:t>
            </a:r>
            <a:endParaRPr lang="en-US" sz="1400" dirty="0"/>
          </a:p>
          <a:p>
            <a:pPr marL="342900" indent="-342900">
              <a:spcAft>
                <a:spcPts val="400"/>
              </a:spcAft>
              <a:buSzPct val="100000"/>
              <a:buChar char="•"/>
            </a:pPr>
            <a:r>
              <a:rPr lang="en-US" sz="1400" dirty="0">
                <a:solidFill>
                  <a:schemeClr val="tx1"/>
                </a:solidFill>
              </a:rPr>
              <a:t>Lagos market: Sir Demo, CC BY-SA 4.0</a:t>
            </a:r>
            <a:endParaRPr lang="en-US" sz="1400" dirty="0"/>
          </a:p>
          <a:p>
            <a:pPr marL="342900" indent="-342900">
              <a:spcAft>
                <a:spcPts val="400"/>
              </a:spcAft>
              <a:buSzPct val="100000"/>
              <a:buChar char="•"/>
            </a:pPr>
            <a:r>
              <a:rPr lang="en-US" sz="1400" dirty="0">
                <a:solidFill>
                  <a:schemeClr val="tx1"/>
                </a:solidFill>
              </a:rPr>
              <a:t>Naira notes: FAdelabu, CC BY-SA 4.0</a:t>
            </a:r>
            <a:endParaRPr lang="en-US" sz="1400" dirty="0"/>
          </a:p>
          <a:p>
            <a:pPr marL="342900" indent="-342900">
              <a:spcAft>
                <a:spcPts val="400"/>
              </a:spcAft>
              <a:buSzPct val="100000"/>
              <a:buChar char="•"/>
            </a:pPr>
            <a:r>
              <a:rPr lang="en-US" sz="1400" dirty="0">
                <a:solidFill>
                  <a:schemeClr val="tx1"/>
                </a:solidFill>
              </a:rPr>
              <a:t>Customs inspection: CBP Photography, public domain</a:t>
            </a:r>
            <a:endParaRPr lang="en-US" sz="1400" dirty="0"/>
          </a:p>
          <a:p>
            <a:pPr marL="342900" indent="-342900">
              <a:spcAft>
                <a:spcPts val="400"/>
              </a:spcAft>
              <a:buSzPct val="100000"/>
              <a:buChar char="•"/>
            </a:pPr>
            <a:r>
              <a:rPr lang="en-US" sz="1400" dirty="0">
                <a:solidFill>
                  <a:schemeClr val="tx1"/>
                </a:solidFill>
              </a:rPr>
              <a:t>Container terminal (aerial): Carsten Steger, CC BY-SA 4.0</a:t>
            </a:r>
            <a:endParaRPr lang="en-US" sz="1400" dirty="0"/>
          </a:p>
        </p:txBody>
      </p:sp>
      <p:sp>
        <p:nvSpPr>
          <p:cNvPr id="5" name="Text 2"/>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200" i="1" dirty="0">
                <a:solidFill>
                  <a:schemeClr val="accent4"/>
                </a:solidFill>
              </a:rPr>
              <a:t>All photos from Wikimedia Commons and used under the licences shown. CC BY-SA: credit the author and share adaptations alike. Diagrams: CloudTech Academy.</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CloudTech Trade">
  <a:themeElements>
    <a:clrScheme name="CloudTech Trade">
      <a:dk1>
        <a:srgbClr val="0B1F3A"/>
      </a:dk1>
      <a:lt1>
        <a:srgbClr val="FFFFFF"/>
      </a:lt1>
      <a:dk2>
        <a:srgbClr val="0F3D6E"/>
      </a:dk2>
      <a:lt2>
        <a:srgbClr val="EAF1F8"/>
      </a:lt2>
      <a:accent1>
        <a:srgbClr val="F2A541"/>
      </a:accent1>
      <a:accent2>
        <a:srgbClr val="1C7C7D"/>
      </a:accent2>
      <a:accent3>
        <a:srgbClr val="C8553D"/>
      </a:accent3>
      <a:accent4>
        <a:srgbClr val="5B8DB8"/>
      </a:accent4>
      <a:accent5>
        <a:srgbClr val="2E7D4F"/>
      </a:accent5>
      <a:accent6>
        <a:srgbClr val="8A6A1F"/>
      </a:accent6>
      <a:hlink>
        <a:srgbClr val="0F3D6E"/>
      </a:hlink>
      <a:folHlink>
        <a:srgbClr val="5B8DB8"/>
      </a:folHlink>
    </a:clrScheme>
    <a:fontScheme name="CloudTech Tra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10699</Words>
  <Application>Microsoft Office PowerPoint</Application>
  <PresentationFormat>On-screen Show (16:9)</PresentationFormat>
  <Paragraphs>496</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CloudTech Trade</vt:lpstr>
      <vt:lpstr>PowerPoint Presentation</vt:lpstr>
      <vt:lpstr>It starts with one sentence</vt:lpstr>
      <vt:lpstr>What you will leave with today</vt:lpstr>
      <vt:lpstr>Importing and exporting in plain words</vt:lpstr>
      <vt:lpstr>Mini importation versus full trade</vt:lpstr>
      <vt:lpstr>The price on the page is not your cost</vt:lpstr>
      <vt:lpstr>The whole journey in ten steps</vt:lpstr>
      <vt:lpstr>Steps 1 and 2: choose and test the market</vt:lpstr>
      <vt:lpstr>Pick small, light and legal</vt:lpstr>
      <vt:lpstr>Step 3: where to find suppliers</vt:lpstr>
      <vt:lpstr>Reading a supplier listing</vt:lpstr>
      <vt:lpstr>Step 4: verify before you pay</vt:lpstr>
      <vt:lpstr>Step 5: negotiate, then test a sample</vt:lpstr>
      <vt:lpstr>Step 6: air or sea?</vt:lpstr>
      <vt:lpstr>Worked example: chargeable weight</vt:lpstr>
      <vt:lpstr>Step 7: the documents that travel with goods</vt:lpstr>
      <vt:lpstr>HS codes, duty and customs value</vt:lpstr>
      <vt:lpstr>Importing into Nigeria: who does what</vt:lpstr>
      <vt:lpstr>Step 8: build the landed cost</vt:lpstr>
      <vt:lpstr>Where the money goes</vt:lpstr>
      <vt:lpstr>Step 9: price for the profit you want</vt:lpstr>
      <vt:lpstr>Step 10: sell, collect and reorder</vt:lpstr>
      <vt:lpstr>Exporting: the other direction</vt:lpstr>
      <vt:lpstr>Six risks and how to manage them</vt:lpstr>
      <vt:lpstr>Your turn: a 30-minute working session</vt:lpstr>
      <vt:lpstr>Your first 30 days</vt:lpstr>
      <vt:lpstr>PowerPoint Presentation</vt:lpstr>
      <vt:lpstr>Photo credits</vt:lpstr>
    </vt:vector>
  </TitlesOfParts>
  <Company>CloudTech Analytics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Importation: from a good idea to your first profitable shipment</dc:title>
  <dc:subject>PptxGenJS Presentation</dc:subject>
  <dc:creator>CloudTech Academy</dc:creator>
  <cp:lastModifiedBy>CloudTech Analytics</cp:lastModifiedBy>
  <cp:revision>1</cp:revision>
  <dcterms:created xsi:type="dcterms:W3CDTF">2026-10-22T07:27:32Z</dcterms:created>
  <dcterms:modified xsi:type="dcterms:W3CDTF">2026-10-22T07:37:57Z</dcterms:modified>
</cp:coreProperties>
</file>